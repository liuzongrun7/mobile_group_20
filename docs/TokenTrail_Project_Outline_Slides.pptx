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iuZongrun7/Mobile_Group_20" TargetMode="Externa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chatgpt.com/docs/auth" TargetMode="External"/><Relationship Id="rId3" Type="http://schemas.openxmlformats.org/officeDocument/2006/relationships/hyperlink" Target="https://zcode.z.ai/en/docs/configuration" TargetMode="External"/><Relationship Id="rId4" Type="http://schemas.openxmlformats.org/officeDocument/2006/relationships/hyperlink" Target="https://github.com/bowenliang123/dsh-context/blob/main/README.md" TargetMode="External"/><Relationship Id="rId5" Type="http://schemas.openxmlformats.org/officeDocument/2006/relationships/hyperlink" Target="https://docs.litellm.ai/docs/simple_proxy" TargetMode="External"/><Relationship Id="rId6" Type="http://schemas.openxmlformats.org/officeDocument/2006/relationships/hyperlink" Target="https://github.com/zhu1090093659/dsh-pet/blob/main/README.zh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droid/codelab-android-room-with-a-view" TargetMode="External"/><Relationship Id="rId3" Type="http://schemas.openxmlformats.org/officeDocument/2006/relationships/hyperlink" Target="https://github.com/PhilJay/MPAndroidChart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iuZongrun7/Mobile_Group_20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15E7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417320"/>
            <a:ext cx="7863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7431"/>
                </a:solidFill>
                <a:latin typeface="Arial"/>
              </a:rPr>
              <a:t>MOBILE APP PROJECT · OUTLINE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315E75"/>
                </a:solidFill>
                <a:latin typeface="Arial"/>
              </a:rPr>
              <a:t>TokenTrail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834640"/>
            <a:ext cx="7863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E766E"/>
                </a:solidFill>
                <a:latin typeface="Arial"/>
              </a:rPr>
              <a:t>Track, price and compare what your coding agents really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520440"/>
            <a:ext cx="7863840" cy="12801"/>
          </a:xfrm>
          <a:prstGeom prst="rect">
            <a:avLst/>
          </a:prstGeom>
          <a:solidFill>
            <a:srgbClr val="BDD0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703320"/>
            <a:ext cx="7863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15E75"/>
                </a:solidFill>
                <a:latin typeface="Arial"/>
              </a:rPr>
              <a:t>Category:  </a:t>
            </a:r>
            <a:r>
              <a:rPr sz="1300" b="0" i="0">
                <a:solidFill>
                  <a:srgbClr val="2B3A42"/>
                </a:solidFill>
                <a:latin typeface="Arial"/>
              </a:rPr>
              <a:t>Developer Productivity / API Cost Analytics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15E75"/>
                </a:solidFill>
                <a:latin typeface="Arial"/>
              </a:rPr>
              <a:t>Target users:  </a:t>
            </a:r>
            <a:r>
              <a:rPr sz="1300" b="0" i="0">
                <a:solidFill>
                  <a:srgbClr val="2B3A42"/>
                </a:solidFill>
                <a:latin typeface="Arial"/>
              </a:rPr>
              <a:t>Students and independent developers who use API-key coding agents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15E75"/>
                </a:solidFill>
                <a:latin typeface="Arial"/>
              </a:rPr>
              <a:t>Stack:  </a:t>
            </a:r>
            <a:r>
              <a:rPr sz="1300" b="0" i="0">
                <a:solidFill>
                  <a:srgbClr val="2B3A42"/>
                </a:solidFill>
                <a:latin typeface="Arial"/>
              </a:rPr>
              <a:t>Android · Java/XML · Firebase Auth + Firestore · Room · Java advice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257800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15E75"/>
                </a:solidFill>
                <a:latin typeface="Arial"/>
              </a:rPr>
              <a:t>Group 20 ·  </a:t>
            </a:r>
            <a:r>
              <a:rPr sz="1250" b="0" i="0">
                <a:solidFill>
                  <a:srgbClr val="2B3A42"/>
                </a:solidFill>
                <a:latin typeface="Arial"/>
              </a:rPr>
              <a:t>Zhang Li (24107757) · Wang Tingdong (24107759) · Liu Zongrun (24107745)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15E75"/>
                </a:solidFill>
                <a:latin typeface="Arial"/>
              </a:rPr>
              <a:t>Repository:  </a:t>
            </a:r>
            <a:r>
              <a:rPr sz="1250" b="0" i="0" u="none">
                <a:solidFill>
                  <a:srgbClr val="2E766E"/>
                </a:solidFill>
                <a:latin typeface="Arial"/>
                <a:hlinkClick r:id="rId2"/>
              </a:rPr>
              <a:t>github.com/LiuZongrun7/Mobile_Group_20</a:t>
            </a:r>
          </a:p>
        </p:txBody>
      </p:sp>
      <p:pic>
        <p:nvPicPr>
          <p:cNvPr id="9" name="Picture 8" descr="fig_g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417320"/>
            <a:ext cx="2550996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309360"/>
            <a:ext cx="10874959" cy="12801"/>
          </a:xfrm>
          <a:prstGeom prst="rect">
            <a:avLst/>
          </a:prstGeom>
          <a:solidFill>
            <a:srgbClr val="BDD0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76124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TokenTrail · Group 20 · Android App Project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5760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7431"/>
                </a:solidFill>
                <a:latin typeface="Arial"/>
              </a:rPr>
              <a:t>HOW TO READ THIS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315E75"/>
                </a:solidFill>
                <a:latin typeface="Arial"/>
              </a:rPr>
              <a:t>The six points the outline slides must 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25296"/>
            <a:ext cx="10874959" cy="22860"/>
          </a:xfrm>
          <a:prstGeom prst="rect">
            <a:avLst/>
          </a:prstGeom>
          <a:solidFill>
            <a:srgbClr val="315E7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81328"/>
          <a:ext cx="10874959" cy="42611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46120"/>
                <a:gridCol w="5897880"/>
                <a:gridCol w="1730959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Guideline point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315E75"/>
                      </a:solidFill>
                      <a:prstDash val="solid"/>
                    </a:lnL>
                    <a:lnT w="9525" cap="flat" cmpd="sng" algn="ctr">
                      <a:solidFill>
                        <a:srgbClr val="315E75"/>
                      </a:solidFill>
                      <a:prstDash val="solid"/>
                    </a:lnT>
                    <a:lnB w="9525" cap="flat" cmpd="sng" algn="ctr">
                      <a:solidFill>
                        <a:srgbClr val="315E75"/>
                      </a:solidFill>
                      <a:prstDash val="solid"/>
                    </a:lnB>
                    <a:solidFill>
                      <a:srgbClr val="315E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What the slides cover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315E75"/>
                      </a:solidFill>
                      <a:prstDash val="solid"/>
                    </a:lnT>
                    <a:lnB w="9525" cap="flat" cmpd="sng" algn="ctr">
                      <a:solidFill>
                        <a:srgbClr val="315E75"/>
                      </a:solidFill>
                      <a:prstDash val="solid"/>
                    </a:lnB>
                    <a:solidFill>
                      <a:srgbClr val="315E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Where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315E75"/>
                      </a:solidFill>
                      <a:prstDash val="solid"/>
                    </a:lnR>
                    <a:lnT w="9525" cap="flat" cmpd="sng" algn="ctr">
                      <a:solidFill>
                        <a:srgbClr val="315E75"/>
                      </a:solidFill>
                      <a:prstDash val="solid"/>
                    </a:lnT>
                    <a:lnB w="9525" cap="flat" cmpd="sng" algn="ctr">
                      <a:solidFill>
                        <a:srgbClr val="315E75"/>
                      </a:solidFill>
                      <a:prstDash val="solid"/>
                    </a:lnB>
                    <a:solidFill>
                      <a:srgbClr val="315E7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315E75"/>
                          </a:solidFill>
                          <a:latin typeface="Arial"/>
                        </a:rPr>
                        <a:t>1.  Brief app idea description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B3A42"/>
                          </a:solidFill>
                          <a:latin typeface="Arial"/>
                        </a:rPr>
                        <a:t>What TokenTrail is, who it is for, and what is out of scope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B3A42"/>
                          </a:solidFill>
                          <a:latin typeface="Arial"/>
                        </a:rPr>
                        <a:t>Slide 3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315E75"/>
                          </a:solidFill>
                          <a:latin typeface="Arial"/>
                        </a:rPr>
                        <a:t>2.  Discussion of similar / related apps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B3A42"/>
                          </a:solidFill>
                          <a:latin typeface="Arial"/>
                        </a:rPr>
                        <a:t>Codex, ZCode, dsh-context, LiteLLM and dsh-pet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B3A42"/>
                          </a:solidFill>
                          <a:latin typeface="Arial"/>
                        </a:rPr>
                        <a:t>Slide 5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315E75"/>
                          </a:solidFill>
                          <a:latin typeface="Arial"/>
                        </a:rPr>
                        <a:t>3.  Related apps: features and components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B3A42"/>
                          </a:solidFill>
                          <a:latin typeface="Arial"/>
                        </a:rPr>
                        <a:t>What each one covers, and the gap it leaves open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B3A42"/>
                          </a:solidFill>
                          <a:latin typeface="Arial"/>
                        </a:rPr>
                        <a:t>Slide 6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315E75"/>
                          </a:solidFill>
                          <a:latin typeface="Arial"/>
                        </a:rPr>
                        <a:t>4.  Open-source code available to reuse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B3A42"/>
                          </a:solidFill>
                          <a:latin typeface="Arial"/>
                        </a:rPr>
                        <a:t>Libraries, samples and licences we will record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B3A42"/>
                          </a:solidFill>
                          <a:latin typeface="Arial"/>
                        </a:rPr>
                        <a:t>Slide 7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315E75"/>
                          </a:solidFill>
                          <a:latin typeface="Arial"/>
                        </a:rPr>
                        <a:t>5.  Proposed features and uniqueness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B3A42"/>
                          </a:solidFill>
                          <a:latin typeface="Arial"/>
                        </a:rPr>
                        <a:t>Analytics, game, forum and the advice agent on the home screen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B3A42"/>
                          </a:solidFill>
                          <a:latin typeface="Arial"/>
                        </a:rPr>
                        <a:t>Slides 8-13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315E75"/>
                          </a:solidFill>
                          <a:latin typeface="Arial"/>
                        </a:rPr>
                        <a:t>6.  Approach and work plan to week 15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B3A42"/>
                          </a:solidFill>
                          <a:latin typeface="Arial"/>
                        </a:rPr>
                        <a:t>Alpha, Beta and Final checkpoints with acceptance tests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B3A42"/>
                          </a:solidFill>
                          <a:latin typeface="Arial"/>
                        </a:rPr>
                        <a:t>Slides 14-15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870448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C94"/>
                </a:solidFill>
                <a:latin typeface="Arial"/>
              </a:rPr>
              <a:t>The written outline covers the same six points in the same order; this deck is the visual version of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309360"/>
            <a:ext cx="10874959" cy="12801"/>
          </a:xfrm>
          <a:prstGeom prst="rect">
            <a:avLst/>
          </a:prstGeom>
          <a:solidFill>
            <a:srgbClr val="BDD0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76124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TokenTrail · Group 20 · Android App Project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5760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7431"/>
                </a:solidFill>
                <a:latin typeface="Arial"/>
              </a:rPr>
              <a:t>1 · APP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315E75"/>
                </a:solidFill>
                <a:latin typeface="Arial"/>
              </a:rPr>
              <a:t>An API-cost analytics app that makes agent spend visible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25296"/>
            <a:ext cx="10874959" cy="22860"/>
          </a:xfrm>
          <a:prstGeom prst="rect">
            <a:avLst/>
          </a:prstGeom>
          <a:solidFill>
            <a:srgbClr val="315E7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1087495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A42"/>
                </a:solidFill>
                <a:latin typeface="Arial"/>
              </a:rPr>
              <a:t>TokenTrail is an Android app for people who pay for coding agents with an API key. It opens on a statistics home screen that prices the usage those agents already logged and answers cost questions with evidence, and it turns that usage into a monthly tower-defence season.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49424"/>
            <a:ext cx="3466490" cy="1426464"/>
          </a:xfrm>
          <a:prstGeom prst="roundRect">
            <a:avLst>
              <a:gd name="adj" fmla="val 6000"/>
            </a:avLst>
          </a:prstGeom>
          <a:solidFill>
            <a:srgbClr val="EDF6F2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E766E"/>
                </a:solidFill>
                <a:latin typeface="Arial"/>
              </a:rPr>
              <a:t>API-cost analytics (home)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Prices logged calls from Codex, ZCode and a DeepSeek-side tool using dated official rates, and compares agents.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2602" y="2249424"/>
            <a:ext cx="3466490" cy="1426464"/>
          </a:xfrm>
          <a:prstGeom prst="roundRect">
            <a:avLst>
              <a:gd name="adj" fmla="val 6000"/>
            </a:avLst>
          </a:prstGeom>
          <a:solidFill>
            <a:srgbClr val="EAF3F7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315E75"/>
                </a:solidFill>
                <a:latin typeface="Arial"/>
              </a:rPr>
              <a:t>Monthly tower-defence game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A supporting tab. Tokens you have already spent become building resources in a season that resets each month.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6836" y="2249424"/>
            <a:ext cx="3466490" cy="1426464"/>
          </a:xfrm>
          <a:prstGeom prst="roundRect">
            <a:avLst>
              <a:gd name="adj" fmla="val 6000"/>
            </a:avLst>
          </a:prstGeom>
          <a:solidFill>
            <a:srgbClr val="FAF3E5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A17431"/>
                </a:solidFill>
                <a:latin typeface="Arial"/>
              </a:rPr>
              <a:t>Community forum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Official model and pricing posts plus user tips; the hot posts feed the advice agent.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58768"/>
            <a:ext cx="10874959" cy="786384"/>
          </a:xfrm>
          <a:prstGeom prst="roundRect">
            <a:avLst>
              <a:gd name="adj" fmla="val 6000"/>
            </a:avLst>
          </a:prstGeom>
          <a:solidFill>
            <a:srgbClr val="315E75"/>
          </a:solidFill>
          <a:ln>
            <a:noFill/>
          </a:ln>
          <a:effectLst/>
        </p:spPr>
        <p:txBody>
          <a:bodyPr rtlCol="0" anchor="ctr" wrap="square" lIns="201168" rIns="201168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And an advice agent on that home screen.  </a:t>
            </a:r>
            <a:r>
              <a:rPr sz="1300" b="0" i="0">
                <a:solidFill>
                  <a:srgbClr val="D6E4EB"/>
                </a:solidFill>
                <a:latin typeface="Arial"/>
              </a:rPr>
              <a:t>It reads your logged usage and recent forum posts, then answers questions with the evidence behind them. TokenTrail never runs, routes or controls the coding agents.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864608"/>
            <a:ext cx="10874959" cy="118872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15E75"/>
                </a:solidFill>
                <a:latin typeface="Arial"/>
              </a:rPr>
              <a:t>Scope: API usage priced at public API rates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2"/>
                </a:solidFill>
                <a:latin typeface="Arial"/>
              </a:rPr>
              <a:t>Out of scope: ChatGPT and GLM Coding Plan subscriptions, live cross-agent status and system-wide overlays. A response reports tokens for one call, not the agent's whole history, so a call is priced only when a saved rate snapshot covers its date. Every monetary value is an estimate, never an invoiced charge.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309360"/>
            <a:ext cx="10874959" cy="12801"/>
          </a:xfrm>
          <a:prstGeom prst="rect">
            <a:avLst/>
          </a:prstGeom>
          <a:solidFill>
            <a:srgbClr val="BDD0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76124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TokenTrail · Group 20 · Android App Project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5760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7431"/>
                </a:solidFill>
                <a:latin typeface="Arial"/>
              </a:rPr>
              <a:t>1 · APP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315E75"/>
                </a:solidFill>
                <a:latin typeface="Arial"/>
              </a:rPr>
              <a:t>Why this is worth building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25296"/>
            <a:ext cx="10874959" cy="22860"/>
          </a:xfrm>
          <a:prstGeom prst="rect">
            <a:avLst/>
          </a:prstGeom>
          <a:solidFill>
            <a:srgbClr val="315E7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5300319" cy="164592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315E75"/>
                </a:solidFill>
                <a:latin typeface="Arial"/>
              </a:rPr>
              <a:t>Each console sees one account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Codex, Z.ai and DeepSeek bill separately, in their own units, with no cross-provider total and no common price version. A user running three agents has three bills and no single monthly figure.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536192"/>
            <a:ext cx="5300319" cy="164592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315E75"/>
                </a:solidFill>
                <a:latin typeface="Arial"/>
              </a:rPr>
              <a:t>Tokens are not money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A response reports tokens for one call, not the agent's whole history. A call can only be priced when a saved rate snapshot covers its date, so some calls stay Unavailable rather than being guessed 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383280"/>
            <a:ext cx="5300319" cy="164592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315E75"/>
                </a:solidFill>
                <a:latin typeface="Arial"/>
              </a:rPr>
              <a:t>Rating your own work is bad input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Asking users to score a task costs them extra effort and produces opinions, not measurements. It also makes the numbers depend on mood instead of on the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3383280"/>
            <a:ext cx="5300319" cy="164592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315E75"/>
                </a:solidFill>
                <a:latin typeface="Arial"/>
              </a:rPr>
              <a:t>Spend leaves no trace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A day of agent work leaves nothing visible behind, so usage never turns into progress the user can see and nothing brings them back to the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230368"/>
            <a:ext cx="10874959" cy="950976"/>
          </a:xfrm>
          <a:prstGeom prst="roundRect">
            <a:avLst>
              <a:gd name="adj" fmla="val 6000"/>
            </a:avLst>
          </a:prstGeom>
          <a:solidFill>
            <a:srgbClr val="EAF3F7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15E75"/>
                </a:solidFill>
                <a:latin typeface="Arial"/>
              </a:rPr>
              <a:t>What TokenTrail does instead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It computes only what the data supports — logged token counts, dated official rates, cache behaviour and duration — and labels every figure Estimated, Partial estimate or Unavailable. It never asks the user to judge how good an answer was.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309360"/>
            <a:ext cx="10874959" cy="12801"/>
          </a:xfrm>
          <a:prstGeom prst="rect">
            <a:avLst/>
          </a:prstGeom>
          <a:solidFill>
            <a:srgbClr val="BDD0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76124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TokenTrail · Group 20 · Android App Project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5760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7431"/>
                </a:solidFill>
                <a:latin typeface="Arial"/>
              </a:rPr>
              <a:t>2 · RELATED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315E75"/>
                </a:solidFill>
                <a:latin typeface="Arial"/>
              </a:rPr>
              <a:t>Five products we studied before writing a line of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25296"/>
            <a:ext cx="10874959" cy="22860"/>
          </a:xfrm>
          <a:prstGeom prst="rect">
            <a:avLst/>
          </a:prstGeom>
          <a:solidFill>
            <a:srgbClr val="315E7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591056"/>
            <a:ext cx="2057948" cy="2212848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37160" rIns="137160" tIns="109728" bIns="10972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A17431"/>
                </a:solidFill>
                <a:latin typeface="Arial"/>
              </a:rPr>
              <a:t>FIRST-PARTY AGENT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15E75"/>
                </a:solidFill>
                <a:latin typeface="Arial"/>
              </a:rPr>
              <a:t>Codex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2"/>
                </a:solidFill>
                <a:latin typeface="Arial"/>
              </a:rPr>
              <a:t>OpenAI's coding agent. Can run with an OpenAI API key and be billed through the Platform account.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7A8C94"/>
                </a:solidFill>
                <a:latin typeface="Arial"/>
              </a:rPr>
              <a:t>One of the three providers we track.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2620" y="1591056"/>
            <a:ext cx="2057948" cy="2212848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37160" rIns="137160" tIns="109728" bIns="10972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A17431"/>
                </a:solidFill>
                <a:latin typeface="Arial"/>
              </a:rPr>
              <a:t>FIRST-PARTY AGENT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15E75"/>
                </a:solidFill>
                <a:latin typeface="Arial"/>
              </a:rPr>
              <a:t>ZCode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2"/>
                </a:solidFill>
                <a:latin typeface="Arial"/>
              </a:rPr>
              <a:t>Z.ai's coding client. Can use the general Z.ai API endpoint with a key, separate from the Coding Plan.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7A8C94"/>
                </a:solidFill>
                <a:latin typeface="Arial"/>
              </a:rPr>
              <a:t>Tracked through its general API endpoint.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6873" y="1591056"/>
            <a:ext cx="2057948" cy="2212848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37160" rIns="137160" tIns="109728" bIns="10972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A17431"/>
                </a:solidFill>
                <a:latin typeface="Arial"/>
              </a:rPr>
              <a:t>MONITORING PLUGIN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15E75"/>
                </a:solidFill>
                <a:latin typeface="Arial"/>
              </a:rPr>
              <a:t>dsh-context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2"/>
                </a:solidFill>
                <a:latin typeface="Arial"/>
              </a:rPr>
              <a:t>DeepSeek Harness plugin that shows local sessions, token use, cache behaviour, activity and estimated cost.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7A8C94"/>
                </a:solidFill>
                <a:latin typeface="Arial"/>
              </a:rPr>
              <a:t>Its dashboard is our model for the analytics screen.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71125" y="1591056"/>
            <a:ext cx="2057948" cy="2212848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37160" rIns="137160" tIns="109728" bIns="10972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A17431"/>
                </a:solidFill>
                <a:latin typeface="Arial"/>
              </a:rPr>
              <a:t>GATEWAY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15E75"/>
                </a:solidFill>
                <a:latin typeface="Arial"/>
              </a:rPr>
              <a:t>LiteLLM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2"/>
                </a:solidFill>
                <a:latin typeface="Arial"/>
              </a:rPr>
              <a:t>Open-source proxy with routing, spend tracking and budgets — but only for traffic that goes through it.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7A8C94"/>
                </a:solidFill>
                <a:latin typeface="Arial"/>
              </a:rPr>
              <a:t>Teaches the vocabulary of spend tracking and budgets.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75378" y="1591056"/>
            <a:ext cx="2057948" cy="2212848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37160" rIns="137160" tIns="109728" bIns="10972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850" b="0" i="0">
                <a:solidFill>
                  <a:srgbClr val="A17431"/>
                </a:solidFill>
                <a:latin typeface="Arial"/>
              </a:rPr>
              <a:t>COMPANION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315E75"/>
                </a:solidFill>
                <a:latin typeface="Arial"/>
              </a:rPr>
              <a:t>dsh-pet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2"/>
                </a:solidFill>
                <a:latin typeface="Arial"/>
              </a:rPr>
              <a:t>Floating pet driven by DSH session events, with touch and feeding actions. Closest thing to a game.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950" b="0" i="0">
                <a:solidFill>
                  <a:srgbClr val="7A8C94"/>
                </a:solidFill>
                <a:latin typeface="Arial"/>
              </a:rPr>
              <a:t>Its entry point inspires our advice agent panel on the home screen.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86784"/>
            <a:ext cx="6524975" cy="1883664"/>
          </a:xfrm>
          <a:prstGeom prst="roundRect">
            <a:avLst>
              <a:gd name="adj" fmla="val 6000"/>
            </a:avLst>
          </a:prstGeom>
          <a:solidFill>
            <a:srgbClr val="EDF6F2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E766E"/>
                </a:solidFill>
                <a:latin typeface="Arial"/>
              </a:rPr>
              <a:t>What the review told us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2B3A42"/>
                </a:solidFill>
                <a:latin typeface="Arial"/>
              </a:rPr>
              <a:t>Every product above is strong inside its own boundary: a first-party console prices one provider, a plugin reads one harness, a gateway sees only proxied traffic. None of them prices three providers from records the user already owns, and only dsh-pet treats usage as something to come back to.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A42"/>
                </a:solidFill>
                <a:latin typeface="Arial"/>
              </a:rPr>
              <a:t>The review also set our boundaries: no proxying, no subscription quotas, and no overlay on another app.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2799" y="3986784"/>
            <a:ext cx="4130527" cy="1883664"/>
          </a:xfrm>
          <a:prstGeom prst="roundRect">
            <a:avLst>
              <a:gd name="adj" fmla="val 6000"/>
            </a:avLst>
          </a:prstGeom>
          <a:solidFill>
            <a:srgbClr val="FAF3E5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17431"/>
                </a:solidFill>
                <a:latin typeface="Arial"/>
              </a:rPr>
              <a:t>The opportunity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Combining the three ideas is what is new: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▪  cross-provider costing from logs the user owns;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▪  a companion-style monthly progression driven by real spend;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▪  advice that cites its own evidence and admits missing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980176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C94"/>
                </a:solidFill>
                <a:latin typeface="Arial"/>
              </a:rPr>
              <a:t>Section 2 of the written outline compares the same five products, with a link to each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309360"/>
            <a:ext cx="10874959" cy="12801"/>
          </a:xfrm>
          <a:prstGeom prst="rect">
            <a:avLst/>
          </a:prstGeom>
          <a:solidFill>
            <a:srgbClr val="BDD0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76124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TokenTrail · Group 20 · Android App Project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5760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7431"/>
                </a:solidFill>
                <a:latin typeface="Arial"/>
              </a:rPr>
              <a:t>3 · RELATED APPS IN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315E75"/>
                </a:solidFill>
                <a:latin typeface="Arial"/>
              </a:rPr>
              <a:t>Component by component: what they cover, what is left open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25296"/>
            <a:ext cx="10874959" cy="22860"/>
          </a:xfrm>
          <a:prstGeom prst="rect">
            <a:avLst/>
          </a:prstGeom>
          <a:solidFill>
            <a:srgbClr val="315E7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81328"/>
          <a:ext cx="10874959" cy="407822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4617720"/>
                <a:gridCol w="4657039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315E75"/>
                      </a:solidFill>
                      <a:prstDash val="solid"/>
                    </a:lnL>
                    <a:lnT w="9525" cap="flat" cmpd="sng" algn="ctr">
                      <a:solidFill>
                        <a:srgbClr val="315E75"/>
                      </a:solidFill>
                      <a:prstDash val="solid"/>
                    </a:lnT>
                    <a:lnB w="9525" cap="flat" cmpd="sng" algn="ctr">
                      <a:solidFill>
                        <a:srgbClr val="315E75"/>
                      </a:solidFill>
                      <a:prstDash val="solid"/>
                    </a:lnB>
                    <a:solidFill>
                      <a:srgbClr val="315E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Relevant capability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315E75"/>
                      </a:solidFill>
                      <a:prstDash val="solid"/>
                    </a:lnT>
                    <a:lnB w="9525" cap="flat" cmpd="sng" algn="ctr">
                      <a:solidFill>
                        <a:srgbClr val="315E75"/>
                      </a:solidFill>
                      <a:prstDash val="solid"/>
                    </a:lnB>
                    <a:solidFill>
                      <a:srgbClr val="315E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Gap addressed by TokenTrail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315E75"/>
                      </a:solidFill>
                      <a:prstDash val="solid"/>
                    </a:lnR>
                    <a:lnT w="9525" cap="flat" cmpd="sng" algn="ctr">
                      <a:solidFill>
                        <a:srgbClr val="315E75"/>
                      </a:solidFill>
                      <a:prstDash val="solid"/>
                    </a:lnT>
                    <a:lnB w="9525" cap="flat" cmpd="sng" algn="ctr">
                      <a:solidFill>
                        <a:srgbClr val="315E75"/>
                      </a:solidFill>
                      <a:prstDash val="solid"/>
                    </a:lnB>
                    <a:solidFill>
                      <a:srgbClr val="315E7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315E75"/>
                          </a:solidFill>
                          <a:latin typeface="Arial"/>
                          <a:hlinkClick r:id="rId2"/>
                        </a:rPr>
                        <a:t>Codex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Can run with an OpenAI API key, billed through the Platform account.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Estimates only logged Codex API calls, using dated OpenAI prices.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315E75"/>
                          </a:solidFill>
                          <a:latin typeface="Arial"/>
                          <a:hlinkClick r:id="rId3"/>
                        </a:rPr>
                        <a:t>ZCode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Can use the general Z.ai API endpoint with an API key, separate from Coding Plan.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Prices logged general-API calls and excludes plan usage.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315E75"/>
                          </a:solidFill>
                          <a:latin typeface="Arial"/>
                          <a:hlinkClick r:id="rId4"/>
                        </a:rPr>
                        <a:t>dsh-context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Plugin showing local sessions, token use, cache, activity and estimated costs.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Spans API providers; session detail appears only when usable logs are imported.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315E75"/>
                          </a:solidFill>
                          <a:latin typeface="Arial"/>
                          <a:hlinkClick r:id="rId5"/>
                        </a:rPr>
                        <a:t>LiteLLM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Open-source gateway with routing, spend tracking and budgets for proxied calls.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Does not proxy traffic; tracks agent-associated API costs from permitted records.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 u="none">
                          <a:solidFill>
                            <a:srgbClr val="315E75"/>
                          </a:solidFill>
                          <a:latin typeface="Arial"/>
                          <a:hlinkClick r:id="rId6"/>
                        </a:rPr>
                        <a:t>dsh-pet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Interactive floating pet driven by session events, with touch and feeding actions.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Adds cross-provider, evidence-linked advice, and turns consumption into a visible monthly progression.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669280"/>
            <a:ext cx="1087495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C94"/>
                </a:solidFill>
                <a:latin typeface="Arial"/>
              </a:rPr>
              <a:t>Names link to each product's own documentation or repository. The full comparison is section 2 of the written outline.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309360"/>
            <a:ext cx="10874959" cy="12801"/>
          </a:xfrm>
          <a:prstGeom prst="rect">
            <a:avLst/>
          </a:prstGeom>
          <a:solidFill>
            <a:srgbClr val="BDD0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76124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TokenTrail · Group 20 · Android App Project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5760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7431"/>
                </a:solidFill>
                <a:latin typeface="Arial"/>
              </a:rPr>
              <a:t>4 · OPEN SOURCE AND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315E75"/>
                </a:solidFill>
                <a:latin typeface="Arial"/>
              </a:rPr>
              <a:t>What we reuse, and what we build ourselves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25296"/>
            <a:ext cx="10874959" cy="22860"/>
          </a:xfrm>
          <a:prstGeom prst="rect">
            <a:avLst/>
          </a:prstGeom>
          <a:solidFill>
            <a:srgbClr val="315E7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81328"/>
          <a:ext cx="10874959" cy="39319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40280"/>
                <a:gridCol w="8634679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315E75"/>
                      </a:solidFill>
                      <a:prstDash val="solid"/>
                    </a:lnL>
                    <a:lnT w="9525" cap="flat" cmpd="sng" algn="ctr">
                      <a:solidFill>
                        <a:srgbClr val="315E75"/>
                      </a:solidFill>
                      <a:prstDash val="solid"/>
                    </a:lnT>
                    <a:lnB w="9525" cap="flat" cmpd="sng" algn="ctr">
                      <a:solidFill>
                        <a:srgbClr val="315E75"/>
                      </a:solidFill>
                      <a:prstDash val="solid"/>
                    </a:lnB>
                    <a:solidFill>
                      <a:srgbClr val="315E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Planned tools and rationale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315E75"/>
                      </a:solidFill>
                      <a:prstDash val="solid"/>
                    </a:lnR>
                    <a:lnT w="9525" cap="flat" cmpd="sng" algn="ctr">
                      <a:solidFill>
                        <a:srgbClr val="315E75"/>
                      </a:solidFill>
                      <a:prstDash val="solid"/>
                    </a:lnT>
                    <a:lnB w="9525" cap="flat" cmpd="sng" algn="ctr">
                      <a:solidFill>
                        <a:srgbClr val="315E75"/>
                      </a:solidFill>
                      <a:prstDash val="solid"/>
                    </a:lnB>
                    <a:solidFill>
                      <a:srgbClr val="315E75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B3A42"/>
                          </a:solidFill>
                          <a:latin typeface="Arial"/>
                        </a:rPr>
                        <a:t>Android interface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Java/XML, Material Components and Navigation; ViewModel/LiveData for state; RecyclerView and MPAndroidChart for trends; a tower-defence game surface and the advice agent panel on the home screen.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B3A42"/>
                          </a:solidFill>
                          <a:latin typeface="Arial"/>
                        </a:rPr>
                        <a:t>Network and work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Retrofit/OkHttp for log import and a Java advice service. The service runs one model API and a bounded function-call loop over read-only usage, budget and comparison tools. WorkManager schedules price checks.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B3A42"/>
                          </a:solidFill>
                          <a:latin typeface="Arial"/>
                        </a:rPr>
                        <a:t>Persistence and security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Room plus UID-restricted Firestore; the Java service verifies Firebase ID tokens and holds its model key server-side. Coding-agent passwords and keys are never required.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2B3A42"/>
                          </a:solidFill>
                          <a:latin typeface="Arial"/>
                        </a:rPr>
                        <a:t>Open-source reuse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u="none">
                          <a:solidFill>
                            <a:srgbClr val="2E766E"/>
                          </a:solidFill>
                          <a:latin typeface="Arial"/>
                          <a:hlinkClick r:id="rId2"/>
                        </a:rPr>
                        <a:t>Room with a View</a:t>
                      </a: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 guides storage; </a:t>
                      </a:r>
                      <a:r>
                        <a:rPr sz="1050" b="0" i="0" u="none">
                          <a:solidFill>
                            <a:srgbClr val="2E766E"/>
                          </a:solidFill>
                          <a:latin typeface="Arial"/>
                          <a:hlinkClick r:id="rId3"/>
                        </a:rPr>
                        <a:t>MPAndroidChart</a:t>
                      </a: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 may supply charts; an open-source tower-defence sample may supply the wave and placement loop; dsh-pet inspires the agent's entry point.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5504688"/>
            <a:ext cx="10874959" cy="621792"/>
          </a:xfrm>
          <a:prstGeom prst="roundRect">
            <a:avLst>
              <a:gd name="adj" fmla="val 6000"/>
            </a:avLst>
          </a:prstGeom>
          <a:solidFill>
            <a:srgbClr val="FAF3E5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46304" rIns="146304" tIns="117043" bIns="117043"/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Original or properly licensed art only. Every reused file and its licence is recorded in the repository, and this layer is revisited if a dependency changes the plan.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309360"/>
            <a:ext cx="10874959" cy="12801"/>
          </a:xfrm>
          <a:prstGeom prst="rect">
            <a:avLst/>
          </a:prstGeom>
          <a:solidFill>
            <a:srgbClr val="BDD0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76124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TokenTrail · Group 20 · Android App Project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5760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7431"/>
                </a:solidFill>
                <a:latin typeface="Arial"/>
              </a:rPr>
              <a:t>5 · PROPOSED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315E75"/>
                </a:solidFill>
                <a:latin typeface="Arial"/>
              </a:rPr>
              <a:t>Four contributions, and the rule that keeps them honest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25296"/>
            <a:ext cx="10874959" cy="22860"/>
          </a:xfrm>
          <a:prstGeom prst="rect">
            <a:avLst/>
          </a:prstGeom>
          <a:solidFill>
            <a:srgbClr val="315E7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5309463" cy="1645920"/>
          </a:xfrm>
          <a:prstGeom prst="roundRect">
            <a:avLst>
              <a:gd name="adj" fmla="val 6000"/>
            </a:avLst>
          </a:prstGeom>
          <a:solidFill>
            <a:srgbClr val="EAF3F7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315E75"/>
                </a:solidFill>
                <a:latin typeface="Arial"/>
              </a:rPr>
              <a:t>Unified view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Merges authorised API-call logs from Codex, ZCode and a DeepSeek-side tool, removes duplicate records, and shows source and coverage on every figure.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Where the records do not support a session view, the app shows a provider-level estimate instead of inventing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1536192"/>
            <a:ext cx="5309463" cy="1645920"/>
          </a:xfrm>
          <a:prstGeom prst="roundRect">
            <a:avLst>
              <a:gd name="adj" fmla="val 6000"/>
            </a:avLst>
          </a:prstGeom>
          <a:solidFill>
            <a:srgbClr val="EDF6F2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E766E"/>
                </a:solidFill>
                <a:latin typeface="Arial"/>
              </a:rPr>
              <a:t>Reproducible costs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Java applies dated official rates by provider, model, token class and service tier, and keeps the price version behind each estimate.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New rates apply prospectively; old estimates keep the version they were calculated with.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383280"/>
            <a:ext cx="5309463" cy="1645920"/>
          </a:xfrm>
          <a:prstGeom prst="roundRect">
            <a:avLst>
              <a:gd name="adj" fmla="val 6000"/>
            </a:avLst>
          </a:prstGeom>
          <a:solidFill>
            <a:srgbClr val="FAF3E5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A17431"/>
                </a:solidFill>
                <a:latin typeface="Arial"/>
              </a:rPr>
              <a:t>Reflected progress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Tokens already spent on real work convert into building resources in a monthly tower-defence game — a visible result without asking anyone to spend differently.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The season resets each month, matching the billing cycle AI subscriptions already follow.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3383280"/>
            <a:ext cx="5309463" cy="1645920"/>
          </a:xfrm>
          <a:prstGeom prst="roundRect">
            <a:avLst>
              <a:gd name="adj" fmla="val 6000"/>
            </a:avLst>
          </a:prstGeom>
          <a:solidFill>
            <a:srgbClr val="EAF3F7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315E75"/>
                </a:solidFill>
                <a:latin typeface="Arial"/>
              </a:rPr>
              <a:t>Decision support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Compares agents on computed measures only: logged token counts, dated rates, cache behaviour and duration. The advice agent supplies evidence, and states sample size and missing data.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No task ratings anywhere — the analysis costs the user no extra input, and never judges how good an answer was.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230368"/>
            <a:ext cx="10874959" cy="749808"/>
          </a:xfrm>
          <a:prstGeom prst="roundRect">
            <a:avLst>
              <a:gd name="adj" fmla="val 6000"/>
            </a:avLst>
          </a:prstGeom>
          <a:solidFill>
            <a:srgbClr val="FAF3E5"/>
          </a:solidFill>
          <a:ln w="9525">
            <a:solidFill>
              <a:srgbClr val="A17431"/>
            </a:solidFill>
          </a:ln>
          <a:effectLst/>
        </p:spPr>
        <p:txBody>
          <a:bodyPr rtlCol="0" anchor="ctr" wrap="square" lIns="182880" rIns="182880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17431"/>
                </a:solidFill>
                <a:latin typeface="Arial"/>
              </a:rPr>
              <a:t>Scope rule:  </a:t>
            </a:r>
            <a:r>
              <a:rPr sz="1150" b="0" i="0">
                <a:solidFill>
                  <a:srgbClr val="2B3A42"/>
                </a:solidFill>
                <a:latin typeface="Arial"/>
              </a:rPr>
              <a:t>statistics are the app's main purpose. Three core parts — the API-cost analytics home screen, the monthly tower-defence game and the community forum. The advice agent can recommend but cannot execute coding agents or enforce a hard cap.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309360"/>
            <a:ext cx="10874959" cy="12801"/>
          </a:xfrm>
          <a:prstGeom prst="rect">
            <a:avLst/>
          </a:prstGeom>
          <a:solidFill>
            <a:srgbClr val="BDD0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76124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TokenTrail · Group 20 · Android App Project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5760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7431"/>
                </a:solidFill>
                <a:latin typeface="Arial"/>
              </a:rPr>
              <a:t>5 · NEW FEATURE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315E75"/>
                </a:solidFill>
                <a:latin typeface="Arial"/>
              </a:rPr>
              <a:t>A monthly tower-defence season built from tokens already spent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25296"/>
            <a:ext cx="10874959" cy="22860"/>
          </a:xfrm>
          <a:prstGeom prst="rect">
            <a:avLst/>
          </a:prstGeom>
          <a:solidFill>
            <a:srgbClr val="315E7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fig_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1328"/>
            <a:ext cx="2602531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10128" y="1481328"/>
            <a:ext cx="8223199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A17431"/>
                </a:solidFill>
                <a:latin typeface="Arial"/>
              </a:rPr>
              <a:t>▪  </a:t>
            </a:r>
            <a:r>
              <a:rPr sz="1250" b="1" i="0">
                <a:solidFill>
                  <a:srgbClr val="315E75"/>
                </a:solidFill>
                <a:latin typeface="Arial"/>
              </a:rPr>
              <a:t>It has its own tab.  </a:t>
            </a:r>
            <a:r>
              <a:rPr sz="1250" b="0" i="0">
                <a:solidFill>
                  <a:srgbClr val="2B3A42"/>
                </a:solidFill>
                <a:latin typeface="Arial"/>
              </a:rPr>
              <a:t>Reached from the bottom bar. It is played in monthly seasons that match the billing cycle AI subscriptions already follow.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A17431"/>
                </a:solidFill>
                <a:latin typeface="Arial"/>
              </a:rPr>
              <a:t>▪  </a:t>
            </a:r>
            <a:r>
              <a:rPr sz="1250" b="1" i="0">
                <a:solidFill>
                  <a:srgbClr val="315E75"/>
                </a:solidFill>
                <a:latin typeface="Arial"/>
              </a:rPr>
              <a:t>Tokens become resources.  </a:t>
            </a:r>
            <a:r>
              <a:rPr sz="1250" b="0" i="0">
                <a:solidFill>
                  <a:srgbClr val="2B3A42"/>
                </a:solidFill>
                <a:latin typeface="Arial"/>
              </a:rPr>
              <a:t>Tokens already spent convert into building resources at a fixed rate per million tokens.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A17431"/>
                </a:solidFill>
                <a:latin typeface="Arial"/>
              </a:rPr>
              <a:t>▪  </a:t>
            </a:r>
            <a:r>
              <a:rPr sz="1250" b="1" i="0">
                <a:solidFill>
                  <a:srgbClr val="315E75"/>
                </a:solidFill>
                <a:latin typeface="Arial"/>
              </a:rPr>
              <a:t>You plan the space yourself.  </a:t>
            </a:r>
            <a:r>
              <a:rPr sz="1250" b="0" i="0">
                <a:solidFill>
                  <a:srgbClr val="2B3A42"/>
                </a:solidFill>
                <a:latin typeface="Arial"/>
              </a:rPr>
              <a:t>Defences and wall segments are placed and upgraded by hand on a build grid around the data-centre core, which expands in one direction.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A17431"/>
                </a:solidFill>
                <a:latin typeface="Arial"/>
              </a:rPr>
              <a:t>▪  </a:t>
            </a:r>
            <a:r>
              <a:rPr sz="1250" b="1" i="0">
                <a:solidFill>
                  <a:srgbClr val="315E75"/>
                </a:solidFill>
                <a:latin typeface="Arial"/>
              </a:rPr>
              <a:t>Enemies arrive from one side.  </a:t>
            </a:r>
            <a:r>
              <a:rPr sz="1250" b="0" i="0">
                <a:solidFill>
                  <a:srgbClr val="2B3A42"/>
                </a:solidFill>
                <a:latin typeface="Arial"/>
              </a:rPr>
              <a:t>A wave enters from a single edge, so where each tower stands and whether the walls close decide how the wave goes.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A17431"/>
                </a:solidFill>
                <a:latin typeface="Arial"/>
              </a:rPr>
              <a:t>▪  </a:t>
            </a:r>
            <a:r>
              <a:rPr sz="1250" b="1" i="0">
                <a:solidFill>
                  <a:srgbClr val="315E75"/>
                </a:solidFill>
                <a:latin typeface="Arial"/>
              </a:rPr>
              <a:t>A wave starts when you start it.  </a:t>
            </a:r>
            <a:r>
              <a:rPr sz="1250" b="0" i="0">
                <a:solidFill>
                  <a:srgbClr val="2B3A42"/>
                </a:solidFill>
                <a:latin typeface="Arial"/>
              </a:rPr>
              <a:t>Waves run in real time, so no offline simulation and no scheduled settlement is needed. The season resets each month.</a:t>
            </a:r>
          </a:p>
          <a:p>
            <a:pPr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2E766E"/>
                </a:solidFill>
                <a:latin typeface="Arial"/>
              </a:rPr>
              <a:t>Why it matters.  </a:t>
            </a:r>
            <a:r>
              <a:rPr sz="1200" b="0" i="0">
                <a:solidFill>
                  <a:srgbClr val="2B3A42"/>
                </a:solidFill>
                <a:latin typeface="Arial"/>
              </a:rPr>
              <a:t>A day of agent work leaves a visible result without asking the user to spend differently, and the resource balance is unreachable without logged usage — so the game cannot be played on invented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309360"/>
            <a:ext cx="10874959" cy="12801"/>
          </a:xfrm>
          <a:prstGeom prst="rect">
            <a:avLst/>
          </a:prstGeom>
          <a:solidFill>
            <a:srgbClr val="BDD0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76124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TokenTrail · Group 20 · Android App Project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5760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7431"/>
                </a:solidFill>
                <a:latin typeface="Arial"/>
              </a:rPr>
              <a:t>5 · NEW FEATURE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315E75"/>
                </a:solidFill>
                <a:latin typeface="Arial"/>
              </a:rPr>
              <a:t>An advice agent that answers from evidence, not opinion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25296"/>
            <a:ext cx="10874959" cy="22860"/>
          </a:xfrm>
          <a:prstGeom prst="rect">
            <a:avLst/>
          </a:prstGeom>
          <a:solidFill>
            <a:srgbClr val="315E7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fig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81328"/>
            <a:ext cx="2602531" cy="4617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10128" y="1481328"/>
            <a:ext cx="8223199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A17431"/>
                </a:solidFill>
                <a:latin typeface="Arial"/>
              </a:rPr>
              <a:t>▪  </a:t>
            </a:r>
            <a:r>
              <a:rPr sz="1250" b="1" i="0">
                <a:solidFill>
                  <a:srgbClr val="315E75"/>
                </a:solidFill>
                <a:latin typeface="Arial"/>
              </a:rPr>
              <a:t>It lives on the home screen.  </a:t>
            </a:r>
            <a:r>
              <a:rPr sz="1250" b="0" i="0">
                <a:solidFill>
                  <a:srgbClr val="2B3A42"/>
                </a:solidFill>
                <a:latin typeface="Arial"/>
              </a:rPr>
              <a:t>An expandable question panel on the analytics dashboard, where the figures it reasons about already are. It reads two sources: your logged usage and recent forum posts.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A17431"/>
                </a:solidFill>
                <a:latin typeface="Arial"/>
              </a:rPr>
              <a:t>▪  </a:t>
            </a:r>
            <a:r>
              <a:rPr sz="1250" b="1" i="0">
                <a:solidFill>
                  <a:srgbClr val="315E75"/>
                </a:solidFill>
                <a:latin typeface="Arial"/>
              </a:rPr>
              <a:t>A Java service does the work.  </a:t>
            </a:r>
            <a:r>
              <a:rPr sz="1250" b="0" i="0">
                <a:solidFill>
                  <a:srgbClr val="2B3A42"/>
                </a:solidFill>
                <a:latin typeface="Arial"/>
              </a:rPr>
              <a:t>It calls one selected external GPT, GLM or DeepSeek model, which may request read-only tools through function calling. Java executes and validates every call.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A17431"/>
                </a:solidFill>
                <a:latin typeface="Arial"/>
              </a:rPr>
              <a:t>▪  </a:t>
            </a:r>
            <a:r>
              <a:rPr sz="1250" b="1" i="0">
                <a:solidFill>
                  <a:srgbClr val="315E75"/>
                </a:solidFill>
                <a:latin typeface="Arial"/>
              </a:rPr>
              <a:t>Four read-only tools.  </a:t>
            </a:r>
            <a:r>
              <a:rPr sz="1250" b="0" i="0">
                <a:solidFill>
                  <a:srgbClr val="2B3A42"/>
                </a:solidFill>
                <a:latin typeface="Arial"/>
              </a:rPr>
              <a:t>getUsageSummary · getBudgetStatus · compareAgentCosts · getForumHighlights.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A17431"/>
                </a:solidFill>
                <a:latin typeface="Arial"/>
              </a:rPr>
              <a:t>▪  </a:t>
            </a:r>
            <a:r>
              <a:rPr sz="1250" b="1" i="0">
                <a:solidFill>
                  <a:srgbClr val="315E75"/>
                </a:solidFill>
                <a:latin typeface="Arial"/>
              </a:rPr>
              <a:t>It admits what it does not know.  </a:t>
            </a:r>
            <a:r>
              <a:rPr sz="1250" b="0" i="0">
                <a:solidFill>
                  <a:srgbClr val="2B3A42"/>
                </a:solidFill>
                <a:latin typeface="Arial"/>
              </a:rPr>
              <a:t>Replies state evidence and missing data; no logs means no cost-based answer. Its own tokens are tracked separately from coding-agent usage.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0" i="0">
                <a:solidFill>
                  <a:srgbClr val="A17431"/>
                </a:solidFill>
                <a:latin typeface="Arial"/>
              </a:rPr>
              <a:t>▪  </a:t>
            </a:r>
            <a:r>
              <a:rPr sz="1250" b="1" i="0">
                <a:solidFill>
                  <a:srgbClr val="315E75"/>
                </a:solidFill>
                <a:latin typeface="Arial"/>
              </a:rPr>
              <a:t>Cost, never quality.  </a:t>
            </a:r>
            <a:r>
              <a:rPr sz="1250" b="0" i="0">
                <a:solidFill>
                  <a:srgbClr val="2B3A42"/>
                </a:solidFill>
                <a:latin typeface="Arial"/>
              </a:rPr>
              <a:t>It compares agents on cost and token use, and never on how good an answer was.</a:t>
            </a:r>
          </a:p>
          <a:p>
            <a:pPr algn="l">
              <a:lnSpc>
                <a:spcPct val="116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2E766E"/>
                </a:solidFill>
                <a:latin typeface="Arial"/>
              </a:rPr>
              <a:t>Boundary.  </a:t>
            </a:r>
            <a:r>
              <a:rPr sz="1200" b="0" i="0">
                <a:solidFill>
                  <a:srgbClr val="2B3A42"/>
                </a:solidFill>
                <a:latin typeface="Arial"/>
              </a:rPr>
              <a:t>The agent can recommend but cannot run, route or interrupt a coding agent, and cannot enforce a hard spending cap.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309360"/>
            <a:ext cx="10874959" cy="12801"/>
          </a:xfrm>
          <a:prstGeom prst="rect">
            <a:avLst/>
          </a:prstGeom>
          <a:solidFill>
            <a:srgbClr val="BDD0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76124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TokenTrail · Group 20 · Android App Project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5760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7431"/>
                </a:solidFill>
                <a:latin typeface="Arial"/>
              </a:rPr>
              <a:t>5 · HOW IT IS IMPLEMENTED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315E75"/>
                </a:solidFill>
                <a:latin typeface="Arial"/>
              </a:rPr>
              <a:t>One path from logs to the app, and the four data aspects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25296"/>
            <a:ext cx="10874959" cy="22860"/>
          </a:xfrm>
          <a:prstGeom prst="rect">
            <a:avLst/>
          </a:prstGeom>
          <a:solidFill>
            <a:srgbClr val="315E7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fi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567" y="1554480"/>
            <a:ext cx="9052560" cy="95730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2670048"/>
            <a:ext cx="2581579" cy="1481328"/>
          </a:xfrm>
          <a:prstGeom prst="roundRect">
            <a:avLst>
              <a:gd name="adj" fmla="val 6000"/>
            </a:avLst>
          </a:prstGeom>
          <a:solidFill>
            <a:srgbClr val="EAF3F7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28016" rIns="128016" tIns="102412" bIns="102412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15E75"/>
                </a:solidFill>
                <a:latin typeface="Arial"/>
              </a:rPr>
              <a:t>Data input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A42"/>
                </a:solidFill>
                <a:latin typeface="Arial"/>
              </a:rPr>
              <a:t>Agent profile and key label, authorised usage logs, user questions, forum posts.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2827" y="2670048"/>
            <a:ext cx="2581579" cy="1481328"/>
          </a:xfrm>
          <a:prstGeom prst="roundRect">
            <a:avLst>
              <a:gd name="adj" fmla="val 6000"/>
            </a:avLst>
          </a:prstGeom>
          <a:solidFill>
            <a:srgbClr val="EDF6F2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28016" rIns="128016" tIns="102412" bIns="102412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E766E"/>
                </a:solidFill>
                <a:latin typeface="Arial"/>
              </a:rPr>
              <a:t>Data processing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A42"/>
                </a:solidFill>
                <a:latin typeface="Arial"/>
              </a:rPr>
              <a:t>Java prices dated usage, compares agents by cost and converts spent tokens into resources.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2670048"/>
            <a:ext cx="2581579" cy="1481328"/>
          </a:xfrm>
          <a:prstGeom prst="roundRect">
            <a:avLst>
              <a:gd name="adj" fmla="val 6000"/>
            </a:avLst>
          </a:prstGeom>
          <a:solidFill>
            <a:srgbClr val="EAF3F7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28016" rIns="128016" tIns="102412" bIns="102412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15E75"/>
                </a:solidFill>
                <a:latin typeface="Arial"/>
              </a:rPr>
              <a:t>Data storage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A42"/>
                </a:solidFill>
                <a:latin typeface="Arial"/>
              </a:rPr>
              <a:t>Firebase Auth; UID-restricted Firestore; Room for usage, price versions, game state and advice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1747" y="2670048"/>
            <a:ext cx="2581579" cy="1481328"/>
          </a:xfrm>
          <a:prstGeom prst="roundRect">
            <a:avLst>
              <a:gd name="adj" fmla="val 6000"/>
            </a:avLst>
          </a:prstGeom>
          <a:solidFill>
            <a:srgbClr val="FAF3E5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28016" rIns="128016" tIns="102412" bIns="102412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A17431"/>
                </a:solidFill>
                <a:latin typeface="Arial"/>
              </a:rPr>
              <a:t>Data output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A42"/>
                </a:solidFill>
                <a:latin typeface="Arial"/>
              </a:rPr>
              <a:t>Cost cards, heatmap, sessions, budget alerts and the advice agent, plus the game and forum, with explicit unavailable states.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352544"/>
            <a:ext cx="10874959" cy="960120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15E75"/>
                </a:solidFill>
                <a:latin typeface="Arial"/>
              </a:rPr>
              <a:t>Where it stops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Model responses report usage only for calls the caller observed, so imported agent logs are the primary input and the agent cannot see a live coding session without a separate event feed. The external model receives selected summaries — never API secrets or prompt 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468112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C94"/>
                </a:solidFill>
                <a:latin typeface="Arial"/>
              </a:rPr>
              <a:t>The same four aspects (input, processing, storage, output) run through the written outline, the implementation report, the code comments and the final demonstration.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309360"/>
            <a:ext cx="10874959" cy="12801"/>
          </a:xfrm>
          <a:prstGeom prst="rect">
            <a:avLst/>
          </a:prstGeom>
          <a:solidFill>
            <a:srgbClr val="BDD0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76124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TokenTrail · Group 20 · Android App Project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5760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7431"/>
                </a:solidFill>
                <a:latin typeface="Arial"/>
              </a:rPr>
              <a:t>5 · PROPOSED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315E75"/>
                </a:solidFill>
                <a:latin typeface="Arial"/>
              </a:rPr>
              <a:t>Three screens, opening on the analytics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25296"/>
            <a:ext cx="10874959" cy="22860"/>
          </a:xfrm>
          <a:prstGeom prst="rect">
            <a:avLst/>
          </a:prstGeom>
          <a:solidFill>
            <a:srgbClr val="315E7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8" name="Picture 7" descr="fig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27" y="1389888"/>
            <a:ext cx="10149840" cy="42329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5724144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C94"/>
                </a:solidFill>
                <a:latin typeface="Arial"/>
              </a:rPr>
              <a:t>The app opens on the dashboard — the statistics home screen with Activity, Sessions, Compare and Budget, and the advice agent entered from it. A bottom bar reaches the game and the forum. Inspired by dsh-context and dsh-pet. Log-dependent sections show an empty state when records are unavailable.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309360"/>
            <a:ext cx="10874959" cy="12801"/>
          </a:xfrm>
          <a:prstGeom prst="rect">
            <a:avLst/>
          </a:prstGeom>
          <a:solidFill>
            <a:srgbClr val="BDD0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76124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TokenTrail · Group 20 · Android App Project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5760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7431"/>
                </a:solidFill>
                <a:latin typeface="Arial"/>
              </a:rPr>
              <a:t>5 · PROPOSED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315E75"/>
                </a:solidFill>
                <a:latin typeface="Arial"/>
              </a:rPr>
              <a:t>Functional requirements mapped to what already exists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25296"/>
            <a:ext cx="10874959" cy="22860"/>
          </a:xfrm>
          <a:prstGeom prst="rect">
            <a:avLst/>
          </a:prstGeom>
          <a:solidFill>
            <a:srgbClr val="315E7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63040"/>
          <a:ext cx="10874959" cy="44074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11480"/>
                <a:gridCol w="2103120"/>
                <a:gridCol w="6903720"/>
                <a:gridCol w="1456639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Ser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315E75"/>
                      </a:solidFill>
                      <a:prstDash val="solid"/>
                    </a:lnL>
                    <a:lnT w="9525" cap="flat" cmpd="sng" algn="ctr">
                      <a:solidFill>
                        <a:srgbClr val="315E75"/>
                      </a:solidFill>
                      <a:prstDash val="solid"/>
                    </a:lnT>
                    <a:lnB w="9525" cap="flat" cmpd="sng" algn="ctr">
                      <a:solidFill>
                        <a:srgbClr val="315E75"/>
                      </a:solidFill>
                      <a:prstDash val="solid"/>
                    </a:lnB>
                    <a:solidFill>
                      <a:srgbClr val="315E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Existing features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315E75"/>
                      </a:solidFill>
                      <a:prstDash val="solid"/>
                    </a:lnT>
                    <a:lnB w="9525" cap="flat" cmpd="sng" algn="ctr">
                      <a:solidFill>
                        <a:srgbClr val="315E75"/>
                      </a:solidFill>
                      <a:prstDash val="solid"/>
                    </a:lnB>
                    <a:solidFill>
                      <a:srgbClr val="315E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Proposed improvements / new features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315E75"/>
                      </a:solidFill>
                      <a:prstDash val="solid"/>
                    </a:lnT>
                    <a:lnB w="9525" cap="flat" cmpd="sng" algn="ctr">
                      <a:solidFill>
                        <a:srgbClr val="315E75"/>
                      </a:solidFill>
                      <a:prstDash val="solid"/>
                    </a:lnB>
                    <a:solidFill>
                      <a:srgbClr val="315E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Remarks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315E75"/>
                      </a:solidFill>
                      <a:prstDash val="solid"/>
                    </a:lnR>
                    <a:lnT w="9525" cap="flat" cmpd="sng" algn="ctr">
                      <a:solidFill>
                        <a:srgbClr val="315E75"/>
                      </a:solidFill>
                      <a:prstDash val="solid"/>
                    </a:lnT>
                    <a:lnB w="9525" cap="flat" cmpd="sng" algn="ctr">
                      <a:solidFill>
                        <a:srgbClr val="315E75"/>
                      </a:solidFill>
                      <a:prstDash val="solid"/>
                    </a:lnB>
                    <a:solidFill>
                      <a:srgbClr val="315E7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315E7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Cross-model cost dashboards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Three providers priced from dated official rates, de-duplicated, each figure carrying source and coverage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Improvement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315E75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Chat-history viewers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Per-call and per-session token-class breakdown, cache read and write split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Improvement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315E7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Desktop context dashboards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Android client with Firebase Auth and UID-scoped rules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Improvement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315E75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Provider billing consoles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One cross-provider monthly budget with threshold alerts and a per-session breakdown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Improvement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315E75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Community forums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Official model and pricing posts plus user tips, ranked for the advice agent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Improvement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315E75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Interactive pet with feeding (dsh-pet)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Monthly tower-defence season in which tokens already spent convert into build resources, with one-direction base growth and a wave the user starts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New feature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315E75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General chat assistants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Advice agent on the home screen with function calling over read-only tools, reading usage records and hot forum posts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New feature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309360"/>
            <a:ext cx="10874959" cy="12801"/>
          </a:xfrm>
          <a:prstGeom prst="rect">
            <a:avLst/>
          </a:prstGeom>
          <a:solidFill>
            <a:srgbClr val="BDD0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76124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TokenTrail · Group 20 · Android App Project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5760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7431"/>
                </a:solidFill>
                <a:latin typeface="Arial"/>
              </a:rPr>
              <a:t>6 · APPROACH AND WORK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315E75"/>
                </a:solidFill>
                <a:latin typeface="Arial"/>
              </a:rPr>
              <a:t>Checkpoints from this week to the final submission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25296"/>
            <a:ext cx="10874959" cy="22860"/>
          </a:xfrm>
          <a:prstGeom prst="rect">
            <a:avLst/>
          </a:prstGeom>
          <a:solidFill>
            <a:srgbClr val="315E7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63040"/>
          <a:ext cx="10874959" cy="43525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98448"/>
                <a:gridCol w="5989320"/>
                <a:gridCol w="3587191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Course weeks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315E75"/>
                      </a:solidFill>
                      <a:prstDash val="solid"/>
                    </a:lnL>
                    <a:lnT w="9525" cap="flat" cmpd="sng" algn="ctr">
                      <a:solidFill>
                        <a:srgbClr val="315E75"/>
                      </a:solidFill>
                      <a:prstDash val="solid"/>
                    </a:lnT>
                    <a:lnB w="9525" cap="flat" cmpd="sng" algn="ctr">
                      <a:solidFill>
                        <a:srgbClr val="315E75"/>
                      </a:solidFill>
                      <a:prstDash val="solid"/>
                    </a:lnB>
                    <a:solidFill>
                      <a:srgbClr val="315E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Work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315E75"/>
                      </a:solidFill>
                      <a:prstDash val="solid"/>
                    </a:lnT>
                    <a:lnB w="9525" cap="flat" cmpd="sng" algn="ctr">
                      <a:solidFill>
                        <a:srgbClr val="315E75"/>
                      </a:solidFill>
                      <a:prstDash val="solid"/>
                    </a:lnB>
                    <a:solidFill>
                      <a:srgbClr val="315E7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Checkpoint / acceptance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315E75"/>
                      </a:solidFill>
                      <a:prstDash val="solid"/>
                    </a:lnR>
                    <a:lnT w="9525" cap="flat" cmpd="sng" algn="ctr">
                      <a:solidFill>
                        <a:srgbClr val="315E75"/>
                      </a:solidFill>
                      <a:prstDash val="solid"/>
                    </a:lnT>
                    <a:lnB w="9525" cap="flat" cmpd="sng" algn="ctr">
                      <a:solidFill>
                        <a:srgbClr val="315E75"/>
                      </a:solidFill>
                      <a:prstDash val="solid"/>
                    </a:lnB>
                    <a:solidFill>
                      <a:srgbClr val="315E75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315E75"/>
                          </a:solidFill>
                          <a:latin typeface="Arial"/>
                        </a:rPr>
                        <a:t>1-3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Confirm API-key agent use cases and UI; set up Firebase Auth and Firestore rules; document usage-log access and pricing dimensions.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Neither test account sees the other's records; token-source limits documented.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315E75"/>
                          </a:solidFill>
                          <a:latin typeface="Arial"/>
                        </a:rPr>
                        <a:t>4-7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Implement agent profiles, usage-log import, Room/Firestore records, versioned pricing, CNY display and the analytics home screen.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Each provider's sample calls are priced at the correct dated rate and de-duplicated.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315E75"/>
                          </a:solidFill>
                          <a:latin typeface="Arial"/>
                        </a:rPr>
                        <a:t>8-9 · Alpha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Deliver a working login → add agent → import log → estimated cost → analytics path; separate real logs from sample data.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Source, description, GitHub link and MP4 per submission guidance.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315E75"/>
                          </a:solidFill>
                          <a:latin typeface="Arial"/>
                        </a:rPr>
                        <a:t>10-12 · Beta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Add budgets and sessions; build the tower-defence loop (season, token-to-resource conversion, user-started waves); add the agent panel to the home screen and connect one model to three read-only tools.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The agent answers a usage question with evidence and admits missing data; a wave starts and resolves without blocking the UI.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315E75"/>
                          </a:solidFill>
                          <a:latin typeface="Arial"/>
                        </a:rPr>
                        <a:t>13-15 · Final</a:t>
                      </a:r>
                    </a:p>
                  </a:txBody>
                  <a:tcPr marL="91440" marR="82296" marT="50292" marB="50292" anchor="ctr">
                    <a:lnL w="9525" cap="flat" cmpd="sng" algn="ctr">
                      <a:solidFill>
                        <a:srgbClr val="BDD0D8"/>
                      </a:solidFill>
                      <a:prstDash val="solid"/>
                    </a:lnL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Evaluate advice accuracy and API cost, balance the season, improve accessibility, verify account isolation and document estimation limits.</a:t>
                      </a:r>
                    </a:p>
                  </a:txBody>
                  <a:tcPr marL="91440" marR="82296" marT="50292" marB="50292" anchor="ctr"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B3A42"/>
                          </a:solidFill>
                          <a:latin typeface="Arial"/>
                        </a:rPr>
                        <a:t>End-to-end demo, report and video; no agent answer invents usage or controls coding agents.</a:t>
                      </a:r>
                    </a:p>
                  </a:txBody>
                  <a:tcPr marL="91440" marR="82296" marT="50292" marB="50292" anchor="ctr">
                    <a:lnR w="9525" cap="flat" cmpd="sng" algn="ctr">
                      <a:solidFill>
                        <a:srgbClr val="BDD0D8"/>
                      </a:solidFill>
                      <a:prstDash val="solid"/>
                    </a:lnR>
                    <a:lnT w="9525" cap="flat" cmpd="sng" algn="ctr">
                      <a:solidFill>
                        <a:srgbClr val="BDD0D8"/>
                      </a:solidFill>
                      <a:prstDash val="solid"/>
                    </a:lnT>
                    <a:lnB w="9525" cap="flat" cmpd="sng" algn="ctr">
                      <a:solidFill>
                        <a:srgbClr val="BDD0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925312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C94"/>
                </a:solidFill>
                <a:latin typeface="Arial"/>
              </a:rPr>
              <a:t>The team commits to GitHub throughout and adjusts scope based on tested progress.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309360"/>
            <a:ext cx="10874959" cy="12801"/>
          </a:xfrm>
          <a:prstGeom prst="rect">
            <a:avLst/>
          </a:prstGeom>
          <a:solidFill>
            <a:srgbClr val="BDD0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761247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TokenTrail · Group 20 · Android App Project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047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C94"/>
                </a:solidFill>
                <a:latin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65760"/>
            <a:ext cx="108749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7431"/>
                </a:solidFill>
                <a:latin typeface="Arial"/>
              </a:rPr>
              <a:t>6 · EVIDENCE OF COMPLETION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108749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315E75"/>
                </a:solidFill>
                <a:latin typeface="Arial"/>
              </a:rPr>
              <a:t>Who builds what, and how we will know it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25296"/>
            <a:ext cx="10874959" cy="22860"/>
          </a:xfrm>
          <a:prstGeom prst="rect">
            <a:avLst/>
          </a:prstGeom>
          <a:solidFill>
            <a:srgbClr val="315E7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3478682" cy="1389888"/>
          </a:xfrm>
          <a:prstGeom prst="roundRect">
            <a:avLst>
              <a:gd name="adj" fmla="val 6000"/>
            </a:avLst>
          </a:prstGeom>
          <a:solidFill>
            <a:srgbClr val="EAF3F7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37160" rIns="137160" tIns="109728" bIns="10972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15E75"/>
                </a:solidFill>
                <a:latin typeface="Arial"/>
              </a:rPr>
              <a:t>Zhang Li · 24107757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2"/>
                </a:solidFill>
                <a:latin typeface="Arial"/>
              </a:rPr>
              <a:t>The data side — authentication, usage-log import, Room/Firestore, versioned pricing, budgets and the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6506" y="1554480"/>
            <a:ext cx="3478682" cy="1389888"/>
          </a:xfrm>
          <a:prstGeom prst="roundRect">
            <a:avLst>
              <a:gd name="adj" fmla="val 6000"/>
            </a:avLst>
          </a:prstGeom>
          <a:solidFill>
            <a:srgbClr val="EDF6F2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37160" rIns="137160" tIns="109728" bIns="10972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2E766E"/>
                </a:solidFill>
                <a:latin typeface="Arial"/>
              </a:rPr>
              <a:t>Wang Tingdong · 24107759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2"/>
                </a:solidFill>
                <a:latin typeface="Arial"/>
              </a:rPr>
              <a:t>The forum, including its post data and ranking.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4644" y="1554480"/>
            <a:ext cx="3478682" cy="1389888"/>
          </a:xfrm>
          <a:prstGeom prst="roundRect">
            <a:avLst>
              <a:gd name="adj" fmla="val 6000"/>
            </a:avLst>
          </a:prstGeom>
          <a:solidFill>
            <a:srgbClr val="FAF3E5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37160" rIns="137160" tIns="109728" bIns="10972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A17431"/>
                </a:solidFill>
                <a:latin typeface="Arial"/>
              </a:rPr>
              <a:t>Liu Zongrun · 24107745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A42"/>
                </a:solidFill>
                <a:latin typeface="Arial"/>
              </a:rPr>
              <a:t>The tower-defence game, the server-side agent service, its read-only tools and advice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072384"/>
            <a:ext cx="10874959" cy="1207008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15E75"/>
                </a:solidFill>
                <a:latin typeface="Arial"/>
              </a:rPr>
              <a:t>Demo path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Account isolation → tracked Codex, ZCode and DeepSeek-side profiles → three provider estimates from dated token logs → heatmap and budget warning → an agent question asked from that screen, such as "Why did cost rise?", answered with a queried summary, evidence and its own estimated API cost → a season in which those tokens became build resources.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407408"/>
            <a:ext cx="10874959" cy="1207008"/>
          </a:xfrm>
          <a:prstGeom prst="roundRect">
            <a:avLst>
              <a:gd name="adj" fmla="val 6000"/>
            </a:avLst>
          </a:prstGeom>
          <a:solidFill>
            <a:srgbClr val="F7FAFB"/>
          </a:solidFill>
          <a:ln w="9525">
            <a:solidFill>
              <a:srgbClr val="BDD0D8"/>
            </a:solidFill>
          </a:ln>
          <a:effectLst/>
        </p:spPr>
        <p:txBody>
          <a:bodyPr rtlCol="0" anchor="t" wrap="square" lIns="155448" rIns="155448" tIns="124358" bIns="124358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15E75"/>
                </a:solidFill>
                <a:latin typeface="Arial"/>
              </a:rPr>
              <a:t>Validation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A42"/>
                </a:solidFill>
                <a:latin typeface="Arial"/>
              </a:rPr>
              <a:t>Tests cover token accounting, price-version boundaries, missing usage, de-duplication and read-only tool limits, with the Firebase Emulator verifying access. Agent replies are checked against tool data, and the game is checked for a resource balance unreachable without logged usage. Published rates can differ from paid amounts; all figures remain estimates.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24144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15E75"/>
                </a:solidFill>
                <a:latin typeface="Arial"/>
              </a:rPr>
              <a:t>Repository: </a:t>
            </a:r>
            <a:r>
              <a:rPr sz="1100" b="0" i="0" u="none">
                <a:solidFill>
                  <a:srgbClr val="2E766E"/>
                </a:solidFill>
                <a:latin typeface="Arial"/>
                <a:hlinkClick r:id="rId2"/>
              </a:rPr>
              <a:t>https://github.com/LiuZongrun7/Mobile_Group_20</a:t>
            </a:r>
            <a:r>
              <a:rPr sz="1100" b="0" i="0">
                <a:solidFill>
                  <a:srgbClr val="7A8C94"/>
                </a:solidFill>
                <a:latin typeface="Arial"/>
              </a:rPr>
              <a:t>   ·   UI/UX, accessibility and integration are shared across all three members.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