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LiuZongrun7/Mobile_Group_20" TargetMode="Externa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earn.chatgpt.com/docs/auth" TargetMode="External"/><Relationship Id="rId3" Type="http://schemas.openxmlformats.org/officeDocument/2006/relationships/hyperlink" Target="https://zcode.z.ai/en/docs/configuration" TargetMode="External"/><Relationship Id="rId4" Type="http://schemas.openxmlformats.org/officeDocument/2006/relationships/hyperlink" Target="https://github.com/deepseek-ai/deepseek-harness" TargetMode="External"/><Relationship Id="rId5" Type="http://schemas.openxmlformats.org/officeDocument/2006/relationships/hyperlink" Target="https://docs.litellm.ai/docs/simple_proxy" TargetMode="External"/><Relationship Id="rId6" Type="http://schemas.openxmlformats.org/officeDocument/2006/relationships/hyperlink" Target="https://github.com/zhu1090093659/dsh-pet/blob/main/README.zh.md"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ndroidx/androidx/blob/androidx-main/LICENSE.txt" TargetMode="External"/><Relationship Id="rId3" Type="http://schemas.openxmlformats.org/officeDocument/2006/relationships/hyperlink" Target="https://github.com/PhilJay/MPAndroidChart" TargetMode="External"/><Relationship Id="rId4" Type="http://schemas.openxmlformats.org/officeDocument/2006/relationships/hyperlink" Target="https://github.com/android/codelab-android-room-with-a-view"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LiuZongrun7/Mobile_Group_20"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315E75"/>
          </a:solidFill>
          <a:ln>
            <a:noFill/>
          </a:ln>
          <a:effectLst/>
        </p:spPr>
        <p:txBody>
          <a:bodyPr rtlCol="0" anchor="ctr" wrap="square"/>
          <a:lstStyle/>
          <a:p>
            <a:pPr algn="ctr"/>
          </a:p>
        </p:txBody>
      </p:sp>
      <p:sp>
        <p:nvSpPr>
          <p:cNvPr id="3" name="TextBox 2"/>
          <p:cNvSpPr txBox="1"/>
          <p:nvPr/>
        </p:nvSpPr>
        <p:spPr>
          <a:xfrm>
            <a:off x="658368" y="1417320"/>
            <a:ext cx="7863840" cy="274320"/>
          </a:xfrm>
          <a:prstGeom prst="rect">
            <a:avLst/>
          </a:prstGeom>
          <a:noFill/>
        </p:spPr>
        <p:txBody>
          <a:bodyPr wrap="square" anchor="t" lIns="0" rIns="0" tIns="0" bIns="0">
            <a:spAutoFit/>
          </a:bodyPr>
          <a:lstStyle/>
          <a:p>
            <a:pPr algn="l">
              <a:lnSpc>
                <a:spcPct val="116000"/>
              </a:lnSpc>
              <a:spcBef>
                <a:spcPts val="0"/>
              </a:spcBef>
              <a:spcAft>
                <a:spcPts val="0"/>
              </a:spcAft>
            </a:pPr>
            <a:r>
              <a:rPr sz="1100" b="0" i="0">
                <a:solidFill>
                  <a:srgbClr val="A17431"/>
                </a:solidFill>
                <a:latin typeface="Arial"/>
              </a:rPr>
              <a:t>MOBILE APP PROJECT · OUTLINE PRESENTATION</a:t>
            </a:r>
          </a:p>
        </p:txBody>
      </p:sp>
      <p:sp>
        <p:nvSpPr>
          <p:cNvPr id="4" name="TextBox 3"/>
          <p:cNvSpPr txBox="1"/>
          <p:nvPr/>
        </p:nvSpPr>
        <p:spPr>
          <a:xfrm>
            <a:off x="658368" y="1783080"/>
            <a:ext cx="7863840" cy="1005840"/>
          </a:xfrm>
          <a:prstGeom prst="rect">
            <a:avLst/>
          </a:prstGeom>
          <a:noFill/>
        </p:spPr>
        <p:txBody>
          <a:bodyPr wrap="square" anchor="t" lIns="0" rIns="0" tIns="0" bIns="0">
            <a:spAutoFit/>
          </a:bodyPr>
          <a:lstStyle/>
          <a:p>
            <a:pPr algn="l">
              <a:lnSpc>
                <a:spcPct val="116000"/>
              </a:lnSpc>
              <a:spcBef>
                <a:spcPts val="0"/>
              </a:spcBef>
              <a:spcAft>
                <a:spcPts val="0"/>
              </a:spcAft>
            </a:pPr>
            <a:r>
              <a:rPr sz="5400" b="1" i="0">
                <a:solidFill>
                  <a:srgbClr val="315E75"/>
                </a:solidFill>
                <a:latin typeface="Arial"/>
              </a:rPr>
              <a:t>TokenTrail</a:t>
            </a:r>
          </a:p>
        </p:txBody>
      </p:sp>
      <p:sp>
        <p:nvSpPr>
          <p:cNvPr id="5" name="TextBox 4"/>
          <p:cNvSpPr txBox="1"/>
          <p:nvPr/>
        </p:nvSpPr>
        <p:spPr>
          <a:xfrm>
            <a:off x="658368" y="2834640"/>
            <a:ext cx="7863840" cy="640080"/>
          </a:xfrm>
          <a:prstGeom prst="rect">
            <a:avLst/>
          </a:prstGeom>
          <a:noFill/>
        </p:spPr>
        <p:txBody>
          <a:bodyPr wrap="square" anchor="t" lIns="0" rIns="0" tIns="0" bIns="0">
            <a:spAutoFit/>
          </a:bodyPr>
          <a:lstStyle/>
          <a:p>
            <a:pPr algn="l">
              <a:lnSpc>
                <a:spcPct val="116000"/>
              </a:lnSpc>
              <a:spcBef>
                <a:spcPts val="0"/>
              </a:spcBef>
              <a:spcAft>
                <a:spcPts val="0"/>
              </a:spcAft>
            </a:pPr>
            <a:r>
              <a:rPr sz="1900" b="0" i="0">
                <a:solidFill>
                  <a:srgbClr val="2E766E"/>
                </a:solidFill>
                <a:latin typeface="Arial"/>
              </a:rPr>
              <a:t>Track, price and compare what your coding agents really cost</a:t>
            </a:r>
          </a:p>
        </p:txBody>
      </p:sp>
      <p:sp>
        <p:nvSpPr>
          <p:cNvPr id="6" name="Rectangle 5"/>
          <p:cNvSpPr/>
          <p:nvPr/>
        </p:nvSpPr>
        <p:spPr>
          <a:xfrm>
            <a:off x="658368" y="3520440"/>
            <a:ext cx="7863840" cy="12801"/>
          </a:xfrm>
          <a:prstGeom prst="rect">
            <a:avLst/>
          </a:prstGeom>
          <a:solidFill>
            <a:srgbClr val="BDD0D8"/>
          </a:solidFill>
          <a:ln>
            <a:noFill/>
          </a:ln>
          <a:effectLst/>
        </p:spPr>
        <p:txBody>
          <a:bodyPr rtlCol="0" anchor="ctr" wrap="square"/>
          <a:lstStyle/>
          <a:p>
            <a:pPr algn="ctr"/>
          </a:p>
        </p:txBody>
      </p:sp>
      <p:sp>
        <p:nvSpPr>
          <p:cNvPr id="7" name="TextBox 6"/>
          <p:cNvSpPr txBox="1"/>
          <p:nvPr/>
        </p:nvSpPr>
        <p:spPr>
          <a:xfrm>
            <a:off x="658368" y="3703320"/>
            <a:ext cx="7863840" cy="1371600"/>
          </a:xfrm>
          <a:prstGeom prst="rect">
            <a:avLst/>
          </a:prstGeom>
          <a:noFill/>
        </p:spPr>
        <p:txBody>
          <a:bodyPr wrap="square" anchor="t" lIns="0" rIns="0" tIns="0" bIns="0">
            <a:spAutoFit/>
          </a:bodyPr>
          <a:lstStyle/>
          <a:p>
            <a:pPr algn="l">
              <a:lnSpc>
                <a:spcPct val="116000"/>
              </a:lnSpc>
              <a:spcBef>
                <a:spcPts val="0"/>
              </a:spcBef>
              <a:spcAft>
                <a:spcPts val="600"/>
              </a:spcAft>
            </a:pPr>
            <a:r>
              <a:rPr sz="1300" b="1" i="0">
                <a:solidFill>
                  <a:srgbClr val="315E75"/>
                </a:solidFill>
                <a:latin typeface="Arial"/>
              </a:rPr>
              <a:t>Category:  </a:t>
            </a:r>
            <a:r>
              <a:rPr sz="1300" b="0" i="0">
                <a:solidFill>
                  <a:srgbClr val="2B3A42"/>
                </a:solidFill>
                <a:latin typeface="Arial"/>
              </a:rPr>
              <a:t>Developer Productivity / API Cost Analytics</a:t>
            </a:r>
          </a:p>
          <a:p>
            <a:pPr algn="l">
              <a:lnSpc>
                <a:spcPct val="116000"/>
              </a:lnSpc>
              <a:spcBef>
                <a:spcPts val="0"/>
              </a:spcBef>
              <a:spcAft>
                <a:spcPts val="600"/>
              </a:spcAft>
            </a:pPr>
            <a:r>
              <a:rPr sz="1300" b="1" i="0">
                <a:solidFill>
                  <a:srgbClr val="315E75"/>
                </a:solidFill>
                <a:latin typeface="Arial"/>
              </a:rPr>
              <a:t>Target users:  </a:t>
            </a:r>
            <a:r>
              <a:rPr sz="1300" b="0" i="0">
                <a:solidFill>
                  <a:srgbClr val="2B3A42"/>
                </a:solidFill>
                <a:latin typeface="Arial"/>
              </a:rPr>
              <a:t>Students and independent developers who use API-key coding agents</a:t>
            </a:r>
          </a:p>
          <a:p>
            <a:pPr algn="l">
              <a:lnSpc>
                <a:spcPct val="116000"/>
              </a:lnSpc>
              <a:spcBef>
                <a:spcPts val="0"/>
              </a:spcBef>
              <a:spcAft>
                <a:spcPts val="0"/>
              </a:spcAft>
            </a:pPr>
            <a:r>
              <a:rPr sz="1300" b="1" i="0">
                <a:solidFill>
                  <a:srgbClr val="315E75"/>
                </a:solidFill>
                <a:latin typeface="Arial"/>
              </a:rPr>
              <a:t>Stack:  </a:t>
            </a:r>
            <a:r>
              <a:rPr sz="1300" b="0" i="0">
                <a:solidFill>
                  <a:srgbClr val="2B3A42"/>
                </a:solidFill>
                <a:latin typeface="Arial"/>
              </a:rPr>
              <a:t>Android · Java/XML · Room · Java advice service on the team's own server</a:t>
            </a:r>
          </a:p>
        </p:txBody>
      </p:sp>
      <p:sp>
        <p:nvSpPr>
          <p:cNvPr id="8" name="TextBox 7"/>
          <p:cNvSpPr txBox="1"/>
          <p:nvPr/>
        </p:nvSpPr>
        <p:spPr>
          <a:xfrm>
            <a:off x="658368" y="5257800"/>
            <a:ext cx="7863840" cy="822960"/>
          </a:xfrm>
          <a:prstGeom prst="rect">
            <a:avLst/>
          </a:prstGeom>
          <a:noFill/>
        </p:spPr>
        <p:txBody>
          <a:bodyPr wrap="square" anchor="t" lIns="0" rIns="0" tIns="0" bIns="0">
            <a:spAutoFit/>
          </a:bodyPr>
          <a:lstStyle/>
          <a:p>
            <a:pPr algn="l">
              <a:lnSpc>
                <a:spcPct val="116000"/>
              </a:lnSpc>
              <a:spcBef>
                <a:spcPts val="0"/>
              </a:spcBef>
              <a:spcAft>
                <a:spcPts val="400"/>
              </a:spcAft>
            </a:pPr>
            <a:r>
              <a:rPr sz="1250" b="1" i="0">
                <a:solidFill>
                  <a:srgbClr val="315E75"/>
                </a:solidFill>
                <a:latin typeface="Arial"/>
              </a:rPr>
              <a:t>Group 20 ·  </a:t>
            </a:r>
            <a:r>
              <a:rPr sz="1250" b="0" i="0">
                <a:solidFill>
                  <a:srgbClr val="2B3A42"/>
                </a:solidFill>
                <a:latin typeface="Arial"/>
              </a:rPr>
              <a:t>Zhang Li (24107757) · Wang Tingdong (24107759) · Liu Zongrun (24107745)</a:t>
            </a:r>
          </a:p>
          <a:p>
            <a:pPr algn="l">
              <a:lnSpc>
                <a:spcPct val="116000"/>
              </a:lnSpc>
              <a:spcBef>
                <a:spcPts val="0"/>
              </a:spcBef>
              <a:spcAft>
                <a:spcPts val="0"/>
              </a:spcAft>
            </a:pPr>
            <a:r>
              <a:rPr sz="1250" b="1" i="0">
                <a:solidFill>
                  <a:srgbClr val="315E75"/>
                </a:solidFill>
                <a:latin typeface="Arial"/>
              </a:rPr>
              <a:t>Repository:  </a:t>
            </a:r>
            <a:r>
              <a:rPr sz="1250" b="0" i="0" u="none">
                <a:solidFill>
                  <a:srgbClr val="2E766E"/>
                </a:solidFill>
                <a:latin typeface="Arial"/>
                <a:hlinkClick r:id="rId2"/>
              </a:rPr>
              <a:t>github.com/LiuZongrun7/Mobile_Group_20</a:t>
            </a:r>
          </a:p>
        </p:txBody>
      </p:sp>
      <p:pic>
        <p:nvPicPr>
          <p:cNvPr id="9" name="Picture 8" descr="fig_game.png"/>
          <p:cNvPicPr>
            <a:picLocks noChangeAspect="1"/>
          </p:cNvPicPr>
          <p:nvPr/>
        </p:nvPicPr>
        <p:blipFill>
          <a:blip r:embed="rId3"/>
          <a:stretch>
            <a:fillRect/>
          </a:stretch>
        </p:blipFill>
        <p:spPr>
          <a:xfrm>
            <a:off x="9006840" y="1417320"/>
            <a:ext cx="2550996" cy="45262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58368" y="6309360"/>
            <a:ext cx="10874959" cy="12801"/>
          </a:xfrm>
          <a:prstGeom prst="rect">
            <a:avLst/>
          </a:prstGeom>
          <a:solidFill>
            <a:srgbClr val="BDD0D8"/>
          </a:solidFill>
          <a:ln>
            <a:noFill/>
          </a:ln>
          <a:effectLst/>
        </p:spPr>
        <p:txBody>
          <a:bodyPr rtlCol="0" anchor="ctr" wrap="square"/>
          <a:lstStyle/>
          <a:p>
            <a:pPr algn="ctr"/>
          </a:p>
        </p:txBody>
      </p:sp>
      <p:sp>
        <p:nvSpPr>
          <p:cNvPr id="3" name="TextBox 2"/>
          <p:cNvSpPr txBox="1"/>
          <p:nvPr/>
        </p:nvSpPr>
        <p:spPr>
          <a:xfrm>
            <a:off x="658368" y="6419088"/>
            <a:ext cx="7612471" cy="274320"/>
          </a:xfrm>
          <a:prstGeom prst="rect">
            <a:avLst/>
          </a:prstGeom>
          <a:noFill/>
        </p:spPr>
        <p:txBody>
          <a:bodyPr wrap="square" anchor="t" lIns="0" rIns="0" tIns="0" bIns="0">
            <a:spAutoFit/>
          </a:bodyPr>
          <a:lstStyle/>
          <a:p>
            <a:pPr algn="l">
              <a:lnSpc>
                <a:spcPct val="116000"/>
              </a:lnSpc>
              <a:spcBef>
                <a:spcPts val="0"/>
              </a:spcBef>
              <a:spcAft>
                <a:spcPts val="0"/>
              </a:spcAft>
            </a:pPr>
            <a:r>
              <a:rPr sz="900" b="0" i="0">
                <a:solidFill>
                  <a:srgbClr val="7A8C94"/>
                </a:solidFill>
                <a:latin typeface="Arial"/>
              </a:rPr>
              <a:t>TokenTrail · Group 20 · Android App Project Outline</a:t>
            </a:r>
          </a:p>
        </p:txBody>
      </p:sp>
      <p:sp>
        <p:nvSpPr>
          <p:cNvPr id="4" name="TextBox 3"/>
          <p:cNvSpPr txBox="1"/>
          <p:nvPr/>
        </p:nvSpPr>
        <p:spPr>
          <a:xfrm>
            <a:off x="10436047" y="6419088"/>
            <a:ext cx="1097280" cy="274320"/>
          </a:xfrm>
          <a:prstGeom prst="rect">
            <a:avLst/>
          </a:prstGeom>
          <a:noFill/>
        </p:spPr>
        <p:txBody>
          <a:bodyPr wrap="square" anchor="t" lIns="0" rIns="0" tIns="0" bIns="0">
            <a:spAutoFit/>
          </a:bodyPr>
          <a:lstStyle/>
          <a:p>
            <a:pPr algn="r">
              <a:lnSpc>
                <a:spcPct val="116000"/>
              </a:lnSpc>
              <a:spcBef>
                <a:spcPts val="0"/>
              </a:spcBef>
              <a:spcAft>
                <a:spcPts val="0"/>
              </a:spcAft>
            </a:pPr>
            <a:r>
              <a:rPr sz="900" b="0" i="0">
                <a:solidFill>
                  <a:srgbClr val="7A8C94"/>
                </a:solidFill>
                <a:latin typeface="Arial"/>
              </a:rPr>
              <a:t>2</a:t>
            </a:r>
          </a:p>
        </p:txBody>
      </p:sp>
      <p:sp>
        <p:nvSpPr>
          <p:cNvPr id="5" name="TextBox 4"/>
          <p:cNvSpPr txBox="1"/>
          <p:nvPr/>
        </p:nvSpPr>
        <p:spPr>
          <a:xfrm>
            <a:off x="658368" y="365760"/>
            <a:ext cx="10874959" cy="237744"/>
          </a:xfrm>
          <a:prstGeom prst="rect">
            <a:avLst/>
          </a:prstGeom>
          <a:noFill/>
        </p:spPr>
        <p:txBody>
          <a:bodyPr wrap="square" anchor="t" lIns="0" rIns="0" tIns="0" bIns="0">
            <a:spAutoFit/>
          </a:bodyPr>
          <a:lstStyle/>
          <a:p>
            <a:pPr algn="l">
              <a:lnSpc>
                <a:spcPct val="116000"/>
              </a:lnSpc>
              <a:spcBef>
                <a:spcPts val="0"/>
              </a:spcBef>
              <a:spcAft>
                <a:spcPts val="0"/>
              </a:spcAft>
            </a:pPr>
            <a:r>
              <a:rPr sz="1000" b="0" i="0">
                <a:solidFill>
                  <a:srgbClr val="A17431"/>
                </a:solidFill>
                <a:latin typeface="Arial"/>
              </a:rPr>
              <a:t>HOW TO READ THIS DECK</a:t>
            </a:r>
          </a:p>
        </p:txBody>
      </p:sp>
      <p:sp>
        <p:nvSpPr>
          <p:cNvPr id="6" name="TextBox 5"/>
          <p:cNvSpPr txBox="1"/>
          <p:nvPr/>
        </p:nvSpPr>
        <p:spPr>
          <a:xfrm>
            <a:off x="658368" y="603504"/>
            <a:ext cx="10874959" cy="502920"/>
          </a:xfrm>
          <a:prstGeom prst="rect">
            <a:avLst/>
          </a:prstGeom>
          <a:noFill/>
        </p:spPr>
        <p:txBody>
          <a:bodyPr wrap="square" anchor="t" lIns="0" rIns="0" tIns="0" bIns="0">
            <a:spAutoFit/>
          </a:bodyPr>
          <a:lstStyle/>
          <a:p>
            <a:pPr algn="l">
              <a:lnSpc>
                <a:spcPct val="116000"/>
              </a:lnSpc>
              <a:spcBef>
                <a:spcPts val="0"/>
              </a:spcBef>
              <a:spcAft>
                <a:spcPts val="0"/>
              </a:spcAft>
            </a:pPr>
            <a:r>
              <a:rPr sz="2600" b="0" i="0">
                <a:solidFill>
                  <a:srgbClr val="315E75"/>
                </a:solidFill>
                <a:latin typeface="Arial"/>
              </a:rPr>
              <a:t>The six points the outline slides must cover</a:t>
            </a:r>
          </a:p>
        </p:txBody>
      </p:sp>
      <p:sp>
        <p:nvSpPr>
          <p:cNvPr id="7" name="Rectangle 6"/>
          <p:cNvSpPr/>
          <p:nvPr/>
        </p:nvSpPr>
        <p:spPr>
          <a:xfrm>
            <a:off x="658368" y="1225296"/>
            <a:ext cx="10874959" cy="22860"/>
          </a:xfrm>
          <a:prstGeom prst="rect">
            <a:avLst/>
          </a:prstGeom>
          <a:solidFill>
            <a:srgbClr val="315E75"/>
          </a:solidFill>
          <a:ln>
            <a:noFill/>
          </a:ln>
          <a:effectLst/>
        </p:spPr>
        <p:txBody>
          <a:bodyPr rtlCol="0" anchor="ctr" wrap="square"/>
          <a:lstStyle/>
          <a:p>
            <a:pPr algn="ctr"/>
          </a:p>
        </p:txBody>
      </p:sp>
      <p:graphicFrame>
        <p:nvGraphicFramePr>
          <p:cNvPr id="8" name="Table 7"/>
          <p:cNvGraphicFramePr>
            <a:graphicFrameLocks noGrp="1"/>
          </p:cNvGraphicFramePr>
          <p:nvPr/>
        </p:nvGraphicFramePr>
        <p:xfrm>
          <a:off x="658368" y="1481328"/>
          <a:ext cx="10874959" cy="4261104"/>
        </p:xfrm>
        <a:graphic>
          <a:graphicData uri="http://schemas.openxmlformats.org/drawingml/2006/table">
            <a:tbl>
              <a:tblPr firstRow="0" bandRow="0">
                <a:tableStyleId>{2D5ABB26-0587-4C30-8999-92F81FD0307C}</a:tableStyleId>
              </a:tblPr>
              <a:tblGrid>
                <a:gridCol w="3246120"/>
                <a:gridCol w="5897880"/>
                <a:gridCol w="1730959"/>
              </a:tblGrid>
              <a:tr h="420624">
                <a:tc>
                  <a:txBody>
                    <a:bodyPr wrap="square"/>
                    <a:lstStyle/>
                    <a:p>
                      <a:pPr algn="l">
                        <a:lnSpc>
                          <a:spcPct val="108000"/>
                        </a:lnSpc>
                        <a:spcBef>
                          <a:spcPts val="0"/>
                        </a:spcBef>
                        <a:spcAft>
                          <a:spcPts val="0"/>
                        </a:spcAft>
                      </a:pPr>
                      <a:r>
                        <a:rPr sz="1150" b="1" i="0">
                          <a:solidFill>
                            <a:srgbClr val="FFFFFF"/>
                          </a:solidFill>
                          <a:latin typeface="Arial"/>
                        </a:rPr>
                        <a:t>Guideline point</a:t>
                      </a:r>
                    </a:p>
                  </a:txBody>
                  <a:tcPr marL="91440" marR="82296" marT="50292" marB="50292" anchor="ctr">
                    <a:lnL w="9525" cap="flat" cmpd="sng" algn="ctr">
                      <a:solidFill>
                        <a:srgbClr val="315E75"/>
                      </a:solidFill>
                      <a:prstDash val="solid"/>
                    </a:lnL>
                    <a:lnT w="9525" cap="flat" cmpd="sng" algn="ctr">
                      <a:solidFill>
                        <a:srgbClr val="315E75"/>
                      </a:solidFill>
                      <a:prstDash val="solid"/>
                    </a:lnT>
                    <a:lnB w="9525" cap="flat" cmpd="sng" algn="ctr">
                      <a:solidFill>
                        <a:srgbClr val="315E75"/>
                      </a:solidFill>
                      <a:prstDash val="solid"/>
                    </a:lnB>
                    <a:solidFill>
                      <a:srgbClr val="315E75"/>
                    </a:solidFill>
                  </a:tcPr>
                </a:tc>
                <a:tc>
                  <a:txBody>
                    <a:bodyPr wrap="square"/>
                    <a:lstStyle/>
                    <a:p>
                      <a:pPr algn="l">
                        <a:lnSpc>
                          <a:spcPct val="108000"/>
                        </a:lnSpc>
                        <a:spcBef>
                          <a:spcPts val="0"/>
                        </a:spcBef>
                        <a:spcAft>
                          <a:spcPts val="0"/>
                        </a:spcAft>
                      </a:pPr>
                      <a:r>
                        <a:rPr sz="1150" b="1" i="0">
                          <a:solidFill>
                            <a:srgbClr val="FFFFFF"/>
                          </a:solidFill>
                          <a:latin typeface="Arial"/>
                        </a:rPr>
                        <a:t>What the slides cover</a:t>
                      </a:r>
                    </a:p>
                  </a:txBody>
                  <a:tcPr marL="91440" marR="82296" marT="50292" marB="50292" anchor="ctr">
                    <a:lnT w="9525" cap="flat" cmpd="sng" algn="ctr">
                      <a:solidFill>
                        <a:srgbClr val="315E75"/>
                      </a:solidFill>
                      <a:prstDash val="solid"/>
                    </a:lnT>
                    <a:lnB w="9525" cap="flat" cmpd="sng" algn="ctr">
                      <a:solidFill>
                        <a:srgbClr val="315E75"/>
                      </a:solidFill>
                      <a:prstDash val="solid"/>
                    </a:lnB>
                    <a:solidFill>
                      <a:srgbClr val="315E75"/>
                    </a:solidFill>
                  </a:tcPr>
                </a:tc>
                <a:tc>
                  <a:txBody>
                    <a:bodyPr wrap="square"/>
                    <a:lstStyle/>
                    <a:p>
                      <a:pPr algn="l">
                        <a:lnSpc>
                          <a:spcPct val="108000"/>
                        </a:lnSpc>
                        <a:spcBef>
                          <a:spcPts val="0"/>
                        </a:spcBef>
                        <a:spcAft>
                          <a:spcPts val="0"/>
                        </a:spcAft>
                      </a:pPr>
                      <a:r>
                        <a:rPr sz="1150" b="1" i="0">
                          <a:solidFill>
                            <a:srgbClr val="FFFFFF"/>
                          </a:solidFill>
                          <a:latin typeface="Arial"/>
                        </a:rPr>
                        <a:t>Where</a:t>
                      </a:r>
                    </a:p>
                  </a:txBody>
                  <a:tcPr marL="91440" marR="82296" marT="50292" marB="50292" anchor="ctr">
                    <a:lnR w="9525" cap="flat" cmpd="sng" algn="ctr">
                      <a:solidFill>
                        <a:srgbClr val="315E75"/>
                      </a:solidFill>
                      <a:prstDash val="solid"/>
                    </a:lnR>
                    <a:lnT w="9525" cap="flat" cmpd="sng" algn="ctr">
                      <a:solidFill>
                        <a:srgbClr val="315E75"/>
                      </a:solidFill>
                      <a:prstDash val="solid"/>
                    </a:lnT>
                    <a:lnB w="9525" cap="flat" cmpd="sng" algn="ctr">
                      <a:solidFill>
                        <a:srgbClr val="315E75"/>
                      </a:solidFill>
                      <a:prstDash val="solid"/>
                    </a:lnB>
                    <a:solidFill>
                      <a:srgbClr val="315E75"/>
                    </a:solidFill>
                  </a:tcPr>
                </a:tc>
              </a:tr>
              <a:tr h="640080">
                <a:tc>
                  <a:txBody>
                    <a:bodyPr wrap="square"/>
                    <a:lstStyle/>
                    <a:p>
                      <a:pPr algn="l">
                        <a:lnSpc>
                          <a:spcPct val="108000"/>
                        </a:lnSpc>
                        <a:spcBef>
                          <a:spcPts val="0"/>
                        </a:spcBef>
                        <a:spcAft>
                          <a:spcPts val="0"/>
                        </a:spcAft>
                      </a:pPr>
                      <a:r>
                        <a:rPr sz="1150" b="1" i="0">
                          <a:solidFill>
                            <a:srgbClr val="315E75"/>
                          </a:solidFill>
                          <a:latin typeface="Arial"/>
                        </a:rPr>
                        <a:t>1.  Brief app idea description</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50" b="0" i="0">
                          <a:solidFill>
                            <a:srgbClr val="2B3A42"/>
                          </a:solidFill>
                          <a:latin typeface="Arial"/>
                        </a:rPr>
                        <a:t>What TokenTrail is, who it is for, and what is out of scope</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50" b="0" i="0">
                          <a:solidFill>
                            <a:srgbClr val="2B3A42"/>
                          </a:solidFill>
                          <a:latin typeface="Arial"/>
                        </a:rPr>
                        <a:t>Slide 3</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FFFFF"/>
                    </a:solidFill>
                  </a:tcPr>
                </a:tc>
              </a:tr>
              <a:tr h="640080">
                <a:tc>
                  <a:txBody>
                    <a:bodyPr wrap="square"/>
                    <a:lstStyle/>
                    <a:p>
                      <a:pPr algn="l">
                        <a:lnSpc>
                          <a:spcPct val="108000"/>
                        </a:lnSpc>
                        <a:spcBef>
                          <a:spcPts val="0"/>
                        </a:spcBef>
                        <a:spcAft>
                          <a:spcPts val="0"/>
                        </a:spcAft>
                      </a:pPr>
                      <a:r>
                        <a:rPr sz="1150" b="1" i="0">
                          <a:solidFill>
                            <a:srgbClr val="315E75"/>
                          </a:solidFill>
                          <a:latin typeface="Arial"/>
                        </a:rPr>
                        <a:t>2.  Discussion of similar / related apps</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50" b="0" i="0">
                          <a:solidFill>
                            <a:srgbClr val="2B3A42"/>
                          </a:solidFill>
                          <a:latin typeface="Arial"/>
                        </a:rPr>
                        <a:t>Codex, ZCode, DSH with dsh-context, LiteLLM and dsh-pet</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50" b="0" i="0">
                          <a:solidFill>
                            <a:srgbClr val="2B3A42"/>
                          </a:solidFill>
                          <a:latin typeface="Arial"/>
                        </a:rPr>
                        <a:t>Slide 5</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7FAFB"/>
                    </a:solidFill>
                  </a:tcPr>
                </a:tc>
              </a:tr>
              <a:tr h="640080">
                <a:tc>
                  <a:txBody>
                    <a:bodyPr wrap="square"/>
                    <a:lstStyle/>
                    <a:p>
                      <a:pPr algn="l">
                        <a:lnSpc>
                          <a:spcPct val="108000"/>
                        </a:lnSpc>
                        <a:spcBef>
                          <a:spcPts val="0"/>
                        </a:spcBef>
                        <a:spcAft>
                          <a:spcPts val="0"/>
                        </a:spcAft>
                      </a:pPr>
                      <a:r>
                        <a:rPr sz="1150" b="1" i="0">
                          <a:solidFill>
                            <a:srgbClr val="315E75"/>
                          </a:solidFill>
                          <a:latin typeface="Arial"/>
                        </a:rPr>
                        <a:t>3.  Related apps: features and components</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50" b="0" i="0">
                          <a:solidFill>
                            <a:srgbClr val="2B3A42"/>
                          </a:solidFill>
                          <a:latin typeface="Arial"/>
                        </a:rPr>
                        <a:t>What each one covers, and the gap it leaves open</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50" b="0" i="0">
                          <a:solidFill>
                            <a:srgbClr val="2B3A42"/>
                          </a:solidFill>
                          <a:latin typeface="Arial"/>
                        </a:rPr>
                        <a:t>Slide 6</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FFFFF"/>
                    </a:solidFill>
                  </a:tcPr>
                </a:tc>
              </a:tr>
              <a:tr h="640080">
                <a:tc>
                  <a:txBody>
                    <a:bodyPr wrap="square"/>
                    <a:lstStyle/>
                    <a:p>
                      <a:pPr algn="l">
                        <a:lnSpc>
                          <a:spcPct val="108000"/>
                        </a:lnSpc>
                        <a:spcBef>
                          <a:spcPts val="0"/>
                        </a:spcBef>
                        <a:spcAft>
                          <a:spcPts val="0"/>
                        </a:spcAft>
                      </a:pPr>
                      <a:r>
                        <a:rPr sz="1150" b="1" i="0">
                          <a:solidFill>
                            <a:srgbClr val="315E75"/>
                          </a:solidFill>
                          <a:latin typeface="Arial"/>
                        </a:rPr>
                        <a:t>4.  Open-source code available to reuse</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50" b="0" i="0">
                          <a:solidFill>
                            <a:srgbClr val="2B3A42"/>
                          </a:solidFill>
                          <a:latin typeface="Arial"/>
                        </a:rPr>
                        <a:t>Libraries, samples and licences we will record</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50" b="0" i="0">
                          <a:solidFill>
                            <a:srgbClr val="2B3A42"/>
                          </a:solidFill>
                          <a:latin typeface="Arial"/>
                        </a:rPr>
                        <a:t>Slide 7</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7FAFB"/>
                    </a:solidFill>
                  </a:tcPr>
                </a:tc>
              </a:tr>
              <a:tr h="640080">
                <a:tc>
                  <a:txBody>
                    <a:bodyPr wrap="square"/>
                    <a:lstStyle/>
                    <a:p>
                      <a:pPr algn="l">
                        <a:lnSpc>
                          <a:spcPct val="108000"/>
                        </a:lnSpc>
                        <a:spcBef>
                          <a:spcPts val="0"/>
                        </a:spcBef>
                        <a:spcAft>
                          <a:spcPts val="0"/>
                        </a:spcAft>
                      </a:pPr>
                      <a:r>
                        <a:rPr sz="1150" b="1" i="0">
                          <a:solidFill>
                            <a:srgbClr val="315E75"/>
                          </a:solidFill>
                          <a:latin typeface="Arial"/>
                        </a:rPr>
                        <a:t>5.  Proposed features and uniqueness</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50" b="0" i="0">
                          <a:solidFill>
                            <a:srgbClr val="2B3A42"/>
                          </a:solidFill>
                          <a:latin typeface="Arial"/>
                        </a:rPr>
                        <a:t>Analytics and the home-screen assistant as the core; forum and game as supporting tabs</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50" b="0" i="0">
                          <a:solidFill>
                            <a:srgbClr val="2B3A42"/>
                          </a:solidFill>
                          <a:latin typeface="Arial"/>
                        </a:rPr>
                        <a:t>Slides 8-13</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FFFFF"/>
                    </a:solidFill>
                  </a:tcPr>
                </a:tc>
              </a:tr>
              <a:tr h="640080">
                <a:tc>
                  <a:txBody>
                    <a:bodyPr wrap="square"/>
                    <a:lstStyle/>
                    <a:p>
                      <a:pPr algn="l">
                        <a:lnSpc>
                          <a:spcPct val="108000"/>
                        </a:lnSpc>
                        <a:spcBef>
                          <a:spcPts val="0"/>
                        </a:spcBef>
                        <a:spcAft>
                          <a:spcPts val="0"/>
                        </a:spcAft>
                      </a:pPr>
                      <a:r>
                        <a:rPr sz="1150" b="1" i="0">
                          <a:solidFill>
                            <a:srgbClr val="315E75"/>
                          </a:solidFill>
                          <a:latin typeface="Arial"/>
                        </a:rPr>
                        <a:t>6.  Approach and work plan to week 15</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50" b="0" i="0">
                          <a:solidFill>
                            <a:srgbClr val="2B3A42"/>
                          </a:solidFill>
                          <a:latin typeface="Arial"/>
                        </a:rPr>
                        <a:t>Alpha, Beta and Final checkpoints with acceptance tests</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50" b="0" i="0">
                          <a:solidFill>
                            <a:srgbClr val="2B3A42"/>
                          </a:solidFill>
                          <a:latin typeface="Arial"/>
                        </a:rPr>
                        <a:t>Slides 14-15</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7FAFB"/>
                    </a:solidFill>
                  </a:tcPr>
                </a:tc>
              </a:tr>
            </a:tbl>
          </a:graphicData>
        </a:graphic>
      </p:graphicFrame>
      <p:sp>
        <p:nvSpPr>
          <p:cNvPr id="9" name="TextBox 8"/>
          <p:cNvSpPr txBox="1"/>
          <p:nvPr/>
        </p:nvSpPr>
        <p:spPr>
          <a:xfrm>
            <a:off x="658368" y="5870448"/>
            <a:ext cx="10874959" cy="365760"/>
          </a:xfrm>
          <a:prstGeom prst="rect">
            <a:avLst/>
          </a:prstGeom>
          <a:noFill/>
        </p:spPr>
        <p:txBody>
          <a:bodyPr wrap="square" anchor="t" lIns="0" rIns="0" tIns="0" bIns="0">
            <a:spAutoFit/>
          </a:bodyPr>
          <a:lstStyle/>
          <a:p>
            <a:pPr algn="l">
              <a:lnSpc>
                <a:spcPct val="116000"/>
              </a:lnSpc>
              <a:spcBef>
                <a:spcPts val="0"/>
              </a:spcBef>
              <a:spcAft>
                <a:spcPts val="0"/>
              </a:spcAft>
            </a:pPr>
            <a:r>
              <a:rPr sz="1050" b="0" i="0">
                <a:solidFill>
                  <a:srgbClr val="7A8C94"/>
                </a:solidFill>
                <a:latin typeface="Arial"/>
              </a:rPr>
              <a:t>The written outline covers the same six points in the same order; this deck is the visual version of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58368" y="6309360"/>
            <a:ext cx="10874959" cy="12801"/>
          </a:xfrm>
          <a:prstGeom prst="rect">
            <a:avLst/>
          </a:prstGeom>
          <a:solidFill>
            <a:srgbClr val="BDD0D8"/>
          </a:solidFill>
          <a:ln>
            <a:noFill/>
          </a:ln>
          <a:effectLst/>
        </p:spPr>
        <p:txBody>
          <a:bodyPr rtlCol="0" anchor="ctr" wrap="square"/>
          <a:lstStyle/>
          <a:p>
            <a:pPr algn="ctr"/>
          </a:p>
        </p:txBody>
      </p:sp>
      <p:sp>
        <p:nvSpPr>
          <p:cNvPr id="3" name="TextBox 2"/>
          <p:cNvSpPr txBox="1"/>
          <p:nvPr/>
        </p:nvSpPr>
        <p:spPr>
          <a:xfrm>
            <a:off x="658368" y="6419088"/>
            <a:ext cx="7612471" cy="274320"/>
          </a:xfrm>
          <a:prstGeom prst="rect">
            <a:avLst/>
          </a:prstGeom>
          <a:noFill/>
        </p:spPr>
        <p:txBody>
          <a:bodyPr wrap="square" anchor="t" lIns="0" rIns="0" tIns="0" bIns="0">
            <a:spAutoFit/>
          </a:bodyPr>
          <a:lstStyle/>
          <a:p>
            <a:pPr algn="l">
              <a:lnSpc>
                <a:spcPct val="116000"/>
              </a:lnSpc>
              <a:spcBef>
                <a:spcPts val="0"/>
              </a:spcBef>
              <a:spcAft>
                <a:spcPts val="0"/>
              </a:spcAft>
            </a:pPr>
            <a:r>
              <a:rPr sz="900" b="0" i="0">
                <a:solidFill>
                  <a:srgbClr val="7A8C94"/>
                </a:solidFill>
                <a:latin typeface="Arial"/>
              </a:rPr>
              <a:t>TokenTrail · Group 20 · Android App Project Outline</a:t>
            </a:r>
          </a:p>
        </p:txBody>
      </p:sp>
      <p:sp>
        <p:nvSpPr>
          <p:cNvPr id="4" name="TextBox 3"/>
          <p:cNvSpPr txBox="1"/>
          <p:nvPr/>
        </p:nvSpPr>
        <p:spPr>
          <a:xfrm>
            <a:off x="10436047" y="6419088"/>
            <a:ext cx="1097280" cy="274320"/>
          </a:xfrm>
          <a:prstGeom prst="rect">
            <a:avLst/>
          </a:prstGeom>
          <a:noFill/>
        </p:spPr>
        <p:txBody>
          <a:bodyPr wrap="square" anchor="t" lIns="0" rIns="0" tIns="0" bIns="0">
            <a:spAutoFit/>
          </a:bodyPr>
          <a:lstStyle/>
          <a:p>
            <a:pPr algn="r">
              <a:lnSpc>
                <a:spcPct val="116000"/>
              </a:lnSpc>
              <a:spcBef>
                <a:spcPts val="0"/>
              </a:spcBef>
              <a:spcAft>
                <a:spcPts val="0"/>
              </a:spcAft>
            </a:pPr>
            <a:r>
              <a:rPr sz="900" b="0" i="0">
                <a:solidFill>
                  <a:srgbClr val="7A8C94"/>
                </a:solidFill>
                <a:latin typeface="Arial"/>
              </a:rPr>
              <a:t>3</a:t>
            </a:r>
          </a:p>
        </p:txBody>
      </p:sp>
      <p:sp>
        <p:nvSpPr>
          <p:cNvPr id="5" name="TextBox 4"/>
          <p:cNvSpPr txBox="1"/>
          <p:nvPr/>
        </p:nvSpPr>
        <p:spPr>
          <a:xfrm>
            <a:off x="658368" y="365760"/>
            <a:ext cx="10874959" cy="237744"/>
          </a:xfrm>
          <a:prstGeom prst="rect">
            <a:avLst/>
          </a:prstGeom>
          <a:noFill/>
        </p:spPr>
        <p:txBody>
          <a:bodyPr wrap="square" anchor="t" lIns="0" rIns="0" tIns="0" bIns="0">
            <a:spAutoFit/>
          </a:bodyPr>
          <a:lstStyle/>
          <a:p>
            <a:pPr algn="l">
              <a:lnSpc>
                <a:spcPct val="116000"/>
              </a:lnSpc>
              <a:spcBef>
                <a:spcPts val="0"/>
              </a:spcBef>
              <a:spcAft>
                <a:spcPts val="0"/>
              </a:spcAft>
            </a:pPr>
            <a:r>
              <a:rPr sz="1000" b="0" i="0">
                <a:solidFill>
                  <a:srgbClr val="A17431"/>
                </a:solidFill>
                <a:latin typeface="Arial"/>
              </a:rPr>
              <a:t>1 · APP IDEA</a:t>
            </a:r>
          </a:p>
        </p:txBody>
      </p:sp>
      <p:sp>
        <p:nvSpPr>
          <p:cNvPr id="6" name="TextBox 5"/>
          <p:cNvSpPr txBox="1"/>
          <p:nvPr/>
        </p:nvSpPr>
        <p:spPr>
          <a:xfrm>
            <a:off x="658368" y="603504"/>
            <a:ext cx="10874959" cy="502920"/>
          </a:xfrm>
          <a:prstGeom prst="rect">
            <a:avLst/>
          </a:prstGeom>
          <a:noFill/>
        </p:spPr>
        <p:txBody>
          <a:bodyPr wrap="square" anchor="t" lIns="0" rIns="0" tIns="0" bIns="0">
            <a:spAutoFit/>
          </a:bodyPr>
          <a:lstStyle/>
          <a:p>
            <a:pPr algn="l">
              <a:lnSpc>
                <a:spcPct val="116000"/>
              </a:lnSpc>
              <a:spcBef>
                <a:spcPts val="0"/>
              </a:spcBef>
              <a:spcAft>
                <a:spcPts val="0"/>
              </a:spcAft>
            </a:pPr>
            <a:r>
              <a:rPr sz="2600" b="0" i="0">
                <a:solidFill>
                  <a:srgbClr val="315E75"/>
                </a:solidFill>
                <a:latin typeface="Arial"/>
              </a:rPr>
              <a:t>An API-cost analytics app that makes agent spend visible</a:t>
            </a:r>
          </a:p>
        </p:txBody>
      </p:sp>
      <p:sp>
        <p:nvSpPr>
          <p:cNvPr id="7" name="Rectangle 6"/>
          <p:cNvSpPr/>
          <p:nvPr/>
        </p:nvSpPr>
        <p:spPr>
          <a:xfrm>
            <a:off x="658368" y="1225296"/>
            <a:ext cx="10874959" cy="22860"/>
          </a:xfrm>
          <a:prstGeom prst="rect">
            <a:avLst/>
          </a:prstGeom>
          <a:solidFill>
            <a:srgbClr val="315E75"/>
          </a:solidFill>
          <a:ln>
            <a:noFill/>
          </a:ln>
          <a:effectLst/>
        </p:spPr>
        <p:txBody>
          <a:bodyPr rtlCol="0" anchor="ctr" wrap="square"/>
          <a:lstStyle/>
          <a:p>
            <a:pPr algn="ctr"/>
          </a:p>
        </p:txBody>
      </p:sp>
      <p:sp>
        <p:nvSpPr>
          <p:cNvPr id="8" name="TextBox 7"/>
          <p:cNvSpPr txBox="1"/>
          <p:nvPr/>
        </p:nvSpPr>
        <p:spPr>
          <a:xfrm>
            <a:off x="658368" y="1481328"/>
            <a:ext cx="10874959" cy="685800"/>
          </a:xfrm>
          <a:prstGeom prst="rect">
            <a:avLst/>
          </a:prstGeom>
          <a:noFill/>
        </p:spPr>
        <p:txBody>
          <a:bodyPr wrap="square" anchor="t" lIns="0" rIns="0" tIns="0" bIns="0">
            <a:spAutoFit/>
          </a:bodyPr>
          <a:lstStyle/>
          <a:p>
            <a:pPr algn="l">
              <a:lnSpc>
                <a:spcPct val="120000"/>
              </a:lnSpc>
              <a:spcBef>
                <a:spcPts val="0"/>
              </a:spcBef>
              <a:spcAft>
                <a:spcPts val="0"/>
              </a:spcAft>
            </a:pPr>
            <a:r>
              <a:rPr sz="1400" b="0" i="0">
                <a:solidFill>
                  <a:srgbClr val="2B3A42"/>
                </a:solidFill>
                <a:latin typeface="Arial"/>
              </a:rPr>
              <a:t>TokenTrail is an Android API-cost app for people who use several coding agents: Codex with OpenAI, ZCode with Xiaomi MiMo and DSH with DeepSeek. Its analytics home screen prices the pay-as-you-go calls those agents already logged, and an assistant on the same screen answers cost questions with evidence.</a:t>
            </a:r>
          </a:p>
        </p:txBody>
      </p:sp>
      <p:sp>
        <p:nvSpPr>
          <p:cNvPr id="9" name="Rounded Rectangle 8"/>
          <p:cNvSpPr/>
          <p:nvPr/>
        </p:nvSpPr>
        <p:spPr>
          <a:xfrm>
            <a:off x="658368" y="2249424"/>
            <a:ext cx="3466490" cy="1755648"/>
          </a:xfrm>
          <a:prstGeom prst="roundRect">
            <a:avLst>
              <a:gd name="adj" fmla="val 6000"/>
            </a:avLst>
          </a:prstGeom>
          <a:solidFill>
            <a:srgbClr val="EDF6F2"/>
          </a:solidFill>
          <a:ln w="9525">
            <a:solidFill>
              <a:srgbClr val="BDD0D8"/>
            </a:solidFill>
          </a:ln>
          <a:effectLst/>
        </p:spPr>
        <p:txBody>
          <a:bodyPr rtlCol="0" anchor="t" wrap="square" lIns="155448" rIns="155448" tIns="124358" bIns="124358"/>
          <a:lstStyle/>
          <a:p>
            <a:pPr algn="l">
              <a:lnSpc>
                <a:spcPct val="116000"/>
              </a:lnSpc>
              <a:spcBef>
                <a:spcPts val="0"/>
              </a:spcBef>
              <a:spcAft>
                <a:spcPts val="300"/>
              </a:spcAft>
            </a:pPr>
            <a:r>
              <a:rPr sz="1300" b="1" i="0">
                <a:solidFill>
                  <a:srgbClr val="2E766E"/>
                </a:solidFill>
                <a:latin typeface="Arial"/>
              </a:rPr>
              <a:t>API-cost analytics (home)</a:t>
            </a:r>
          </a:p>
          <a:p>
            <a:pPr algn="l">
              <a:lnSpc>
                <a:spcPct val="114000"/>
              </a:lnSpc>
              <a:spcBef>
                <a:spcPts val="0"/>
              </a:spcBef>
              <a:spcAft>
                <a:spcPts val="0"/>
              </a:spcAft>
            </a:pPr>
            <a:r>
              <a:rPr sz="1100" b="0" i="0">
                <a:solidFill>
                  <a:srgbClr val="2B3A42"/>
                </a:solidFill>
                <a:latin typeface="Arial"/>
              </a:rPr>
              <a:t>Prices logged pay-as-you-go calls from Codex, ZCode and DSH at dated official rates, with source, coverage and session detail wherever the logs support it.</a:t>
            </a:r>
          </a:p>
        </p:txBody>
      </p:sp>
      <p:sp>
        <p:nvSpPr>
          <p:cNvPr id="10" name="Rounded Rectangle 9"/>
          <p:cNvSpPr/>
          <p:nvPr/>
        </p:nvSpPr>
        <p:spPr>
          <a:xfrm>
            <a:off x="4362602" y="2249424"/>
            <a:ext cx="3466490" cy="1755648"/>
          </a:xfrm>
          <a:prstGeom prst="roundRect">
            <a:avLst>
              <a:gd name="adj" fmla="val 6000"/>
            </a:avLst>
          </a:prstGeom>
          <a:solidFill>
            <a:srgbClr val="EAF3F7"/>
          </a:solidFill>
          <a:ln w="9525">
            <a:solidFill>
              <a:srgbClr val="BDD0D8"/>
            </a:solidFill>
          </a:ln>
          <a:effectLst/>
        </p:spPr>
        <p:txBody>
          <a:bodyPr rtlCol="0" anchor="t" wrap="square" lIns="155448" rIns="155448" tIns="124358" bIns="124358"/>
          <a:lstStyle/>
          <a:p>
            <a:pPr algn="l">
              <a:lnSpc>
                <a:spcPct val="116000"/>
              </a:lnSpc>
              <a:spcBef>
                <a:spcPts val="0"/>
              </a:spcBef>
              <a:spcAft>
                <a:spcPts val="300"/>
              </a:spcAft>
            </a:pPr>
            <a:r>
              <a:rPr sz="1300" b="1" i="0">
                <a:solidFill>
                  <a:srgbClr val="315E75"/>
                </a:solidFill>
                <a:latin typeface="Arial"/>
              </a:rPr>
              <a:t>Home-screen AI assistant</a:t>
            </a:r>
          </a:p>
          <a:p>
            <a:pPr algn="l">
              <a:lnSpc>
                <a:spcPct val="114000"/>
              </a:lnSpc>
              <a:spcBef>
                <a:spcPts val="0"/>
              </a:spcBef>
              <a:spcAft>
                <a:spcPts val="0"/>
              </a:spcAft>
            </a:pPr>
            <a:r>
              <a:rPr sz="1100" b="0" i="0">
                <a:solidFill>
                  <a:srgbClr val="2B3A42"/>
                </a:solidFill>
                <a:latin typeface="Arial"/>
              </a:rPr>
              <a:t>An "Ask AI / hold to talk" entry above the navigation. Type, or dictate and confirm the transcript; replies cite evidence and admit missing data. Its own API cost is kept separate.</a:t>
            </a:r>
          </a:p>
        </p:txBody>
      </p:sp>
      <p:sp>
        <p:nvSpPr>
          <p:cNvPr id="11" name="Rounded Rectangle 10"/>
          <p:cNvSpPr/>
          <p:nvPr/>
        </p:nvSpPr>
        <p:spPr>
          <a:xfrm>
            <a:off x="8066836" y="2249424"/>
            <a:ext cx="3466490" cy="1755648"/>
          </a:xfrm>
          <a:prstGeom prst="roundRect">
            <a:avLst>
              <a:gd name="adj" fmla="val 6000"/>
            </a:avLst>
          </a:prstGeom>
          <a:solidFill>
            <a:srgbClr val="FAF3E5"/>
          </a:solidFill>
          <a:ln w="9525">
            <a:solidFill>
              <a:srgbClr val="BDD0D8"/>
            </a:solidFill>
          </a:ln>
          <a:effectLst/>
        </p:spPr>
        <p:txBody>
          <a:bodyPr rtlCol="0" anchor="t" wrap="square" lIns="155448" rIns="155448" tIns="124358" bIns="124358"/>
          <a:lstStyle/>
          <a:p>
            <a:pPr algn="l">
              <a:lnSpc>
                <a:spcPct val="116000"/>
              </a:lnSpc>
              <a:spcBef>
                <a:spcPts val="0"/>
              </a:spcBef>
              <a:spcAft>
                <a:spcPts val="300"/>
              </a:spcAft>
            </a:pPr>
            <a:r>
              <a:rPr sz="1300" b="1" i="0">
                <a:solidFill>
                  <a:srgbClr val="A17431"/>
                </a:solidFill>
                <a:latin typeface="Arial"/>
              </a:rPr>
              <a:t>Supporting tabs</a:t>
            </a:r>
          </a:p>
          <a:p>
            <a:pPr algn="l">
              <a:lnSpc>
                <a:spcPct val="114000"/>
              </a:lnSpc>
              <a:spcBef>
                <a:spcPts val="0"/>
              </a:spcBef>
              <a:spcAft>
                <a:spcPts val="0"/>
              </a:spcAft>
            </a:pPr>
            <a:r>
              <a:rPr sz="1100" b="0" i="0">
                <a:solidFill>
                  <a:srgbClr val="2B3A42"/>
                </a:solidFill>
                <a:latin typeface="Arial"/>
              </a:rPr>
              <a:t>Forum: official model news plus user posts and tips. Game: a monthly tower-defence season built from tokens already logged. Both are extensions, not the main experience.</a:t>
            </a:r>
          </a:p>
        </p:txBody>
      </p:sp>
      <p:sp>
        <p:nvSpPr>
          <p:cNvPr id="12" name="Rounded Rectangle 11"/>
          <p:cNvSpPr/>
          <p:nvPr/>
        </p:nvSpPr>
        <p:spPr>
          <a:xfrm>
            <a:off x="658368" y="4187952"/>
            <a:ext cx="10874959" cy="914400"/>
          </a:xfrm>
          <a:prstGeom prst="roundRect">
            <a:avLst>
              <a:gd name="adj" fmla="val 6000"/>
            </a:avLst>
          </a:prstGeom>
          <a:solidFill>
            <a:srgbClr val="315E75"/>
          </a:solidFill>
          <a:ln>
            <a:noFill/>
          </a:ln>
          <a:effectLst/>
        </p:spPr>
        <p:txBody>
          <a:bodyPr rtlCol="0" anchor="ctr" wrap="square" lIns="201168" rIns="201168"/>
          <a:lstStyle/>
          <a:p>
            <a:pPr algn="l">
              <a:lnSpc>
                <a:spcPct val="115000"/>
              </a:lnSpc>
              <a:spcBef>
                <a:spcPts val="0"/>
              </a:spcBef>
              <a:spcAft>
                <a:spcPts val="0"/>
              </a:spcAft>
            </a:pPr>
            <a:r>
              <a:rPr sz="1300" b="1" i="0">
                <a:solidFill>
                  <a:srgbClr val="FFFFFF"/>
                </a:solidFill>
                <a:latin typeface="Arial"/>
              </a:rPr>
              <a:t>Scope rule.  </a:t>
            </a:r>
            <a:r>
              <a:rPr sz="1300" b="0" i="0">
                <a:solidFill>
                  <a:srgbClr val="D6E4EB"/>
                </a:solidFill>
                <a:latin typeface="Arial"/>
              </a:rPr>
              <a:t>API-cost analytics and the home-screen assistant are core; forum and game are supporting extensions. Token Plan and other subscriptions are excluded, and TokenTrail never runs or controls a coding agent.</a:t>
            </a:r>
          </a:p>
        </p:txBody>
      </p:sp>
      <p:sp>
        <p:nvSpPr>
          <p:cNvPr id="13" name="Rounded Rectangle 12"/>
          <p:cNvSpPr/>
          <p:nvPr/>
        </p:nvSpPr>
        <p:spPr>
          <a:xfrm>
            <a:off x="658368" y="5285232"/>
            <a:ext cx="10874959" cy="841248"/>
          </a:xfrm>
          <a:prstGeom prst="roundRect">
            <a:avLst>
              <a:gd name="adj" fmla="val 6000"/>
            </a:avLst>
          </a:prstGeom>
          <a:solidFill>
            <a:srgbClr val="F7FAFB"/>
          </a:solidFill>
          <a:ln w="9525">
            <a:solidFill>
              <a:srgbClr val="BDD0D8"/>
            </a:solidFill>
          </a:ln>
          <a:effectLst/>
        </p:spPr>
        <p:txBody>
          <a:bodyPr rtlCol="0" anchor="t" wrap="square" lIns="155448" rIns="155448" tIns="124358" bIns="124358"/>
          <a:lstStyle/>
          <a:p>
            <a:pPr algn="l">
              <a:lnSpc>
                <a:spcPct val="116000"/>
              </a:lnSpc>
              <a:spcBef>
                <a:spcPts val="0"/>
              </a:spcBef>
              <a:spcAft>
                <a:spcPts val="300"/>
              </a:spcAft>
            </a:pPr>
            <a:r>
              <a:rPr sz="1200" b="1" i="0">
                <a:solidFill>
                  <a:srgbClr val="315E75"/>
                </a:solidFill>
                <a:latin typeface="Arial"/>
              </a:rPr>
              <a:t>Estimated, never invoiced</a:t>
            </a:r>
          </a:p>
          <a:p>
            <a:pPr algn="l">
              <a:lnSpc>
                <a:spcPct val="114000"/>
              </a:lnSpc>
              <a:spcBef>
                <a:spcPts val="0"/>
              </a:spcBef>
              <a:spcAft>
                <a:spcPts val="0"/>
              </a:spcAft>
            </a:pPr>
            <a:r>
              <a:rPr sz="1100" b="0" i="0">
                <a:solidFill>
                  <a:srgbClr val="2B3A42"/>
                </a:solidFill>
                <a:latin typeface="Arial"/>
              </a:rPr>
              <a:t>An API key alone cannot recover an agent's history, so a call is priced only when a saved rate snapshot covers its date. Missing logs or rates stay visible, and every monetary value is an estimate.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58368" y="6309360"/>
            <a:ext cx="10874959" cy="12801"/>
          </a:xfrm>
          <a:prstGeom prst="rect">
            <a:avLst/>
          </a:prstGeom>
          <a:solidFill>
            <a:srgbClr val="BDD0D8"/>
          </a:solidFill>
          <a:ln>
            <a:noFill/>
          </a:ln>
          <a:effectLst/>
        </p:spPr>
        <p:txBody>
          <a:bodyPr rtlCol="0" anchor="ctr" wrap="square"/>
          <a:lstStyle/>
          <a:p>
            <a:pPr algn="ctr"/>
          </a:p>
        </p:txBody>
      </p:sp>
      <p:sp>
        <p:nvSpPr>
          <p:cNvPr id="3" name="TextBox 2"/>
          <p:cNvSpPr txBox="1"/>
          <p:nvPr/>
        </p:nvSpPr>
        <p:spPr>
          <a:xfrm>
            <a:off x="658368" y="6419088"/>
            <a:ext cx="7612471" cy="274320"/>
          </a:xfrm>
          <a:prstGeom prst="rect">
            <a:avLst/>
          </a:prstGeom>
          <a:noFill/>
        </p:spPr>
        <p:txBody>
          <a:bodyPr wrap="square" anchor="t" lIns="0" rIns="0" tIns="0" bIns="0">
            <a:spAutoFit/>
          </a:bodyPr>
          <a:lstStyle/>
          <a:p>
            <a:pPr algn="l">
              <a:lnSpc>
                <a:spcPct val="116000"/>
              </a:lnSpc>
              <a:spcBef>
                <a:spcPts val="0"/>
              </a:spcBef>
              <a:spcAft>
                <a:spcPts val="0"/>
              </a:spcAft>
            </a:pPr>
            <a:r>
              <a:rPr sz="900" b="0" i="0">
                <a:solidFill>
                  <a:srgbClr val="7A8C94"/>
                </a:solidFill>
                <a:latin typeface="Arial"/>
              </a:rPr>
              <a:t>TokenTrail · Group 20 · Android App Project Outline</a:t>
            </a:r>
          </a:p>
        </p:txBody>
      </p:sp>
      <p:sp>
        <p:nvSpPr>
          <p:cNvPr id="4" name="TextBox 3"/>
          <p:cNvSpPr txBox="1"/>
          <p:nvPr/>
        </p:nvSpPr>
        <p:spPr>
          <a:xfrm>
            <a:off x="10436047" y="6419088"/>
            <a:ext cx="1097280" cy="274320"/>
          </a:xfrm>
          <a:prstGeom prst="rect">
            <a:avLst/>
          </a:prstGeom>
          <a:noFill/>
        </p:spPr>
        <p:txBody>
          <a:bodyPr wrap="square" anchor="t" lIns="0" rIns="0" tIns="0" bIns="0">
            <a:spAutoFit/>
          </a:bodyPr>
          <a:lstStyle/>
          <a:p>
            <a:pPr algn="r">
              <a:lnSpc>
                <a:spcPct val="116000"/>
              </a:lnSpc>
              <a:spcBef>
                <a:spcPts val="0"/>
              </a:spcBef>
              <a:spcAft>
                <a:spcPts val="0"/>
              </a:spcAft>
            </a:pPr>
            <a:r>
              <a:rPr sz="900" b="0" i="0">
                <a:solidFill>
                  <a:srgbClr val="7A8C94"/>
                </a:solidFill>
                <a:latin typeface="Arial"/>
              </a:rPr>
              <a:t>4</a:t>
            </a:r>
          </a:p>
        </p:txBody>
      </p:sp>
      <p:sp>
        <p:nvSpPr>
          <p:cNvPr id="5" name="TextBox 4"/>
          <p:cNvSpPr txBox="1"/>
          <p:nvPr/>
        </p:nvSpPr>
        <p:spPr>
          <a:xfrm>
            <a:off x="658368" y="365760"/>
            <a:ext cx="10874959" cy="237744"/>
          </a:xfrm>
          <a:prstGeom prst="rect">
            <a:avLst/>
          </a:prstGeom>
          <a:noFill/>
        </p:spPr>
        <p:txBody>
          <a:bodyPr wrap="square" anchor="t" lIns="0" rIns="0" tIns="0" bIns="0">
            <a:spAutoFit/>
          </a:bodyPr>
          <a:lstStyle/>
          <a:p>
            <a:pPr algn="l">
              <a:lnSpc>
                <a:spcPct val="116000"/>
              </a:lnSpc>
              <a:spcBef>
                <a:spcPts val="0"/>
              </a:spcBef>
              <a:spcAft>
                <a:spcPts val="0"/>
              </a:spcAft>
            </a:pPr>
            <a:r>
              <a:rPr sz="1000" b="0" i="0">
                <a:solidFill>
                  <a:srgbClr val="A17431"/>
                </a:solidFill>
                <a:latin typeface="Arial"/>
              </a:rPr>
              <a:t>1 · APP IDEA</a:t>
            </a:r>
          </a:p>
        </p:txBody>
      </p:sp>
      <p:sp>
        <p:nvSpPr>
          <p:cNvPr id="6" name="TextBox 5"/>
          <p:cNvSpPr txBox="1"/>
          <p:nvPr/>
        </p:nvSpPr>
        <p:spPr>
          <a:xfrm>
            <a:off x="658368" y="603504"/>
            <a:ext cx="10874959" cy="502920"/>
          </a:xfrm>
          <a:prstGeom prst="rect">
            <a:avLst/>
          </a:prstGeom>
          <a:noFill/>
        </p:spPr>
        <p:txBody>
          <a:bodyPr wrap="square" anchor="t" lIns="0" rIns="0" tIns="0" bIns="0">
            <a:spAutoFit/>
          </a:bodyPr>
          <a:lstStyle/>
          <a:p>
            <a:pPr algn="l">
              <a:lnSpc>
                <a:spcPct val="116000"/>
              </a:lnSpc>
              <a:spcBef>
                <a:spcPts val="0"/>
              </a:spcBef>
              <a:spcAft>
                <a:spcPts val="0"/>
              </a:spcAft>
            </a:pPr>
            <a:r>
              <a:rPr sz="2600" b="0" i="0">
                <a:solidFill>
                  <a:srgbClr val="315E75"/>
                </a:solidFill>
                <a:latin typeface="Arial"/>
              </a:rPr>
              <a:t>Why this is worth building</a:t>
            </a:r>
          </a:p>
        </p:txBody>
      </p:sp>
      <p:sp>
        <p:nvSpPr>
          <p:cNvPr id="7" name="Rectangle 6"/>
          <p:cNvSpPr/>
          <p:nvPr/>
        </p:nvSpPr>
        <p:spPr>
          <a:xfrm>
            <a:off x="658368" y="1225296"/>
            <a:ext cx="10874959" cy="22860"/>
          </a:xfrm>
          <a:prstGeom prst="rect">
            <a:avLst/>
          </a:prstGeom>
          <a:solidFill>
            <a:srgbClr val="315E75"/>
          </a:solidFill>
          <a:ln>
            <a:noFill/>
          </a:ln>
          <a:effectLst/>
        </p:spPr>
        <p:txBody>
          <a:bodyPr rtlCol="0" anchor="ctr" wrap="square"/>
          <a:lstStyle/>
          <a:p>
            <a:pPr algn="ctr"/>
          </a:p>
        </p:txBody>
      </p:sp>
      <p:sp>
        <p:nvSpPr>
          <p:cNvPr id="8" name="Rounded Rectangle 7"/>
          <p:cNvSpPr/>
          <p:nvPr/>
        </p:nvSpPr>
        <p:spPr>
          <a:xfrm>
            <a:off x="658368" y="1536192"/>
            <a:ext cx="5300319" cy="1645920"/>
          </a:xfrm>
          <a:prstGeom prst="roundRect">
            <a:avLst>
              <a:gd name="adj" fmla="val 6000"/>
            </a:avLst>
          </a:prstGeom>
          <a:solidFill>
            <a:srgbClr val="F7FAFB"/>
          </a:solidFill>
          <a:ln w="9525">
            <a:solidFill>
              <a:srgbClr val="BDD0D8"/>
            </a:solidFill>
          </a:ln>
          <a:effectLst/>
        </p:spPr>
        <p:txBody>
          <a:bodyPr rtlCol="0" anchor="t" wrap="square" lIns="155448" rIns="155448" tIns="124358" bIns="124358"/>
          <a:lstStyle/>
          <a:p>
            <a:pPr algn="l">
              <a:lnSpc>
                <a:spcPct val="116000"/>
              </a:lnSpc>
              <a:spcBef>
                <a:spcPts val="0"/>
              </a:spcBef>
              <a:spcAft>
                <a:spcPts val="300"/>
              </a:spcAft>
            </a:pPr>
            <a:r>
              <a:rPr sz="1350" b="1" i="0">
                <a:solidFill>
                  <a:srgbClr val="315E75"/>
                </a:solidFill>
                <a:latin typeface="Arial"/>
              </a:rPr>
              <a:t>Each console sees one account</a:t>
            </a:r>
          </a:p>
          <a:p>
            <a:pPr algn="l">
              <a:lnSpc>
                <a:spcPct val="114000"/>
              </a:lnSpc>
              <a:spcBef>
                <a:spcPts val="0"/>
              </a:spcBef>
              <a:spcAft>
                <a:spcPts val="0"/>
              </a:spcAft>
            </a:pPr>
            <a:r>
              <a:rPr sz="1150" b="0" i="0">
                <a:solidFill>
                  <a:srgbClr val="2B3A42"/>
                </a:solidFill>
                <a:latin typeface="Arial"/>
              </a:rPr>
              <a:t>Codex, ZCode and DSH bill separately, in their own units, with no cross-provider total and no common price version. A user running three agents has three bills and no single monthly figure.</a:t>
            </a:r>
          </a:p>
        </p:txBody>
      </p:sp>
      <p:sp>
        <p:nvSpPr>
          <p:cNvPr id="9" name="Rounded Rectangle 8"/>
          <p:cNvSpPr/>
          <p:nvPr/>
        </p:nvSpPr>
        <p:spPr>
          <a:xfrm>
            <a:off x="6233007" y="1536192"/>
            <a:ext cx="5300319" cy="1645920"/>
          </a:xfrm>
          <a:prstGeom prst="roundRect">
            <a:avLst>
              <a:gd name="adj" fmla="val 6000"/>
            </a:avLst>
          </a:prstGeom>
          <a:solidFill>
            <a:srgbClr val="F7FAFB"/>
          </a:solidFill>
          <a:ln w="9525">
            <a:solidFill>
              <a:srgbClr val="BDD0D8"/>
            </a:solidFill>
          </a:ln>
          <a:effectLst/>
        </p:spPr>
        <p:txBody>
          <a:bodyPr rtlCol="0" anchor="t" wrap="square" lIns="155448" rIns="155448" tIns="124358" bIns="124358"/>
          <a:lstStyle/>
          <a:p>
            <a:pPr algn="l">
              <a:lnSpc>
                <a:spcPct val="116000"/>
              </a:lnSpc>
              <a:spcBef>
                <a:spcPts val="0"/>
              </a:spcBef>
              <a:spcAft>
                <a:spcPts val="300"/>
              </a:spcAft>
            </a:pPr>
            <a:r>
              <a:rPr sz="1350" b="1" i="0">
                <a:solidFill>
                  <a:srgbClr val="315E75"/>
                </a:solidFill>
                <a:latin typeface="Arial"/>
              </a:rPr>
              <a:t>Tokens are not money</a:t>
            </a:r>
          </a:p>
          <a:p>
            <a:pPr algn="l">
              <a:lnSpc>
                <a:spcPct val="114000"/>
              </a:lnSpc>
              <a:spcBef>
                <a:spcPts val="0"/>
              </a:spcBef>
              <a:spcAft>
                <a:spcPts val="0"/>
              </a:spcAft>
            </a:pPr>
            <a:r>
              <a:rPr sz="1150" b="0" i="0">
                <a:solidFill>
                  <a:srgbClr val="2B3A42"/>
                </a:solidFill>
                <a:latin typeface="Arial"/>
              </a:rPr>
              <a:t>A response reports tokens for one call, not the agent's whole history. A call can only be priced when a saved rate snapshot covers its date, so some calls stay Unavailable rather than being guessed at.</a:t>
            </a:r>
          </a:p>
        </p:txBody>
      </p:sp>
      <p:sp>
        <p:nvSpPr>
          <p:cNvPr id="10" name="Rounded Rectangle 9"/>
          <p:cNvSpPr/>
          <p:nvPr/>
        </p:nvSpPr>
        <p:spPr>
          <a:xfrm>
            <a:off x="658368" y="3383280"/>
            <a:ext cx="5300319" cy="1645920"/>
          </a:xfrm>
          <a:prstGeom prst="roundRect">
            <a:avLst>
              <a:gd name="adj" fmla="val 6000"/>
            </a:avLst>
          </a:prstGeom>
          <a:solidFill>
            <a:srgbClr val="F7FAFB"/>
          </a:solidFill>
          <a:ln w="9525">
            <a:solidFill>
              <a:srgbClr val="BDD0D8"/>
            </a:solidFill>
          </a:ln>
          <a:effectLst/>
        </p:spPr>
        <p:txBody>
          <a:bodyPr rtlCol="0" anchor="t" wrap="square" lIns="155448" rIns="155448" tIns="124358" bIns="124358"/>
          <a:lstStyle/>
          <a:p>
            <a:pPr algn="l">
              <a:lnSpc>
                <a:spcPct val="116000"/>
              </a:lnSpc>
              <a:spcBef>
                <a:spcPts val="0"/>
              </a:spcBef>
              <a:spcAft>
                <a:spcPts val="300"/>
              </a:spcAft>
            </a:pPr>
            <a:r>
              <a:rPr sz="1350" b="1" i="0">
                <a:solidFill>
                  <a:srgbClr val="315E75"/>
                </a:solidFill>
                <a:latin typeface="Arial"/>
              </a:rPr>
              <a:t>Rating your own work is bad input</a:t>
            </a:r>
          </a:p>
          <a:p>
            <a:pPr algn="l">
              <a:lnSpc>
                <a:spcPct val="114000"/>
              </a:lnSpc>
              <a:spcBef>
                <a:spcPts val="0"/>
              </a:spcBef>
              <a:spcAft>
                <a:spcPts val="0"/>
              </a:spcAft>
            </a:pPr>
            <a:r>
              <a:rPr sz="1150" b="0" i="0">
                <a:solidFill>
                  <a:srgbClr val="2B3A42"/>
                </a:solidFill>
                <a:latin typeface="Arial"/>
              </a:rPr>
              <a:t>Asking users to score a task costs them extra effort and produces opinions, not measurements. It also makes the numbers depend on mood instead of on the data.</a:t>
            </a:r>
          </a:p>
        </p:txBody>
      </p:sp>
      <p:sp>
        <p:nvSpPr>
          <p:cNvPr id="11" name="Rounded Rectangle 10"/>
          <p:cNvSpPr/>
          <p:nvPr/>
        </p:nvSpPr>
        <p:spPr>
          <a:xfrm>
            <a:off x="6233007" y="3383280"/>
            <a:ext cx="5300319" cy="1645920"/>
          </a:xfrm>
          <a:prstGeom prst="roundRect">
            <a:avLst>
              <a:gd name="adj" fmla="val 6000"/>
            </a:avLst>
          </a:prstGeom>
          <a:solidFill>
            <a:srgbClr val="F7FAFB"/>
          </a:solidFill>
          <a:ln w="9525">
            <a:solidFill>
              <a:srgbClr val="BDD0D8"/>
            </a:solidFill>
          </a:ln>
          <a:effectLst/>
        </p:spPr>
        <p:txBody>
          <a:bodyPr rtlCol="0" anchor="t" wrap="square" lIns="155448" rIns="155448" tIns="124358" bIns="124358"/>
          <a:lstStyle/>
          <a:p>
            <a:pPr algn="l">
              <a:lnSpc>
                <a:spcPct val="116000"/>
              </a:lnSpc>
              <a:spcBef>
                <a:spcPts val="0"/>
              </a:spcBef>
              <a:spcAft>
                <a:spcPts val="300"/>
              </a:spcAft>
            </a:pPr>
            <a:r>
              <a:rPr sz="1350" b="1" i="0">
                <a:solidFill>
                  <a:srgbClr val="315E75"/>
                </a:solidFill>
                <a:latin typeface="Arial"/>
              </a:rPr>
              <a:t>Spend leaves no trace</a:t>
            </a:r>
          </a:p>
          <a:p>
            <a:pPr algn="l">
              <a:lnSpc>
                <a:spcPct val="114000"/>
              </a:lnSpc>
              <a:spcBef>
                <a:spcPts val="0"/>
              </a:spcBef>
              <a:spcAft>
                <a:spcPts val="0"/>
              </a:spcAft>
            </a:pPr>
            <a:r>
              <a:rPr sz="1150" b="0" i="0">
                <a:solidFill>
                  <a:srgbClr val="2B3A42"/>
                </a:solidFill>
                <a:latin typeface="Arial"/>
              </a:rPr>
              <a:t>A day of agent work leaves nothing visible behind, so usage never turns into progress the user can see and nothing brings them back to the tools.</a:t>
            </a:r>
          </a:p>
        </p:txBody>
      </p:sp>
      <p:sp>
        <p:nvSpPr>
          <p:cNvPr id="12" name="Rounded Rectangle 11"/>
          <p:cNvSpPr/>
          <p:nvPr/>
        </p:nvSpPr>
        <p:spPr>
          <a:xfrm>
            <a:off x="658368" y="5230368"/>
            <a:ext cx="10874959" cy="950976"/>
          </a:xfrm>
          <a:prstGeom prst="roundRect">
            <a:avLst>
              <a:gd name="adj" fmla="val 6000"/>
            </a:avLst>
          </a:prstGeom>
          <a:solidFill>
            <a:srgbClr val="EAF3F7"/>
          </a:solidFill>
          <a:ln w="9525">
            <a:solidFill>
              <a:srgbClr val="BDD0D8"/>
            </a:solidFill>
          </a:ln>
          <a:effectLst/>
        </p:spPr>
        <p:txBody>
          <a:bodyPr rtlCol="0" anchor="t" wrap="square" lIns="155448" rIns="155448" tIns="124358" bIns="124358"/>
          <a:lstStyle/>
          <a:p>
            <a:pPr algn="l">
              <a:lnSpc>
                <a:spcPct val="116000"/>
              </a:lnSpc>
              <a:spcBef>
                <a:spcPts val="0"/>
              </a:spcBef>
              <a:spcAft>
                <a:spcPts val="300"/>
              </a:spcAft>
            </a:pPr>
            <a:r>
              <a:rPr sz="1250" b="1" i="0">
                <a:solidFill>
                  <a:srgbClr val="315E75"/>
                </a:solidFill>
                <a:latin typeface="Arial"/>
              </a:rPr>
              <a:t>What TokenTrail does instead</a:t>
            </a:r>
          </a:p>
          <a:p>
            <a:pPr algn="l">
              <a:lnSpc>
                <a:spcPct val="114000"/>
              </a:lnSpc>
              <a:spcBef>
                <a:spcPts val="0"/>
              </a:spcBef>
              <a:spcAft>
                <a:spcPts val="0"/>
              </a:spcAft>
            </a:pPr>
            <a:r>
              <a:rPr sz="1150" b="0" i="0">
                <a:solidFill>
                  <a:srgbClr val="2B3A42"/>
                </a:solidFill>
                <a:latin typeface="Arial"/>
              </a:rPr>
              <a:t>It computes only what the data supports — logged token counts, dated official rates, cache behaviour and duration — and labels every figure Estimated, Partial estimate or Unavailable. It never asks the user to judge how good an answer was.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58368" y="6309360"/>
            <a:ext cx="10874959" cy="12801"/>
          </a:xfrm>
          <a:prstGeom prst="rect">
            <a:avLst/>
          </a:prstGeom>
          <a:solidFill>
            <a:srgbClr val="BDD0D8"/>
          </a:solidFill>
          <a:ln>
            <a:noFill/>
          </a:ln>
          <a:effectLst/>
        </p:spPr>
        <p:txBody>
          <a:bodyPr rtlCol="0" anchor="ctr" wrap="square"/>
          <a:lstStyle/>
          <a:p>
            <a:pPr algn="ctr"/>
          </a:p>
        </p:txBody>
      </p:sp>
      <p:sp>
        <p:nvSpPr>
          <p:cNvPr id="3" name="TextBox 2"/>
          <p:cNvSpPr txBox="1"/>
          <p:nvPr/>
        </p:nvSpPr>
        <p:spPr>
          <a:xfrm>
            <a:off x="658368" y="6419088"/>
            <a:ext cx="7612471" cy="274320"/>
          </a:xfrm>
          <a:prstGeom prst="rect">
            <a:avLst/>
          </a:prstGeom>
          <a:noFill/>
        </p:spPr>
        <p:txBody>
          <a:bodyPr wrap="square" anchor="t" lIns="0" rIns="0" tIns="0" bIns="0">
            <a:spAutoFit/>
          </a:bodyPr>
          <a:lstStyle/>
          <a:p>
            <a:pPr algn="l">
              <a:lnSpc>
                <a:spcPct val="116000"/>
              </a:lnSpc>
              <a:spcBef>
                <a:spcPts val="0"/>
              </a:spcBef>
              <a:spcAft>
                <a:spcPts val="0"/>
              </a:spcAft>
            </a:pPr>
            <a:r>
              <a:rPr sz="900" b="0" i="0">
                <a:solidFill>
                  <a:srgbClr val="7A8C94"/>
                </a:solidFill>
                <a:latin typeface="Arial"/>
              </a:rPr>
              <a:t>TokenTrail · Group 20 · Android App Project Outline</a:t>
            </a:r>
          </a:p>
        </p:txBody>
      </p:sp>
      <p:sp>
        <p:nvSpPr>
          <p:cNvPr id="4" name="TextBox 3"/>
          <p:cNvSpPr txBox="1"/>
          <p:nvPr/>
        </p:nvSpPr>
        <p:spPr>
          <a:xfrm>
            <a:off x="10436047" y="6419088"/>
            <a:ext cx="1097280" cy="274320"/>
          </a:xfrm>
          <a:prstGeom prst="rect">
            <a:avLst/>
          </a:prstGeom>
          <a:noFill/>
        </p:spPr>
        <p:txBody>
          <a:bodyPr wrap="square" anchor="t" lIns="0" rIns="0" tIns="0" bIns="0">
            <a:spAutoFit/>
          </a:bodyPr>
          <a:lstStyle/>
          <a:p>
            <a:pPr algn="r">
              <a:lnSpc>
                <a:spcPct val="116000"/>
              </a:lnSpc>
              <a:spcBef>
                <a:spcPts val="0"/>
              </a:spcBef>
              <a:spcAft>
                <a:spcPts val="0"/>
              </a:spcAft>
            </a:pPr>
            <a:r>
              <a:rPr sz="900" b="0" i="0">
                <a:solidFill>
                  <a:srgbClr val="7A8C94"/>
                </a:solidFill>
                <a:latin typeface="Arial"/>
              </a:rPr>
              <a:t>5</a:t>
            </a:r>
          </a:p>
        </p:txBody>
      </p:sp>
      <p:sp>
        <p:nvSpPr>
          <p:cNvPr id="5" name="TextBox 4"/>
          <p:cNvSpPr txBox="1"/>
          <p:nvPr/>
        </p:nvSpPr>
        <p:spPr>
          <a:xfrm>
            <a:off x="658368" y="365760"/>
            <a:ext cx="10874959" cy="237744"/>
          </a:xfrm>
          <a:prstGeom prst="rect">
            <a:avLst/>
          </a:prstGeom>
          <a:noFill/>
        </p:spPr>
        <p:txBody>
          <a:bodyPr wrap="square" anchor="t" lIns="0" rIns="0" tIns="0" bIns="0">
            <a:spAutoFit/>
          </a:bodyPr>
          <a:lstStyle/>
          <a:p>
            <a:pPr algn="l">
              <a:lnSpc>
                <a:spcPct val="116000"/>
              </a:lnSpc>
              <a:spcBef>
                <a:spcPts val="0"/>
              </a:spcBef>
              <a:spcAft>
                <a:spcPts val="0"/>
              </a:spcAft>
            </a:pPr>
            <a:r>
              <a:rPr sz="1000" b="0" i="0">
                <a:solidFill>
                  <a:srgbClr val="A17431"/>
                </a:solidFill>
                <a:latin typeface="Arial"/>
              </a:rPr>
              <a:t>2 · RELATED APPS</a:t>
            </a:r>
          </a:p>
        </p:txBody>
      </p:sp>
      <p:sp>
        <p:nvSpPr>
          <p:cNvPr id="6" name="TextBox 5"/>
          <p:cNvSpPr txBox="1"/>
          <p:nvPr/>
        </p:nvSpPr>
        <p:spPr>
          <a:xfrm>
            <a:off x="658368" y="603504"/>
            <a:ext cx="10874959" cy="502920"/>
          </a:xfrm>
          <a:prstGeom prst="rect">
            <a:avLst/>
          </a:prstGeom>
          <a:noFill/>
        </p:spPr>
        <p:txBody>
          <a:bodyPr wrap="square" anchor="t" lIns="0" rIns="0" tIns="0" bIns="0">
            <a:spAutoFit/>
          </a:bodyPr>
          <a:lstStyle/>
          <a:p>
            <a:pPr algn="l">
              <a:lnSpc>
                <a:spcPct val="116000"/>
              </a:lnSpc>
              <a:spcBef>
                <a:spcPts val="0"/>
              </a:spcBef>
              <a:spcAft>
                <a:spcPts val="0"/>
              </a:spcAft>
            </a:pPr>
            <a:r>
              <a:rPr sz="2600" b="0" i="0">
                <a:solidFill>
                  <a:srgbClr val="315E75"/>
                </a:solidFill>
                <a:latin typeface="Arial"/>
              </a:rPr>
              <a:t>Five products we studied before writing a line of code</a:t>
            </a:r>
          </a:p>
        </p:txBody>
      </p:sp>
      <p:sp>
        <p:nvSpPr>
          <p:cNvPr id="7" name="Rectangle 6"/>
          <p:cNvSpPr/>
          <p:nvPr/>
        </p:nvSpPr>
        <p:spPr>
          <a:xfrm>
            <a:off x="658368" y="1225296"/>
            <a:ext cx="10874959" cy="22860"/>
          </a:xfrm>
          <a:prstGeom prst="rect">
            <a:avLst/>
          </a:prstGeom>
          <a:solidFill>
            <a:srgbClr val="315E75"/>
          </a:solidFill>
          <a:ln>
            <a:noFill/>
          </a:ln>
          <a:effectLst/>
        </p:spPr>
        <p:txBody>
          <a:bodyPr rtlCol="0" anchor="ctr" wrap="square"/>
          <a:lstStyle/>
          <a:p>
            <a:pPr algn="ctr"/>
          </a:p>
        </p:txBody>
      </p:sp>
      <p:sp>
        <p:nvSpPr>
          <p:cNvPr id="8" name="Rounded Rectangle 7"/>
          <p:cNvSpPr/>
          <p:nvPr/>
        </p:nvSpPr>
        <p:spPr>
          <a:xfrm>
            <a:off x="658368" y="1591056"/>
            <a:ext cx="2057948" cy="2212848"/>
          </a:xfrm>
          <a:prstGeom prst="roundRect">
            <a:avLst>
              <a:gd name="adj" fmla="val 6000"/>
            </a:avLst>
          </a:prstGeom>
          <a:solidFill>
            <a:srgbClr val="F7FAFB"/>
          </a:solidFill>
          <a:ln w="9525">
            <a:solidFill>
              <a:srgbClr val="BDD0D8"/>
            </a:solidFill>
          </a:ln>
          <a:effectLst/>
        </p:spPr>
        <p:txBody>
          <a:bodyPr rtlCol="0" anchor="t" wrap="square" lIns="137160" rIns="137160" tIns="109728" bIns="109728"/>
          <a:lstStyle/>
          <a:p>
            <a:pPr algn="l">
              <a:lnSpc>
                <a:spcPct val="116000"/>
              </a:lnSpc>
              <a:spcBef>
                <a:spcPts val="0"/>
              </a:spcBef>
              <a:spcAft>
                <a:spcPts val="300"/>
              </a:spcAft>
            </a:pPr>
            <a:r>
              <a:rPr sz="850" b="0" i="0">
                <a:solidFill>
                  <a:srgbClr val="A17431"/>
                </a:solidFill>
                <a:latin typeface="Arial"/>
              </a:rPr>
              <a:t>FIRST-PARTY AGENT</a:t>
            </a:r>
          </a:p>
          <a:p>
            <a:pPr algn="l">
              <a:lnSpc>
                <a:spcPct val="116000"/>
              </a:lnSpc>
              <a:spcBef>
                <a:spcPts val="0"/>
              </a:spcBef>
              <a:spcAft>
                <a:spcPts val="300"/>
              </a:spcAft>
            </a:pPr>
            <a:r>
              <a:rPr sz="1500" b="1" i="0">
                <a:solidFill>
                  <a:srgbClr val="315E75"/>
                </a:solidFill>
                <a:latin typeface="Arial"/>
              </a:rPr>
              <a:t>Codex</a:t>
            </a:r>
          </a:p>
          <a:p>
            <a:pPr algn="l">
              <a:lnSpc>
                <a:spcPct val="114000"/>
              </a:lnSpc>
              <a:spcBef>
                <a:spcPts val="0"/>
              </a:spcBef>
              <a:spcAft>
                <a:spcPts val="0"/>
              </a:spcAft>
            </a:pPr>
            <a:r>
              <a:rPr sz="1100" b="0" i="0">
                <a:solidFill>
                  <a:srgbClr val="2B3A42"/>
                </a:solidFill>
                <a:latin typeface="Arial"/>
              </a:rPr>
              <a:t>OpenAI's coding agent. Can run with an OpenAI API key and be billed through the Platform account.</a:t>
            </a:r>
          </a:p>
          <a:p>
            <a:pPr algn="l">
              <a:lnSpc>
                <a:spcPct val="112000"/>
              </a:lnSpc>
              <a:spcBef>
                <a:spcPts val="600"/>
              </a:spcBef>
              <a:spcAft>
                <a:spcPts val="0"/>
              </a:spcAft>
            </a:pPr>
            <a:r>
              <a:rPr sz="950" b="0" i="0">
                <a:solidFill>
                  <a:srgbClr val="7A8C94"/>
                </a:solidFill>
                <a:latin typeface="Arial"/>
              </a:rPr>
              <a:t>The OpenAI-side agent we track.</a:t>
            </a:r>
          </a:p>
        </p:txBody>
      </p:sp>
      <p:sp>
        <p:nvSpPr>
          <p:cNvPr id="9" name="Rounded Rectangle 8"/>
          <p:cNvSpPr/>
          <p:nvPr/>
        </p:nvSpPr>
        <p:spPr>
          <a:xfrm>
            <a:off x="2862620" y="1591056"/>
            <a:ext cx="2057948" cy="2212848"/>
          </a:xfrm>
          <a:prstGeom prst="roundRect">
            <a:avLst>
              <a:gd name="adj" fmla="val 6000"/>
            </a:avLst>
          </a:prstGeom>
          <a:solidFill>
            <a:srgbClr val="F7FAFB"/>
          </a:solidFill>
          <a:ln w="9525">
            <a:solidFill>
              <a:srgbClr val="BDD0D8"/>
            </a:solidFill>
          </a:ln>
          <a:effectLst/>
        </p:spPr>
        <p:txBody>
          <a:bodyPr rtlCol="0" anchor="t" wrap="square" lIns="137160" rIns="137160" tIns="109728" bIns="109728"/>
          <a:lstStyle/>
          <a:p>
            <a:pPr algn="l">
              <a:lnSpc>
                <a:spcPct val="116000"/>
              </a:lnSpc>
              <a:spcBef>
                <a:spcPts val="0"/>
              </a:spcBef>
              <a:spcAft>
                <a:spcPts val="300"/>
              </a:spcAft>
            </a:pPr>
            <a:r>
              <a:rPr sz="850" b="0" i="0">
                <a:solidFill>
                  <a:srgbClr val="A17431"/>
                </a:solidFill>
                <a:latin typeface="Arial"/>
              </a:rPr>
              <a:t>MODEL PROVIDER</a:t>
            </a:r>
          </a:p>
          <a:p>
            <a:pPr algn="l">
              <a:lnSpc>
                <a:spcPct val="116000"/>
              </a:lnSpc>
              <a:spcBef>
                <a:spcPts val="0"/>
              </a:spcBef>
              <a:spcAft>
                <a:spcPts val="300"/>
              </a:spcAft>
            </a:pPr>
            <a:r>
              <a:rPr sz="1500" b="1" i="0">
                <a:solidFill>
                  <a:srgbClr val="315E75"/>
                </a:solidFill>
                <a:latin typeface="Arial"/>
              </a:rPr>
              <a:t>ZCode</a:t>
            </a:r>
          </a:p>
          <a:p>
            <a:pPr algn="l">
              <a:lnSpc>
                <a:spcPct val="114000"/>
              </a:lnSpc>
              <a:spcBef>
                <a:spcPts val="0"/>
              </a:spcBef>
              <a:spcAft>
                <a:spcPts val="0"/>
              </a:spcAft>
            </a:pPr>
            <a:r>
              <a:rPr sz="1100" b="0" i="0">
                <a:solidFill>
                  <a:srgbClr val="2B3A42"/>
                </a:solidFill>
                <a:latin typeface="Arial"/>
              </a:rPr>
              <a:t>Supports Xiaomi MiMo as a model provider. Usable MiMo API logs are imported; Token Plan usage is excluded.</a:t>
            </a:r>
          </a:p>
          <a:p>
            <a:pPr algn="l">
              <a:lnSpc>
                <a:spcPct val="112000"/>
              </a:lnSpc>
              <a:spcBef>
                <a:spcPts val="600"/>
              </a:spcBef>
              <a:spcAft>
                <a:spcPts val="0"/>
              </a:spcAft>
            </a:pPr>
            <a:r>
              <a:rPr sz="950" b="0" i="0">
                <a:solidFill>
                  <a:srgbClr val="7A8C94"/>
                </a:solidFill>
                <a:latin typeface="Arial"/>
              </a:rPr>
              <a:t>Tracked through its MiMo API endpoint.</a:t>
            </a:r>
          </a:p>
        </p:txBody>
      </p:sp>
      <p:sp>
        <p:nvSpPr>
          <p:cNvPr id="10" name="Rounded Rectangle 9"/>
          <p:cNvSpPr/>
          <p:nvPr/>
        </p:nvSpPr>
        <p:spPr>
          <a:xfrm>
            <a:off x="5066873" y="1591056"/>
            <a:ext cx="2057948" cy="2212848"/>
          </a:xfrm>
          <a:prstGeom prst="roundRect">
            <a:avLst>
              <a:gd name="adj" fmla="val 6000"/>
            </a:avLst>
          </a:prstGeom>
          <a:solidFill>
            <a:srgbClr val="F7FAFB"/>
          </a:solidFill>
          <a:ln w="9525">
            <a:solidFill>
              <a:srgbClr val="BDD0D8"/>
            </a:solidFill>
          </a:ln>
          <a:effectLst/>
        </p:spPr>
        <p:txBody>
          <a:bodyPr rtlCol="0" anchor="t" wrap="square" lIns="137160" rIns="137160" tIns="109728" bIns="109728"/>
          <a:lstStyle/>
          <a:p>
            <a:pPr algn="l">
              <a:lnSpc>
                <a:spcPct val="116000"/>
              </a:lnSpc>
              <a:spcBef>
                <a:spcPts val="0"/>
              </a:spcBef>
              <a:spcAft>
                <a:spcPts val="300"/>
              </a:spcAft>
            </a:pPr>
            <a:r>
              <a:rPr sz="850" b="0" i="0">
                <a:solidFill>
                  <a:srgbClr val="A17431"/>
                </a:solidFill>
                <a:latin typeface="Arial"/>
              </a:rPr>
              <a:t>SESSION PLUGIN</a:t>
            </a:r>
          </a:p>
          <a:p>
            <a:pPr algn="l">
              <a:lnSpc>
                <a:spcPct val="116000"/>
              </a:lnSpc>
              <a:spcBef>
                <a:spcPts val="0"/>
              </a:spcBef>
              <a:spcAft>
                <a:spcPts val="300"/>
              </a:spcAft>
            </a:pPr>
            <a:r>
              <a:rPr sz="1300" b="1" i="0">
                <a:solidFill>
                  <a:srgbClr val="315E75"/>
                </a:solidFill>
                <a:latin typeface="Arial"/>
              </a:rPr>
              <a:t>DSH / dsh-context</a:t>
            </a:r>
          </a:p>
          <a:p>
            <a:pPr algn="l">
              <a:lnSpc>
                <a:spcPct val="114000"/>
              </a:lnSpc>
              <a:spcBef>
                <a:spcPts val="0"/>
              </a:spcBef>
              <a:spcAft>
                <a:spcPts val="0"/>
              </a:spcAft>
            </a:pPr>
            <a:r>
              <a:rPr sz="1100" b="0" i="0">
                <a:solidFill>
                  <a:srgbClr val="2B3A42"/>
                </a:solidFill>
                <a:latin typeface="Arial"/>
              </a:rPr>
              <a:t>DSH runs coding sessions; its dsh-context plugin visualises tokens, cache and activity.</a:t>
            </a:r>
          </a:p>
          <a:p>
            <a:pPr algn="l">
              <a:lnSpc>
                <a:spcPct val="112000"/>
              </a:lnSpc>
              <a:spcBef>
                <a:spcPts val="600"/>
              </a:spcBef>
              <a:spcAft>
                <a:spcPts val="0"/>
              </a:spcAft>
            </a:pPr>
            <a:r>
              <a:rPr sz="950" b="0" i="0">
                <a:solidFill>
                  <a:srgbClr val="7A8C94"/>
                </a:solidFill>
                <a:latin typeface="Arial"/>
              </a:rPr>
              <a:t>Import its logs into Android; no live agent control.</a:t>
            </a:r>
          </a:p>
        </p:txBody>
      </p:sp>
      <p:sp>
        <p:nvSpPr>
          <p:cNvPr id="11" name="Rounded Rectangle 10"/>
          <p:cNvSpPr/>
          <p:nvPr/>
        </p:nvSpPr>
        <p:spPr>
          <a:xfrm>
            <a:off x="7271125" y="1591056"/>
            <a:ext cx="2057948" cy="2212848"/>
          </a:xfrm>
          <a:prstGeom prst="roundRect">
            <a:avLst>
              <a:gd name="adj" fmla="val 6000"/>
            </a:avLst>
          </a:prstGeom>
          <a:solidFill>
            <a:srgbClr val="F7FAFB"/>
          </a:solidFill>
          <a:ln w="9525">
            <a:solidFill>
              <a:srgbClr val="BDD0D8"/>
            </a:solidFill>
          </a:ln>
          <a:effectLst/>
        </p:spPr>
        <p:txBody>
          <a:bodyPr rtlCol="0" anchor="t" wrap="square" lIns="137160" rIns="137160" tIns="109728" bIns="109728"/>
          <a:lstStyle/>
          <a:p>
            <a:pPr algn="l">
              <a:lnSpc>
                <a:spcPct val="116000"/>
              </a:lnSpc>
              <a:spcBef>
                <a:spcPts val="0"/>
              </a:spcBef>
              <a:spcAft>
                <a:spcPts val="300"/>
              </a:spcAft>
            </a:pPr>
            <a:r>
              <a:rPr sz="850" b="0" i="0">
                <a:solidFill>
                  <a:srgbClr val="A17431"/>
                </a:solidFill>
                <a:latin typeface="Arial"/>
              </a:rPr>
              <a:t>GATEWAY</a:t>
            </a:r>
          </a:p>
          <a:p>
            <a:pPr algn="l">
              <a:lnSpc>
                <a:spcPct val="116000"/>
              </a:lnSpc>
              <a:spcBef>
                <a:spcPts val="0"/>
              </a:spcBef>
              <a:spcAft>
                <a:spcPts val="300"/>
              </a:spcAft>
            </a:pPr>
            <a:r>
              <a:rPr sz="1500" b="1" i="0">
                <a:solidFill>
                  <a:srgbClr val="315E75"/>
                </a:solidFill>
                <a:latin typeface="Arial"/>
              </a:rPr>
              <a:t>LiteLLM</a:t>
            </a:r>
          </a:p>
          <a:p>
            <a:pPr algn="l">
              <a:lnSpc>
                <a:spcPct val="114000"/>
              </a:lnSpc>
              <a:spcBef>
                <a:spcPts val="0"/>
              </a:spcBef>
              <a:spcAft>
                <a:spcPts val="0"/>
              </a:spcAft>
            </a:pPr>
            <a:r>
              <a:rPr sz="1100" b="0" i="0">
                <a:solidFill>
                  <a:srgbClr val="2B3A42"/>
                </a:solidFill>
                <a:latin typeface="Arial"/>
              </a:rPr>
              <a:t>Open-source gateway with spend tracking and budgets — but only for traffic that goes through it.</a:t>
            </a:r>
          </a:p>
          <a:p>
            <a:pPr algn="l">
              <a:lnSpc>
                <a:spcPct val="112000"/>
              </a:lnSpc>
              <a:spcBef>
                <a:spcPts val="600"/>
              </a:spcBef>
              <a:spcAft>
                <a:spcPts val="0"/>
              </a:spcAft>
            </a:pPr>
            <a:r>
              <a:rPr sz="950" b="0" i="0">
                <a:solidFill>
                  <a:srgbClr val="7A8C94"/>
                </a:solidFill>
                <a:latin typeface="Arial"/>
              </a:rPr>
              <a:t>Teaches the vocabulary of spend tracking and budgets.</a:t>
            </a:r>
          </a:p>
        </p:txBody>
      </p:sp>
      <p:sp>
        <p:nvSpPr>
          <p:cNvPr id="12" name="Rounded Rectangle 11"/>
          <p:cNvSpPr/>
          <p:nvPr/>
        </p:nvSpPr>
        <p:spPr>
          <a:xfrm>
            <a:off x="9475378" y="1591056"/>
            <a:ext cx="2057948" cy="2212848"/>
          </a:xfrm>
          <a:prstGeom prst="roundRect">
            <a:avLst>
              <a:gd name="adj" fmla="val 6000"/>
            </a:avLst>
          </a:prstGeom>
          <a:solidFill>
            <a:srgbClr val="F7FAFB"/>
          </a:solidFill>
          <a:ln w="9525">
            <a:solidFill>
              <a:srgbClr val="BDD0D8"/>
            </a:solidFill>
          </a:ln>
          <a:effectLst/>
        </p:spPr>
        <p:txBody>
          <a:bodyPr rtlCol="0" anchor="t" wrap="square" lIns="137160" rIns="137160" tIns="109728" bIns="109728"/>
          <a:lstStyle/>
          <a:p>
            <a:pPr algn="l">
              <a:lnSpc>
                <a:spcPct val="116000"/>
              </a:lnSpc>
              <a:spcBef>
                <a:spcPts val="0"/>
              </a:spcBef>
              <a:spcAft>
                <a:spcPts val="300"/>
              </a:spcAft>
            </a:pPr>
            <a:r>
              <a:rPr sz="850" b="0" i="0">
                <a:solidFill>
                  <a:srgbClr val="A17431"/>
                </a:solidFill>
                <a:latin typeface="Arial"/>
              </a:rPr>
              <a:t>COMPANION</a:t>
            </a:r>
          </a:p>
          <a:p>
            <a:pPr algn="l">
              <a:lnSpc>
                <a:spcPct val="116000"/>
              </a:lnSpc>
              <a:spcBef>
                <a:spcPts val="0"/>
              </a:spcBef>
              <a:spcAft>
                <a:spcPts val="300"/>
              </a:spcAft>
            </a:pPr>
            <a:r>
              <a:rPr sz="1500" b="1" i="0">
                <a:solidFill>
                  <a:srgbClr val="315E75"/>
                </a:solidFill>
                <a:latin typeface="Arial"/>
              </a:rPr>
              <a:t>dsh-pet</a:t>
            </a:r>
          </a:p>
          <a:p>
            <a:pPr algn="l">
              <a:lnSpc>
                <a:spcPct val="114000"/>
              </a:lnSpc>
              <a:spcBef>
                <a:spcPts val="0"/>
              </a:spcBef>
              <a:spcAft>
                <a:spcPts val="0"/>
              </a:spcAft>
            </a:pPr>
            <a:r>
              <a:rPr sz="1100" b="0" i="0">
                <a:solidFill>
                  <a:srgbClr val="2B3A42"/>
                </a:solidFill>
                <a:latin typeface="Arial"/>
              </a:rPr>
              <a:t>Floating companion driven by DSH session events, with touch and feeding actions. Closest thing to a game.</a:t>
            </a:r>
          </a:p>
          <a:p>
            <a:pPr algn="l">
              <a:lnSpc>
                <a:spcPct val="112000"/>
              </a:lnSpc>
              <a:spcBef>
                <a:spcPts val="600"/>
              </a:spcBef>
              <a:spcAft>
                <a:spcPts val="0"/>
              </a:spcAft>
            </a:pPr>
            <a:r>
              <a:rPr sz="950" b="0" i="0">
                <a:solidFill>
                  <a:srgbClr val="7A8C94"/>
                </a:solidFill>
                <a:latin typeface="Arial"/>
              </a:rPr>
              <a:t>Its entry point inspires our assistant panel on the home screen.</a:t>
            </a:r>
          </a:p>
        </p:txBody>
      </p:sp>
      <p:sp>
        <p:nvSpPr>
          <p:cNvPr id="13" name="Rounded Rectangle 12"/>
          <p:cNvSpPr/>
          <p:nvPr/>
        </p:nvSpPr>
        <p:spPr>
          <a:xfrm>
            <a:off x="658368" y="3986784"/>
            <a:ext cx="6524975" cy="1883664"/>
          </a:xfrm>
          <a:prstGeom prst="roundRect">
            <a:avLst>
              <a:gd name="adj" fmla="val 6000"/>
            </a:avLst>
          </a:prstGeom>
          <a:solidFill>
            <a:srgbClr val="EDF6F2"/>
          </a:solidFill>
          <a:ln w="9525">
            <a:solidFill>
              <a:srgbClr val="BDD0D8"/>
            </a:solidFill>
          </a:ln>
          <a:effectLst/>
        </p:spPr>
        <p:txBody>
          <a:bodyPr rtlCol="0" anchor="t" wrap="square" lIns="155448" rIns="155448" tIns="124358" bIns="124358"/>
          <a:lstStyle/>
          <a:p>
            <a:pPr algn="l">
              <a:lnSpc>
                <a:spcPct val="116000"/>
              </a:lnSpc>
              <a:spcBef>
                <a:spcPts val="0"/>
              </a:spcBef>
              <a:spcAft>
                <a:spcPts val="300"/>
              </a:spcAft>
            </a:pPr>
            <a:r>
              <a:rPr sz="1300" b="1" i="0">
                <a:solidFill>
                  <a:srgbClr val="2E766E"/>
                </a:solidFill>
                <a:latin typeface="Arial"/>
              </a:rPr>
              <a:t>What the review told us</a:t>
            </a:r>
          </a:p>
          <a:p>
            <a:pPr algn="l">
              <a:lnSpc>
                <a:spcPct val="114000"/>
              </a:lnSpc>
              <a:spcBef>
                <a:spcPts val="0"/>
              </a:spcBef>
              <a:spcAft>
                <a:spcPts val="500"/>
              </a:spcAft>
            </a:pPr>
            <a:r>
              <a:rPr sz="1200" b="0" i="0">
                <a:solidFill>
                  <a:srgbClr val="2B3A42"/>
                </a:solidFill>
                <a:latin typeface="Arial"/>
              </a:rPr>
              <a:t>Every product above is strong inside its own boundary: a first-party console prices one provider, a plugin reads one harness, a gateway sees only proxied traffic. None of them prices three providers from records the user already owns, and only dsh-pet treats usage as something to come back to.</a:t>
            </a:r>
          </a:p>
          <a:p>
            <a:pPr algn="l">
              <a:lnSpc>
                <a:spcPct val="114000"/>
              </a:lnSpc>
              <a:spcBef>
                <a:spcPts val="0"/>
              </a:spcBef>
              <a:spcAft>
                <a:spcPts val="0"/>
              </a:spcAft>
            </a:pPr>
            <a:r>
              <a:rPr sz="1200" b="0" i="0">
                <a:solidFill>
                  <a:srgbClr val="2B3A42"/>
                </a:solidFill>
                <a:latin typeface="Arial"/>
              </a:rPr>
              <a:t>The review also set our boundaries: no subscription quotas, and no overlay on another app. An optional relay, off by default, reads the token classes exports omit.</a:t>
            </a:r>
          </a:p>
        </p:txBody>
      </p:sp>
      <p:sp>
        <p:nvSpPr>
          <p:cNvPr id="14" name="Rounded Rectangle 13"/>
          <p:cNvSpPr/>
          <p:nvPr/>
        </p:nvSpPr>
        <p:spPr>
          <a:xfrm>
            <a:off x="7402799" y="3986784"/>
            <a:ext cx="4130527" cy="1883664"/>
          </a:xfrm>
          <a:prstGeom prst="roundRect">
            <a:avLst>
              <a:gd name="adj" fmla="val 6000"/>
            </a:avLst>
          </a:prstGeom>
          <a:solidFill>
            <a:srgbClr val="FAF3E5"/>
          </a:solidFill>
          <a:ln w="9525">
            <a:solidFill>
              <a:srgbClr val="BDD0D8"/>
            </a:solidFill>
          </a:ln>
          <a:effectLst/>
        </p:spPr>
        <p:txBody>
          <a:bodyPr rtlCol="0" anchor="t" wrap="square" lIns="155448" rIns="155448" tIns="124358" bIns="124358"/>
          <a:lstStyle/>
          <a:p>
            <a:pPr algn="l">
              <a:lnSpc>
                <a:spcPct val="116000"/>
              </a:lnSpc>
              <a:spcBef>
                <a:spcPts val="0"/>
              </a:spcBef>
              <a:spcAft>
                <a:spcPts val="300"/>
              </a:spcAft>
            </a:pPr>
            <a:r>
              <a:rPr sz="1300" b="1" i="0">
                <a:solidFill>
                  <a:srgbClr val="A17431"/>
                </a:solidFill>
                <a:latin typeface="Arial"/>
              </a:rPr>
              <a:t>The opportunity</a:t>
            </a:r>
          </a:p>
          <a:p>
            <a:pPr algn="l">
              <a:lnSpc>
                <a:spcPct val="114000"/>
              </a:lnSpc>
              <a:spcBef>
                <a:spcPts val="0"/>
              </a:spcBef>
              <a:spcAft>
                <a:spcPts val="500"/>
              </a:spcAft>
            </a:pPr>
            <a:r>
              <a:rPr sz="1150" b="0" i="0">
                <a:solidFill>
                  <a:srgbClr val="2B3A42"/>
                </a:solidFill>
                <a:latin typeface="Arial"/>
              </a:rPr>
              <a:t>The outline names three contributions:</a:t>
            </a:r>
          </a:p>
          <a:p>
            <a:pPr algn="l">
              <a:lnSpc>
                <a:spcPct val="114000"/>
              </a:lnSpc>
              <a:spcBef>
                <a:spcPts val="0"/>
              </a:spcBef>
              <a:spcAft>
                <a:spcPts val="500"/>
              </a:spcAft>
            </a:pPr>
            <a:r>
              <a:rPr sz="1150" b="0" i="0">
                <a:solidFill>
                  <a:srgbClr val="2B3A42"/>
                </a:solidFill>
                <a:latin typeface="Arial"/>
              </a:rPr>
              <a:t>▪  unified analytics over logs the user owns;</a:t>
            </a:r>
          </a:p>
          <a:p>
            <a:pPr algn="l">
              <a:lnSpc>
                <a:spcPct val="114000"/>
              </a:lnSpc>
              <a:spcBef>
                <a:spcPts val="0"/>
              </a:spcBef>
              <a:spcAft>
                <a:spcPts val="500"/>
              </a:spcAft>
            </a:pPr>
            <a:r>
              <a:rPr sz="1150" b="0" i="0">
                <a:solidFill>
                  <a:srgbClr val="2B3A42"/>
                </a:solidFill>
                <a:latin typeface="Arial"/>
              </a:rPr>
              <a:t>▪  reproducible costs that keep the price version;</a:t>
            </a:r>
          </a:p>
          <a:p>
            <a:pPr algn="l">
              <a:lnSpc>
                <a:spcPct val="114000"/>
              </a:lnSpc>
              <a:spcBef>
                <a:spcPts val="0"/>
              </a:spcBef>
              <a:spcAft>
                <a:spcPts val="0"/>
              </a:spcAft>
            </a:pPr>
            <a:r>
              <a:rPr sz="1150" b="0" i="0">
                <a:solidFill>
                  <a:srgbClr val="2B3A42"/>
                </a:solidFill>
                <a:latin typeface="Arial"/>
              </a:rPr>
              <a:t>▪  evidence-based advice that admits missing data.</a:t>
            </a:r>
          </a:p>
        </p:txBody>
      </p:sp>
      <p:sp>
        <p:nvSpPr>
          <p:cNvPr id="15" name="TextBox 14"/>
          <p:cNvSpPr txBox="1"/>
          <p:nvPr/>
        </p:nvSpPr>
        <p:spPr>
          <a:xfrm>
            <a:off x="658368" y="5980176"/>
            <a:ext cx="10874959" cy="274320"/>
          </a:xfrm>
          <a:prstGeom prst="rect">
            <a:avLst/>
          </a:prstGeom>
          <a:noFill/>
        </p:spPr>
        <p:txBody>
          <a:bodyPr wrap="square" anchor="t" lIns="0" rIns="0" tIns="0" bIns="0">
            <a:spAutoFit/>
          </a:bodyPr>
          <a:lstStyle/>
          <a:p>
            <a:pPr algn="l">
              <a:lnSpc>
                <a:spcPct val="116000"/>
              </a:lnSpc>
              <a:spcBef>
                <a:spcPts val="0"/>
              </a:spcBef>
              <a:spcAft>
                <a:spcPts val="0"/>
              </a:spcAft>
            </a:pPr>
            <a:r>
              <a:rPr sz="1050" b="0" i="0">
                <a:solidFill>
                  <a:srgbClr val="7A8C94"/>
                </a:solidFill>
                <a:latin typeface="Arial"/>
              </a:rPr>
              <a:t>Section 2 of the written outline compares the same five products, with a link to each one.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58368" y="6309360"/>
            <a:ext cx="10874959" cy="12801"/>
          </a:xfrm>
          <a:prstGeom prst="rect">
            <a:avLst/>
          </a:prstGeom>
          <a:solidFill>
            <a:srgbClr val="BDD0D8"/>
          </a:solidFill>
          <a:ln>
            <a:noFill/>
          </a:ln>
          <a:effectLst/>
        </p:spPr>
        <p:txBody>
          <a:bodyPr rtlCol="0" anchor="ctr" wrap="square"/>
          <a:lstStyle/>
          <a:p>
            <a:pPr algn="ctr"/>
          </a:p>
        </p:txBody>
      </p:sp>
      <p:sp>
        <p:nvSpPr>
          <p:cNvPr id="3" name="TextBox 2"/>
          <p:cNvSpPr txBox="1"/>
          <p:nvPr/>
        </p:nvSpPr>
        <p:spPr>
          <a:xfrm>
            <a:off x="658368" y="6419088"/>
            <a:ext cx="7612471" cy="274320"/>
          </a:xfrm>
          <a:prstGeom prst="rect">
            <a:avLst/>
          </a:prstGeom>
          <a:noFill/>
        </p:spPr>
        <p:txBody>
          <a:bodyPr wrap="square" anchor="t" lIns="0" rIns="0" tIns="0" bIns="0">
            <a:spAutoFit/>
          </a:bodyPr>
          <a:lstStyle/>
          <a:p>
            <a:pPr algn="l">
              <a:lnSpc>
                <a:spcPct val="116000"/>
              </a:lnSpc>
              <a:spcBef>
                <a:spcPts val="0"/>
              </a:spcBef>
              <a:spcAft>
                <a:spcPts val="0"/>
              </a:spcAft>
            </a:pPr>
            <a:r>
              <a:rPr sz="900" b="0" i="0">
                <a:solidFill>
                  <a:srgbClr val="7A8C94"/>
                </a:solidFill>
                <a:latin typeface="Arial"/>
              </a:rPr>
              <a:t>TokenTrail · Group 20 · Android App Project Outline</a:t>
            </a:r>
          </a:p>
        </p:txBody>
      </p:sp>
      <p:sp>
        <p:nvSpPr>
          <p:cNvPr id="4" name="TextBox 3"/>
          <p:cNvSpPr txBox="1"/>
          <p:nvPr/>
        </p:nvSpPr>
        <p:spPr>
          <a:xfrm>
            <a:off x="10436047" y="6419088"/>
            <a:ext cx="1097280" cy="274320"/>
          </a:xfrm>
          <a:prstGeom prst="rect">
            <a:avLst/>
          </a:prstGeom>
          <a:noFill/>
        </p:spPr>
        <p:txBody>
          <a:bodyPr wrap="square" anchor="t" lIns="0" rIns="0" tIns="0" bIns="0">
            <a:spAutoFit/>
          </a:bodyPr>
          <a:lstStyle/>
          <a:p>
            <a:pPr algn="r">
              <a:lnSpc>
                <a:spcPct val="116000"/>
              </a:lnSpc>
              <a:spcBef>
                <a:spcPts val="0"/>
              </a:spcBef>
              <a:spcAft>
                <a:spcPts val="0"/>
              </a:spcAft>
            </a:pPr>
            <a:r>
              <a:rPr sz="900" b="0" i="0">
                <a:solidFill>
                  <a:srgbClr val="7A8C94"/>
                </a:solidFill>
                <a:latin typeface="Arial"/>
              </a:rPr>
              <a:t>6</a:t>
            </a:r>
          </a:p>
        </p:txBody>
      </p:sp>
      <p:sp>
        <p:nvSpPr>
          <p:cNvPr id="5" name="TextBox 4"/>
          <p:cNvSpPr txBox="1"/>
          <p:nvPr/>
        </p:nvSpPr>
        <p:spPr>
          <a:xfrm>
            <a:off x="658368" y="365760"/>
            <a:ext cx="10874959" cy="237744"/>
          </a:xfrm>
          <a:prstGeom prst="rect">
            <a:avLst/>
          </a:prstGeom>
          <a:noFill/>
        </p:spPr>
        <p:txBody>
          <a:bodyPr wrap="square" anchor="t" lIns="0" rIns="0" tIns="0" bIns="0">
            <a:spAutoFit/>
          </a:bodyPr>
          <a:lstStyle/>
          <a:p>
            <a:pPr algn="l">
              <a:lnSpc>
                <a:spcPct val="116000"/>
              </a:lnSpc>
              <a:spcBef>
                <a:spcPts val="0"/>
              </a:spcBef>
              <a:spcAft>
                <a:spcPts val="0"/>
              </a:spcAft>
            </a:pPr>
            <a:r>
              <a:rPr sz="1000" b="0" i="0">
                <a:solidFill>
                  <a:srgbClr val="A17431"/>
                </a:solidFill>
                <a:latin typeface="Arial"/>
              </a:rPr>
              <a:t>3 · RELATED APPS IN DETAIL</a:t>
            </a:r>
          </a:p>
        </p:txBody>
      </p:sp>
      <p:sp>
        <p:nvSpPr>
          <p:cNvPr id="6" name="TextBox 5"/>
          <p:cNvSpPr txBox="1"/>
          <p:nvPr/>
        </p:nvSpPr>
        <p:spPr>
          <a:xfrm>
            <a:off x="658368" y="603504"/>
            <a:ext cx="10874959" cy="502920"/>
          </a:xfrm>
          <a:prstGeom prst="rect">
            <a:avLst/>
          </a:prstGeom>
          <a:noFill/>
        </p:spPr>
        <p:txBody>
          <a:bodyPr wrap="square" anchor="t" lIns="0" rIns="0" tIns="0" bIns="0">
            <a:spAutoFit/>
          </a:bodyPr>
          <a:lstStyle/>
          <a:p>
            <a:pPr algn="l">
              <a:lnSpc>
                <a:spcPct val="116000"/>
              </a:lnSpc>
              <a:spcBef>
                <a:spcPts val="0"/>
              </a:spcBef>
              <a:spcAft>
                <a:spcPts val="0"/>
              </a:spcAft>
            </a:pPr>
            <a:r>
              <a:rPr sz="2600" b="0" i="0">
                <a:solidFill>
                  <a:srgbClr val="315E75"/>
                </a:solidFill>
                <a:latin typeface="Arial"/>
              </a:rPr>
              <a:t>Component by component: what they cover, what is left open</a:t>
            </a:r>
          </a:p>
        </p:txBody>
      </p:sp>
      <p:sp>
        <p:nvSpPr>
          <p:cNvPr id="7" name="Rectangle 6"/>
          <p:cNvSpPr/>
          <p:nvPr/>
        </p:nvSpPr>
        <p:spPr>
          <a:xfrm>
            <a:off x="658368" y="1225296"/>
            <a:ext cx="10874959" cy="22860"/>
          </a:xfrm>
          <a:prstGeom prst="rect">
            <a:avLst/>
          </a:prstGeom>
          <a:solidFill>
            <a:srgbClr val="315E75"/>
          </a:solidFill>
          <a:ln>
            <a:noFill/>
          </a:ln>
          <a:effectLst/>
        </p:spPr>
        <p:txBody>
          <a:bodyPr rtlCol="0" anchor="ctr" wrap="square"/>
          <a:lstStyle/>
          <a:p>
            <a:pPr algn="ctr"/>
          </a:p>
        </p:txBody>
      </p:sp>
      <p:graphicFrame>
        <p:nvGraphicFramePr>
          <p:cNvPr id="8" name="Table 7"/>
          <p:cNvGraphicFramePr>
            <a:graphicFrameLocks noGrp="1"/>
          </p:cNvGraphicFramePr>
          <p:nvPr/>
        </p:nvGraphicFramePr>
        <p:xfrm>
          <a:off x="658368" y="1481328"/>
          <a:ext cx="10874959" cy="4078224"/>
        </p:xfrm>
        <a:graphic>
          <a:graphicData uri="http://schemas.openxmlformats.org/drawingml/2006/table">
            <a:tbl>
              <a:tblPr firstRow="0" bandRow="0">
                <a:tableStyleId>{2D5ABB26-0587-4C30-8999-92F81FD0307C}</a:tableStyleId>
              </a:tblPr>
              <a:tblGrid>
                <a:gridCol w="1600200"/>
                <a:gridCol w="4617720"/>
                <a:gridCol w="4657039"/>
              </a:tblGrid>
              <a:tr h="420624">
                <a:tc>
                  <a:txBody>
                    <a:bodyPr wrap="square"/>
                    <a:lstStyle/>
                    <a:p>
                      <a:pPr algn="l">
                        <a:lnSpc>
                          <a:spcPct val="108000"/>
                        </a:lnSpc>
                        <a:spcBef>
                          <a:spcPts val="0"/>
                        </a:spcBef>
                        <a:spcAft>
                          <a:spcPts val="0"/>
                        </a:spcAft>
                      </a:pPr>
                      <a:r>
                        <a:rPr sz="1150" b="1" i="0">
                          <a:solidFill>
                            <a:srgbClr val="FFFFFF"/>
                          </a:solidFill>
                          <a:latin typeface="Arial"/>
                        </a:rPr>
                        <a:t>Product</a:t>
                      </a:r>
                    </a:p>
                  </a:txBody>
                  <a:tcPr marL="91440" marR="82296" marT="50292" marB="50292" anchor="ctr">
                    <a:lnL w="9525" cap="flat" cmpd="sng" algn="ctr">
                      <a:solidFill>
                        <a:srgbClr val="315E75"/>
                      </a:solidFill>
                      <a:prstDash val="solid"/>
                    </a:lnL>
                    <a:lnT w="9525" cap="flat" cmpd="sng" algn="ctr">
                      <a:solidFill>
                        <a:srgbClr val="315E75"/>
                      </a:solidFill>
                      <a:prstDash val="solid"/>
                    </a:lnT>
                    <a:lnB w="9525" cap="flat" cmpd="sng" algn="ctr">
                      <a:solidFill>
                        <a:srgbClr val="315E75"/>
                      </a:solidFill>
                      <a:prstDash val="solid"/>
                    </a:lnB>
                    <a:solidFill>
                      <a:srgbClr val="315E75"/>
                    </a:solidFill>
                  </a:tcPr>
                </a:tc>
                <a:tc>
                  <a:txBody>
                    <a:bodyPr wrap="square"/>
                    <a:lstStyle/>
                    <a:p>
                      <a:pPr algn="l">
                        <a:lnSpc>
                          <a:spcPct val="108000"/>
                        </a:lnSpc>
                        <a:spcBef>
                          <a:spcPts val="0"/>
                        </a:spcBef>
                        <a:spcAft>
                          <a:spcPts val="0"/>
                        </a:spcAft>
                      </a:pPr>
                      <a:r>
                        <a:rPr sz="1150" b="1" i="0">
                          <a:solidFill>
                            <a:srgbClr val="FFFFFF"/>
                          </a:solidFill>
                          <a:latin typeface="Arial"/>
                        </a:rPr>
                        <a:t>Relevant capability</a:t>
                      </a:r>
                    </a:p>
                  </a:txBody>
                  <a:tcPr marL="91440" marR="82296" marT="50292" marB="50292" anchor="ctr">
                    <a:lnT w="9525" cap="flat" cmpd="sng" algn="ctr">
                      <a:solidFill>
                        <a:srgbClr val="315E75"/>
                      </a:solidFill>
                      <a:prstDash val="solid"/>
                    </a:lnT>
                    <a:lnB w="9525" cap="flat" cmpd="sng" algn="ctr">
                      <a:solidFill>
                        <a:srgbClr val="315E75"/>
                      </a:solidFill>
                      <a:prstDash val="solid"/>
                    </a:lnB>
                    <a:solidFill>
                      <a:srgbClr val="315E75"/>
                    </a:solidFill>
                  </a:tcPr>
                </a:tc>
                <a:tc>
                  <a:txBody>
                    <a:bodyPr wrap="square"/>
                    <a:lstStyle/>
                    <a:p>
                      <a:pPr algn="l">
                        <a:lnSpc>
                          <a:spcPct val="108000"/>
                        </a:lnSpc>
                        <a:spcBef>
                          <a:spcPts val="0"/>
                        </a:spcBef>
                        <a:spcAft>
                          <a:spcPts val="0"/>
                        </a:spcAft>
                      </a:pPr>
                      <a:r>
                        <a:rPr sz="1150" b="1" i="0">
                          <a:solidFill>
                            <a:srgbClr val="FFFFFF"/>
                          </a:solidFill>
                          <a:latin typeface="Arial"/>
                        </a:rPr>
                        <a:t>Gap addressed by TokenTrail</a:t>
                      </a:r>
                    </a:p>
                  </a:txBody>
                  <a:tcPr marL="91440" marR="82296" marT="50292" marB="50292" anchor="ctr">
                    <a:lnR w="9525" cap="flat" cmpd="sng" algn="ctr">
                      <a:solidFill>
                        <a:srgbClr val="315E75"/>
                      </a:solidFill>
                      <a:prstDash val="solid"/>
                    </a:lnR>
                    <a:lnT w="9525" cap="flat" cmpd="sng" algn="ctr">
                      <a:solidFill>
                        <a:srgbClr val="315E75"/>
                      </a:solidFill>
                      <a:prstDash val="solid"/>
                    </a:lnT>
                    <a:lnB w="9525" cap="flat" cmpd="sng" algn="ctr">
                      <a:solidFill>
                        <a:srgbClr val="315E75"/>
                      </a:solidFill>
                      <a:prstDash val="solid"/>
                    </a:lnB>
                    <a:solidFill>
                      <a:srgbClr val="315E75"/>
                    </a:solidFill>
                  </a:tcPr>
                </a:tc>
              </a:tr>
              <a:tr h="731520">
                <a:tc>
                  <a:txBody>
                    <a:bodyPr wrap="square"/>
                    <a:lstStyle/>
                    <a:p>
                      <a:pPr algn="l">
                        <a:lnSpc>
                          <a:spcPct val="108000"/>
                        </a:lnSpc>
                        <a:spcBef>
                          <a:spcPts val="0"/>
                        </a:spcBef>
                        <a:spcAft>
                          <a:spcPts val="0"/>
                        </a:spcAft>
                      </a:pPr>
                      <a:r>
                        <a:rPr sz="1050" b="1" i="0" u="none">
                          <a:solidFill>
                            <a:srgbClr val="315E75"/>
                          </a:solidFill>
                          <a:latin typeface="Arial"/>
                          <a:hlinkClick r:id="rId2"/>
                        </a:rPr>
                        <a:t>Codex</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050" b="0" i="0">
                          <a:solidFill>
                            <a:srgbClr val="2B3A42"/>
                          </a:solidFill>
                          <a:latin typeface="Arial"/>
                        </a:rPr>
                        <a:t>API-key coding agent billed through OpenAI Platform.</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050" b="0" i="0">
                          <a:solidFill>
                            <a:srgbClr val="2B3A42"/>
                          </a:solidFill>
                          <a:latin typeface="Arial"/>
                        </a:rPr>
                        <a:t>Dated estimates from the available Codex logs.</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FFFFF"/>
                    </a:solidFill>
                  </a:tcPr>
                </a:tc>
              </a:tr>
              <a:tr h="731520">
                <a:tc>
                  <a:txBody>
                    <a:bodyPr wrap="square"/>
                    <a:lstStyle/>
                    <a:p>
                      <a:pPr algn="l">
                        <a:lnSpc>
                          <a:spcPct val="108000"/>
                        </a:lnSpc>
                        <a:spcBef>
                          <a:spcPts val="0"/>
                        </a:spcBef>
                        <a:spcAft>
                          <a:spcPts val="0"/>
                        </a:spcAft>
                      </a:pPr>
                      <a:r>
                        <a:rPr sz="1050" b="1" i="0" u="none">
                          <a:solidFill>
                            <a:srgbClr val="315E75"/>
                          </a:solidFill>
                          <a:latin typeface="Arial"/>
                          <a:hlinkClick r:id="rId3"/>
                        </a:rPr>
                        <a:t>ZCode</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050" b="0" i="0">
                          <a:solidFill>
                            <a:srgbClr val="2B3A42"/>
                          </a:solidFill>
                          <a:latin typeface="Arial"/>
                        </a:rPr>
                        <a:t>Supports Xiaomi MiMo as a model provider.</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050" b="0" i="0">
                          <a:solidFill>
                            <a:srgbClr val="2B3A42"/>
                          </a:solidFill>
                          <a:latin typeface="Arial"/>
                        </a:rPr>
                        <a:t>Import usable MiMo API logs; exclude Token Plan usage.</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7FAFB"/>
                    </a:solidFill>
                  </a:tcPr>
                </a:tc>
              </a:tr>
              <a:tr h="731520">
                <a:tc>
                  <a:txBody>
                    <a:bodyPr wrap="square"/>
                    <a:lstStyle/>
                    <a:p>
                      <a:pPr algn="l">
                        <a:lnSpc>
                          <a:spcPct val="108000"/>
                        </a:lnSpc>
                        <a:spcBef>
                          <a:spcPts val="0"/>
                        </a:spcBef>
                        <a:spcAft>
                          <a:spcPts val="0"/>
                        </a:spcAft>
                      </a:pPr>
                      <a:r>
                        <a:rPr sz="1050" b="1" i="0" u="none">
                          <a:solidFill>
                            <a:srgbClr val="315E75"/>
                          </a:solidFill>
                          <a:latin typeface="Arial"/>
                          <a:hlinkClick r:id="rId4"/>
                        </a:rPr>
                        <a:t>DSH / dsh-context</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050" b="0" i="0">
                          <a:solidFill>
                            <a:srgbClr val="2B3A42"/>
                          </a:solidFill>
                          <a:latin typeface="Arial"/>
                        </a:rPr>
                        <a:t>DSH runs coding sessions; its context plugin visualises tokens, cache and activity.</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050" b="0" i="0">
                          <a:solidFill>
                            <a:srgbClr val="2B3A42"/>
                          </a:solidFill>
                          <a:latin typeface="Arial"/>
                        </a:rPr>
                        <a:t>Import usable DSH logs into Android; no live agent control.</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FFFFF"/>
                    </a:solidFill>
                  </a:tcPr>
                </a:tc>
              </a:tr>
              <a:tr h="731520">
                <a:tc>
                  <a:txBody>
                    <a:bodyPr wrap="square"/>
                    <a:lstStyle/>
                    <a:p>
                      <a:pPr algn="l">
                        <a:lnSpc>
                          <a:spcPct val="108000"/>
                        </a:lnSpc>
                        <a:spcBef>
                          <a:spcPts val="0"/>
                        </a:spcBef>
                        <a:spcAft>
                          <a:spcPts val="0"/>
                        </a:spcAft>
                      </a:pPr>
                      <a:r>
                        <a:rPr sz="1050" b="1" i="0" u="none">
                          <a:solidFill>
                            <a:srgbClr val="315E75"/>
                          </a:solidFill>
                          <a:latin typeface="Arial"/>
                          <a:hlinkClick r:id="rId5"/>
                        </a:rPr>
                        <a:t>LiteLLM</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050" b="0" i="0">
                          <a:solidFill>
                            <a:srgbClr val="2B3A42"/>
                          </a:solidFill>
                          <a:latin typeface="Arial"/>
                        </a:rPr>
                        <a:t>Gateway spend tracking and budgets for proxied calls.</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050" b="0" i="0">
                          <a:solidFill>
                            <a:srgbClr val="2B3A42"/>
                          </a:solidFill>
                          <a:latin typeface="Arial"/>
                        </a:rPr>
                        <a:t>Optional relay as a record source only; no gateway or protocol translation.</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7FAFB"/>
                    </a:solidFill>
                  </a:tcPr>
                </a:tc>
              </a:tr>
              <a:tr h="731520">
                <a:tc>
                  <a:txBody>
                    <a:bodyPr wrap="square"/>
                    <a:lstStyle/>
                    <a:p>
                      <a:pPr algn="l">
                        <a:lnSpc>
                          <a:spcPct val="108000"/>
                        </a:lnSpc>
                        <a:spcBef>
                          <a:spcPts val="0"/>
                        </a:spcBef>
                        <a:spcAft>
                          <a:spcPts val="0"/>
                        </a:spcAft>
                      </a:pPr>
                      <a:r>
                        <a:rPr sz="1050" b="1" i="0" u="none">
                          <a:solidFill>
                            <a:srgbClr val="315E75"/>
                          </a:solidFill>
                          <a:latin typeface="Arial"/>
                          <a:hlinkClick r:id="rId6"/>
                        </a:rPr>
                        <a:t>dsh-pet</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050" b="0" i="0">
                          <a:solidFill>
                            <a:srgbClr val="2B3A42"/>
                          </a:solidFill>
                          <a:latin typeface="Arial"/>
                        </a:rPr>
                        <a:t>Floating companion driven by DSH session events.</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050" b="0" i="0">
                          <a:solidFill>
                            <a:srgbClr val="2B3A42"/>
                          </a:solidFill>
                          <a:latin typeface="Arial"/>
                        </a:rPr>
                        <a:t>Interactive home-screen assistant with questions and evidence-linked advice.</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FFFFF"/>
                    </a:solidFill>
                  </a:tcPr>
                </a:tc>
              </a:tr>
            </a:tbl>
          </a:graphicData>
        </a:graphic>
      </p:graphicFrame>
      <p:sp>
        <p:nvSpPr>
          <p:cNvPr id="9" name="TextBox 8"/>
          <p:cNvSpPr txBox="1"/>
          <p:nvPr/>
        </p:nvSpPr>
        <p:spPr>
          <a:xfrm>
            <a:off x="658368" y="5669280"/>
            <a:ext cx="10874959" cy="411480"/>
          </a:xfrm>
          <a:prstGeom prst="rect">
            <a:avLst/>
          </a:prstGeom>
          <a:noFill/>
        </p:spPr>
        <p:txBody>
          <a:bodyPr wrap="square" anchor="t" lIns="0" rIns="0" tIns="0" bIns="0">
            <a:spAutoFit/>
          </a:bodyPr>
          <a:lstStyle/>
          <a:p>
            <a:pPr algn="l">
              <a:lnSpc>
                <a:spcPct val="116000"/>
              </a:lnSpc>
              <a:spcBef>
                <a:spcPts val="0"/>
              </a:spcBef>
              <a:spcAft>
                <a:spcPts val="0"/>
              </a:spcAft>
            </a:pPr>
            <a:r>
              <a:rPr sz="1050" b="0" i="0">
                <a:solidFill>
                  <a:srgbClr val="7A8C94"/>
                </a:solidFill>
                <a:latin typeface="Arial"/>
              </a:rPr>
              <a:t>Names link to each product's own documentation or repository. The full comparison is section 2 of the written outline.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58368" y="6309360"/>
            <a:ext cx="10874959" cy="12801"/>
          </a:xfrm>
          <a:prstGeom prst="rect">
            <a:avLst/>
          </a:prstGeom>
          <a:solidFill>
            <a:srgbClr val="BDD0D8"/>
          </a:solidFill>
          <a:ln>
            <a:noFill/>
          </a:ln>
          <a:effectLst/>
        </p:spPr>
        <p:txBody>
          <a:bodyPr rtlCol="0" anchor="ctr" wrap="square"/>
          <a:lstStyle/>
          <a:p>
            <a:pPr algn="ctr"/>
          </a:p>
        </p:txBody>
      </p:sp>
      <p:sp>
        <p:nvSpPr>
          <p:cNvPr id="3" name="TextBox 2"/>
          <p:cNvSpPr txBox="1"/>
          <p:nvPr/>
        </p:nvSpPr>
        <p:spPr>
          <a:xfrm>
            <a:off x="658368" y="6419088"/>
            <a:ext cx="7612471" cy="274320"/>
          </a:xfrm>
          <a:prstGeom prst="rect">
            <a:avLst/>
          </a:prstGeom>
          <a:noFill/>
        </p:spPr>
        <p:txBody>
          <a:bodyPr wrap="square" anchor="t" lIns="0" rIns="0" tIns="0" bIns="0">
            <a:spAutoFit/>
          </a:bodyPr>
          <a:lstStyle/>
          <a:p>
            <a:pPr algn="l">
              <a:lnSpc>
                <a:spcPct val="116000"/>
              </a:lnSpc>
              <a:spcBef>
                <a:spcPts val="0"/>
              </a:spcBef>
              <a:spcAft>
                <a:spcPts val="0"/>
              </a:spcAft>
            </a:pPr>
            <a:r>
              <a:rPr sz="900" b="0" i="0">
                <a:solidFill>
                  <a:srgbClr val="7A8C94"/>
                </a:solidFill>
                <a:latin typeface="Arial"/>
              </a:rPr>
              <a:t>TokenTrail · Group 20 · Android App Project Outline</a:t>
            </a:r>
          </a:p>
        </p:txBody>
      </p:sp>
      <p:sp>
        <p:nvSpPr>
          <p:cNvPr id="4" name="TextBox 3"/>
          <p:cNvSpPr txBox="1"/>
          <p:nvPr/>
        </p:nvSpPr>
        <p:spPr>
          <a:xfrm>
            <a:off x="10436047" y="6419088"/>
            <a:ext cx="1097280" cy="274320"/>
          </a:xfrm>
          <a:prstGeom prst="rect">
            <a:avLst/>
          </a:prstGeom>
          <a:noFill/>
        </p:spPr>
        <p:txBody>
          <a:bodyPr wrap="square" anchor="t" lIns="0" rIns="0" tIns="0" bIns="0">
            <a:spAutoFit/>
          </a:bodyPr>
          <a:lstStyle/>
          <a:p>
            <a:pPr algn="r">
              <a:lnSpc>
                <a:spcPct val="116000"/>
              </a:lnSpc>
              <a:spcBef>
                <a:spcPts val="0"/>
              </a:spcBef>
              <a:spcAft>
                <a:spcPts val="0"/>
              </a:spcAft>
            </a:pPr>
            <a:r>
              <a:rPr sz="900" b="0" i="0">
                <a:solidFill>
                  <a:srgbClr val="7A8C94"/>
                </a:solidFill>
                <a:latin typeface="Arial"/>
              </a:rPr>
              <a:t>7</a:t>
            </a:r>
          </a:p>
        </p:txBody>
      </p:sp>
      <p:sp>
        <p:nvSpPr>
          <p:cNvPr id="5" name="TextBox 4"/>
          <p:cNvSpPr txBox="1"/>
          <p:nvPr/>
        </p:nvSpPr>
        <p:spPr>
          <a:xfrm>
            <a:off x="658368" y="365760"/>
            <a:ext cx="10874959" cy="237744"/>
          </a:xfrm>
          <a:prstGeom prst="rect">
            <a:avLst/>
          </a:prstGeom>
          <a:noFill/>
        </p:spPr>
        <p:txBody>
          <a:bodyPr wrap="square" anchor="t" lIns="0" rIns="0" tIns="0" bIns="0">
            <a:spAutoFit/>
          </a:bodyPr>
          <a:lstStyle/>
          <a:p>
            <a:pPr algn="l">
              <a:lnSpc>
                <a:spcPct val="116000"/>
              </a:lnSpc>
              <a:spcBef>
                <a:spcPts val="0"/>
              </a:spcBef>
              <a:spcAft>
                <a:spcPts val="0"/>
              </a:spcAft>
            </a:pPr>
            <a:r>
              <a:rPr sz="1000" b="0" i="0">
                <a:solidFill>
                  <a:srgbClr val="A17431"/>
                </a:solidFill>
                <a:latin typeface="Arial"/>
              </a:rPr>
              <a:t>4 · OPEN SOURCE AND TOOLS</a:t>
            </a:r>
          </a:p>
        </p:txBody>
      </p:sp>
      <p:sp>
        <p:nvSpPr>
          <p:cNvPr id="6" name="TextBox 5"/>
          <p:cNvSpPr txBox="1"/>
          <p:nvPr/>
        </p:nvSpPr>
        <p:spPr>
          <a:xfrm>
            <a:off x="658368" y="603504"/>
            <a:ext cx="10874959" cy="502920"/>
          </a:xfrm>
          <a:prstGeom prst="rect">
            <a:avLst/>
          </a:prstGeom>
          <a:noFill/>
        </p:spPr>
        <p:txBody>
          <a:bodyPr wrap="square" anchor="t" lIns="0" rIns="0" tIns="0" bIns="0">
            <a:spAutoFit/>
          </a:bodyPr>
          <a:lstStyle/>
          <a:p>
            <a:pPr algn="l">
              <a:lnSpc>
                <a:spcPct val="116000"/>
              </a:lnSpc>
              <a:spcBef>
                <a:spcPts val="0"/>
              </a:spcBef>
              <a:spcAft>
                <a:spcPts val="0"/>
              </a:spcAft>
            </a:pPr>
            <a:r>
              <a:rPr sz="2600" b="0" i="0">
                <a:solidFill>
                  <a:srgbClr val="315E75"/>
                </a:solidFill>
                <a:latin typeface="Arial"/>
              </a:rPr>
              <a:t>What we reuse, and what we build ourselves</a:t>
            </a:r>
          </a:p>
        </p:txBody>
      </p:sp>
      <p:sp>
        <p:nvSpPr>
          <p:cNvPr id="7" name="Rectangle 6"/>
          <p:cNvSpPr/>
          <p:nvPr/>
        </p:nvSpPr>
        <p:spPr>
          <a:xfrm>
            <a:off x="658368" y="1225296"/>
            <a:ext cx="10874959" cy="22860"/>
          </a:xfrm>
          <a:prstGeom prst="rect">
            <a:avLst/>
          </a:prstGeom>
          <a:solidFill>
            <a:srgbClr val="315E75"/>
          </a:solidFill>
          <a:ln>
            <a:noFill/>
          </a:ln>
          <a:effectLst/>
        </p:spPr>
        <p:txBody>
          <a:bodyPr rtlCol="0" anchor="ctr" wrap="square"/>
          <a:lstStyle/>
          <a:p>
            <a:pPr algn="ctr"/>
          </a:p>
        </p:txBody>
      </p:sp>
      <p:graphicFrame>
        <p:nvGraphicFramePr>
          <p:cNvPr id="8" name="Table 7"/>
          <p:cNvGraphicFramePr>
            <a:graphicFrameLocks noGrp="1"/>
          </p:cNvGraphicFramePr>
          <p:nvPr/>
        </p:nvGraphicFramePr>
        <p:xfrm>
          <a:off x="658368" y="1481328"/>
          <a:ext cx="10874959" cy="3127248"/>
        </p:xfrm>
        <a:graphic>
          <a:graphicData uri="http://schemas.openxmlformats.org/drawingml/2006/table">
            <a:tbl>
              <a:tblPr firstRow="0" bandRow="0">
                <a:tableStyleId>{2D5ABB26-0587-4C30-8999-92F81FD0307C}</a:tableStyleId>
              </a:tblPr>
              <a:tblGrid>
                <a:gridCol w="2240280"/>
                <a:gridCol w="8634679"/>
              </a:tblGrid>
              <a:tr h="420624">
                <a:tc>
                  <a:txBody>
                    <a:bodyPr wrap="square"/>
                    <a:lstStyle/>
                    <a:p>
                      <a:pPr algn="l">
                        <a:lnSpc>
                          <a:spcPct val="108000"/>
                        </a:lnSpc>
                        <a:spcBef>
                          <a:spcPts val="0"/>
                        </a:spcBef>
                        <a:spcAft>
                          <a:spcPts val="0"/>
                        </a:spcAft>
                      </a:pPr>
                      <a:r>
                        <a:rPr sz="1100" b="1" i="0">
                          <a:solidFill>
                            <a:srgbClr val="FFFFFF"/>
                          </a:solidFill>
                          <a:latin typeface="Arial"/>
                        </a:rPr>
                        <a:t>Layer</a:t>
                      </a:r>
                    </a:p>
                  </a:txBody>
                  <a:tcPr marL="91440" marR="82296" marT="50292" marB="50292" anchor="ctr">
                    <a:lnL w="9525" cap="flat" cmpd="sng" algn="ctr">
                      <a:solidFill>
                        <a:srgbClr val="315E75"/>
                      </a:solidFill>
                      <a:prstDash val="solid"/>
                    </a:lnL>
                    <a:lnT w="9525" cap="flat" cmpd="sng" algn="ctr">
                      <a:solidFill>
                        <a:srgbClr val="315E75"/>
                      </a:solidFill>
                      <a:prstDash val="solid"/>
                    </a:lnT>
                    <a:lnB w="9525" cap="flat" cmpd="sng" algn="ctr">
                      <a:solidFill>
                        <a:srgbClr val="315E75"/>
                      </a:solidFill>
                      <a:prstDash val="solid"/>
                    </a:lnB>
                    <a:solidFill>
                      <a:srgbClr val="315E75"/>
                    </a:solidFill>
                  </a:tcPr>
                </a:tc>
                <a:tc>
                  <a:txBody>
                    <a:bodyPr wrap="square"/>
                    <a:lstStyle/>
                    <a:p>
                      <a:pPr algn="l">
                        <a:lnSpc>
                          <a:spcPct val="108000"/>
                        </a:lnSpc>
                        <a:spcBef>
                          <a:spcPts val="0"/>
                        </a:spcBef>
                        <a:spcAft>
                          <a:spcPts val="0"/>
                        </a:spcAft>
                      </a:pPr>
                      <a:r>
                        <a:rPr sz="1100" b="1" i="0">
                          <a:solidFill>
                            <a:srgbClr val="FFFFFF"/>
                          </a:solidFill>
                          <a:latin typeface="Arial"/>
                        </a:rPr>
                        <a:t>Planned tools and rationale</a:t>
                      </a:r>
                    </a:p>
                  </a:txBody>
                  <a:tcPr marL="91440" marR="82296" marT="50292" marB="50292" anchor="ctr">
                    <a:lnR w="9525" cap="flat" cmpd="sng" algn="ctr">
                      <a:solidFill>
                        <a:srgbClr val="315E75"/>
                      </a:solidFill>
                      <a:prstDash val="solid"/>
                    </a:lnR>
                    <a:lnT w="9525" cap="flat" cmpd="sng" algn="ctr">
                      <a:solidFill>
                        <a:srgbClr val="315E75"/>
                      </a:solidFill>
                      <a:prstDash val="solid"/>
                    </a:lnT>
                    <a:lnB w="9525" cap="flat" cmpd="sng" algn="ctr">
                      <a:solidFill>
                        <a:srgbClr val="315E75"/>
                      </a:solidFill>
                      <a:prstDash val="solid"/>
                    </a:lnB>
                    <a:solidFill>
                      <a:srgbClr val="315E75"/>
                    </a:solidFill>
                  </a:tcPr>
                </a:tc>
              </a:tr>
              <a:tr h="676656">
                <a:tc>
                  <a:txBody>
                    <a:bodyPr wrap="square"/>
                    <a:lstStyle/>
                    <a:p>
                      <a:pPr algn="l">
                        <a:lnSpc>
                          <a:spcPct val="108000"/>
                        </a:lnSpc>
                        <a:spcBef>
                          <a:spcPts val="0"/>
                        </a:spcBef>
                        <a:spcAft>
                          <a:spcPts val="0"/>
                        </a:spcAft>
                      </a:pPr>
                      <a:r>
                        <a:rPr sz="1050" b="1" i="0">
                          <a:solidFill>
                            <a:srgbClr val="2B3A42"/>
                          </a:solidFill>
                          <a:latin typeface="Arial"/>
                        </a:rPr>
                        <a:t>Android interface</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050" b="0" i="0">
                          <a:solidFill>
                            <a:srgbClr val="2B3A42"/>
                          </a:solidFill>
                          <a:latin typeface="Arial"/>
                        </a:rPr>
                        <a:t>Java/XML, Material Components, Navigation and ViewModel/LiveData; RecyclerView lists, speech-to-text and typed fallback.</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FFFFF"/>
                    </a:solidFill>
                  </a:tcPr>
                </a:tc>
              </a:tr>
              <a:tr h="676656">
                <a:tc>
                  <a:txBody>
                    <a:bodyPr wrap="square"/>
                    <a:lstStyle/>
                    <a:p>
                      <a:pPr algn="l">
                        <a:lnSpc>
                          <a:spcPct val="108000"/>
                        </a:lnSpc>
                        <a:spcBef>
                          <a:spcPts val="0"/>
                        </a:spcBef>
                        <a:spcAft>
                          <a:spcPts val="0"/>
                        </a:spcAft>
                      </a:pPr>
                      <a:r>
                        <a:rPr sz="1050" b="1" i="0">
                          <a:solidFill>
                            <a:srgbClr val="2B3A42"/>
                          </a:solidFill>
                          <a:latin typeface="Arial"/>
                        </a:rPr>
                        <a:t>Network and work</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050" b="0" i="0">
                          <a:solidFill>
                            <a:srgbClr val="2B3A42"/>
                          </a:solidFill>
                          <a:latin typeface="Arial"/>
                        </a:rPr>
                        <a:t>Retrofit/OkHttp connects the Java advice service; bounded read-only tools and one model API. WorkManager checks prices.</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7FAFB"/>
                    </a:solidFill>
                  </a:tcPr>
                </a:tc>
              </a:tr>
              <a:tr h="676656">
                <a:tc>
                  <a:txBody>
                    <a:bodyPr wrap="square"/>
                    <a:lstStyle/>
                    <a:p>
                      <a:pPr algn="l">
                        <a:lnSpc>
                          <a:spcPct val="108000"/>
                        </a:lnSpc>
                        <a:spcBef>
                          <a:spcPts val="0"/>
                        </a:spcBef>
                        <a:spcAft>
                          <a:spcPts val="0"/>
                        </a:spcAft>
                      </a:pPr>
                      <a:r>
                        <a:rPr sz="1050" b="1" i="0">
                          <a:solidFill>
                            <a:srgbClr val="2B3A42"/>
                          </a:solidFill>
                          <a:latin typeface="Arial"/>
                        </a:rPr>
                        <a:t>Persistence and security</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050" b="0" i="0">
                          <a:solidFill>
                            <a:srgbClr val="2B3A42"/>
                          </a:solidFill>
                          <a:latin typeface="Arial"/>
                        </a:rPr>
                        <a:t>The team's own server is authoritative: accounts, usage days, resource balance and settlement, sync, public posts and an optional relay; Room is a local cache. One app account is the single identity, and the relay key is a transport credential that only the relay path accepts; no client holds a model key.</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FFFFF"/>
                    </a:solidFill>
                  </a:tcPr>
                </a:tc>
              </a:tr>
              <a:tr h="676656">
                <a:tc>
                  <a:txBody>
                    <a:bodyPr wrap="square"/>
                    <a:lstStyle/>
                    <a:p>
                      <a:pPr algn="l">
                        <a:lnSpc>
                          <a:spcPct val="108000"/>
                        </a:lnSpc>
                        <a:spcBef>
                          <a:spcPts val="0"/>
                        </a:spcBef>
                        <a:spcAft>
                          <a:spcPts val="0"/>
                        </a:spcAft>
                      </a:pPr>
                      <a:r>
                        <a:rPr sz="1050" b="1" i="0">
                          <a:solidFill>
                            <a:srgbClr val="2B3A42"/>
                          </a:solidFill>
                          <a:latin typeface="Arial"/>
                        </a:rPr>
                        <a:t>Open-source reuse</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050" b="0" i="0" u="none">
                          <a:solidFill>
                            <a:srgbClr val="2E766E"/>
                          </a:solidFill>
                          <a:latin typeface="Arial"/>
                          <a:hlinkClick r:id="rId2"/>
                        </a:rPr>
                        <a:t>Room</a:t>
                      </a:r>
                      <a:r>
                        <a:rPr sz="1050" b="0" i="0">
                          <a:solidFill>
                            <a:srgbClr val="2B3A42"/>
                          </a:solidFill>
                          <a:latin typeface="Arial"/>
                        </a:rPr>
                        <a:t> (Apache-2.0) for local records; </a:t>
                      </a:r>
                      <a:r>
                        <a:rPr sz="1050" b="0" i="0" u="none">
                          <a:solidFill>
                            <a:srgbClr val="2E766E"/>
                          </a:solidFill>
                          <a:latin typeface="Arial"/>
                          <a:hlinkClick r:id="rId3"/>
                        </a:rPr>
                        <a:t>MPAndroidChart</a:t>
                      </a:r>
                      <a:r>
                        <a:rPr sz="1050" b="0" i="0">
                          <a:solidFill>
                            <a:srgbClr val="2B3A42"/>
                          </a:solidFill>
                          <a:latin typeface="Arial"/>
                        </a:rPr>
                        <a:t> (Apache-2.0) for charts, added as a dependency; </a:t>
                      </a:r>
                      <a:r>
                        <a:rPr sz="1050" b="0" i="0" u="none">
                          <a:solidFill>
                            <a:srgbClr val="2E766E"/>
                          </a:solidFill>
                          <a:latin typeface="Arial"/>
                          <a:hlinkClick r:id="rId4"/>
                        </a:rPr>
                        <a:t>Room with a View</a:t>
                      </a:r>
                      <a:r>
                        <a:rPr sz="1050" b="0" i="0">
                          <a:solidFill>
                            <a:srgbClr val="2B3A42"/>
                          </a:solidFill>
                          <a:latin typeface="Arial"/>
                        </a:rPr>
                        <a:t> is an archived architecture reference with no copied code. dsh-context/LiteLLM: comparison only; dsh-pet: entry inspiration only. The game engine is original.</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7FAFB"/>
                    </a:solidFill>
                  </a:tcPr>
                </a:tc>
              </a:tr>
            </a:tbl>
          </a:graphicData>
        </a:graphic>
      </p:graphicFrame>
      <p:sp>
        <p:nvSpPr>
          <p:cNvPr id="9" name="Rounded Rectangle 8"/>
          <p:cNvSpPr/>
          <p:nvPr/>
        </p:nvSpPr>
        <p:spPr>
          <a:xfrm>
            <a:off x="658368" y="4718304"/>
            <a:ext cx="10874959" cy="713232"/>
          </a:xfrm>
          <a:prstGeom prst="roundRect">
            <a:avLst>
              <a:gd name="adj" fmla="val 6000"/>
            </a:avLst>
          </a:prstGeom>
          <a:solidFill>
            <a:srgbClr val="FAF3E5"/>
          </a:solidFill>
          <a:ln w="9525">
            <a:solidFill>
              <a:srgbClr val="BDD0D8"/>
            </a:solidFill>
          </a:ln>
          <a:effectLst/>
        </p:spPr>
        <p:txBody>
          <a:bodyPr rtlCol="0" anchor="t" wrap="square" lIns="146304" rIns="146304" tIns="117043" bIns="117043"/>
          <a:lstStyle/>
          <a:p>
            <a:pPr algn="l">
              <a:lnSpc>
                <a:spcPct val="114000"/>
              </a:lnSpc>
              <a:spcBef>
                <a:spcPts val="0"/>
              </a:spcBef>
              <a:spcAft>
                <a:spcPts val="0"/>
              </a:spcAft>
            </a:pPr>
            <a:r>
              <a:rPr sz="1150" b="0" i="0">
                <a:solidFill>
                  <a:srgbClr val="2B3A42"/>
                </a:solidFill>
                <a:latin typeface="Arial"/>
              </a:rPr>
              <a:t>Original or properly licensed art only. Every reused file and its licence, version and source is recorded in the repository, and this layer is revisited if a dependency changes the plan.</a:t>
            </a:r>
          </a:p>
        </p:txBody>
      </p:sp>
      <p:sp>
        <p:nvSpPr>
          <p:cNvPr id="10" name="TextBox 9"/>
          <p:cNvSpPr txBox="1"/>
          <p:nvPr/>
        </p:nvSpPr>
        <p:spPr>
          <a:xfrm>
            <a:off x="658368" y="5577840"/>
            <a:ext cx="10874959" cy="365760"/>
          </a:xfrm>
          <a:prstGeom prst="rect">
            <a:avLst/>
          </a:prstGeom>
          <a:noFill/>
        </p:spPr>
        <p:txBody>
          <a:bodyPr wrap="square" anchor="t" lIns="0" rIns="0" tIns="0" bIns="0">
            <a:spAutoFit/>
          </a:bodyPr>
          <a:lstStyle/>
          <a:p>
            <a:pPr algn="l">
              <a:lnSpc>
                <a:spcPct val="116000"/>
              </a:lnSpc>
              <a:spcBef>
                <a:spcPts val="0"/>
              </a:spcBef>
              <a:spcAft>
                <a:spcPts val="0"/>
              </a:spcAft>
            </a:pPr>
            <a:r>
              <a:rPr sz="1050" b="0" i="0">
                <a:solidFill>
                  <a:srgbClr val="7A8C94"/>
                </a:solidFill>
                <a:latin typeface="Arial"/>
              </a:rPr>
              <a:t>Section 8 of the written outline lists the same four layers, with a licence link for each reused library.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58368" y="6309360"/>
            <a:ext cx="10874959" cy="12801"/>
          </a:xfrm>
          <a:prstGeom prst="rect">
            <a:avLst/>
          </a:prstGeom>
          <a:solidFill>
            <a:srgbClr val="BDD0D8"/>
          </a:solidFill>
          <a:ln>
            <a:noFill/>
          </a:ln>
          <a:effectLst/>
        </p:spPr>
        <p:txBody>
          <a:bodyPr rtlCol="0" anchor="ctr" wrap="square"/>
          <a:lstStyle/>
          <a:p>
            <a:pPr algn="ctr"/>
          </a:p>
        </p:txBody>
      </p:sp>
      <p:sp>
        <p:nvSpPr>
          <p:cNvPr id="3" name="TextBox 2"/>
          <p:cNvSpPr txBox="1"/>
          <p:nvPr/>
        </p:nvSpPr>
        <p:spPr>
          <a:xfrm>
            <a:off x="658368" y="6419088"/>
            <a:ext cx="7612471" cy="274320"/>
          </a:xfrm>
          <a:prstGeom prst="rect">
            <a:avLst/>
          </a:prstGeom>
          <a:noFill/>
        </p:spPr>
        <p:txBody>
          <a:bodyPr wrap="square" anchor="t" lIns="0" rIns="0" tIns="0" bIns="0">
            <a:spAutoFit/>
          </a:bodyPr>
          <a:lstStyle/>
          <a:p>
            <a:pPr algn="l">
              <a:lnSpc>
                <a:spcPct val="116000"/>
              </a:lnSpc>
              <a:spcBef>
                <a:spcPts val="0"/>
              </a:spcBef>
              <a:spcAft>
                <a:spcPts val="0"/>
              </a:spcAft>
            </a:pPr>
            <a:r>
              <a:rPr sz="900" b="0" i="0">
                <a:solidFill>
                  <a:srgbClr val="7A8C94"/>
                </a:solidFill>
                <a:latin typeface="Arial"/>
              </a:rPr>
              <a:t>TokenTrail · Group 20 · Android App Project Outline</a:t>
            </a:r>
          </a:p>
        </p:txBody>
      </p:sp>
      <p:sp>
        <p:nvSpPr>
          <p:cNvPr id="4" name="TextBox 3"/>
          <p:cNvSpPr txBox="1"/>
          <p:nvPr/>
        </p:nvSpPr>
        <p:spPr>
          <a:xfrm>
            <a:off x="10436047" y="6419088"/>
            <a:ext cx="1097280" cy="274320"/>
          </a:xfrm>
          <a:prstGeom prst="rect">
            <a:avLst/>
          </a:prstGeom>
          <a:noFill/>
        </p:spPr>
        <p:txBody>
          <a:bodyPr wrap="square" anchor="t" lIns="0" rIns="0" tIns="0" bIns="0">
            <a:spAutoFit/>
          </a:bodyPr>
          <a:lstStyle/>
          <a:p>
            <a:pPr algn="r">
              <a:lnSpc>
                <a:spcPct val="116000"/>
              </a:lnSpc>
              <a:spcBef>
                <a:spcPts val="0"/>
              </a:spcBef>
              <a:spcAft>
                <a:spcPts val="0"/>
              </a:spcAft>
            </a:pPr>
            <a:r>
              <a:rPr sz="900" b="0" i="0">
                <a:solidFill>
                  <a:srgbClr val="7A8C94"/>
                </a:solidFill>
                <a:latin typeface="Arial"/>
              </a:rPr>
              <a:t>8</a:t>
            </a:r>
          </a:p>
        </p:txBody>
      </p:sp>
      <p:sp>
        <p:nvSpPr>
          <p:cNvPr id="5" name="TextBox 4"/>
          <p:cNvSpPr txBox="1"/>
          <p:nvPr/>
        </p:nvSpPr>
        <p:spPr>
          <a:xfrm>
            <a:off x="658368" y="365760"/>
            <a:ext cx="10874959" cy="237744"/>
          </a:xfrm>
          <a:prstGeom prst="rect">
            <a:avLst/>
          </a:prstGeom>
          <a:noFill/>
        </p:spPr>
        <p:txBody>
          <a:bodyPr wrap="square" anchor="t" lIns="0" rIns="0" tIns="0" bIns="0">
            <a:spAutoFit/>
          </a:bodyPr>
          <a:lstStyle/>
          <a:p>
            <a:pPr algn="l">
              <a:lnSpc>
                <a:spcPct val="116000"/>
              </a:lnSpc>
              <a:spcBef>
                <a:spcPts val="0"/>
              </a:spcBef>
              <a:spcAft>
                <a:spcPts val="0"/>
              </a:spcAft>
            </a:pPr>
            <a:r>
              <a:rPr sz="1000" b="0" i="0">
                <a:solidFill>
                  <a:srgbClr val="A17431"/>
                </a:solidFill>
                <a:latin typeface="Arial"/>
              </a:rPr>
              <a:t>5 · PROPOSED FEATURES</a:t>
            </a:r>
          </a:p>
        </p:txBody>
      </p:sp>
      <p:sp>
        <p:nvSpPr>
          <p:cNvPr id="6" name="TextBox 5"/>
          <p:cNvSpPr txBox="1"/>
          <p:nvPr/>
        </p:nvSpPr>
        <p:spPr>
          <a:xfrm>
            <a:off x="658368" y="603504"/>
            <a:ext cx="10874959" cy="502920"/>
          </a:xfrm>
          <a:prstGeom prst="rect">
            <a:avLst/>
          </a:prstGeom>
          <a:noFill/>
        </p:spPr>
        <p:txBody>
          <a:bodyPr wrap="square" anchor="t" lIns="0" rIns="0" tIns="0" bIns="0">
            <a:spAutoFit/>
          </a:bodyPr>
          <a:lstStyle/>
          <a:p>
            <a:pPr algn="l">
              <a:lnSpc>
                <a:spcPct val="116000"/>
              </a:lnSpc>
              <a:spcBef>
                <a:spcPts val="0"/>
              </a:spcBef>
              <a:spcAft>
                <a:spcPts val="0"/>
              </a:spcAft>
            </a:pPr>
            <a:r>
              <a:rPr sz="2600" b="0" i="0">
                <a:solidFill>
                  <a:srgbClr val="315E75"/>
                </a:solidFill>
                <a:latin typeface="Arial"/>
              </a:rPr>
              <a:t>Three contributions, and the rule that keeps them honest</a:t>
            </a:r>
          </a:p>
        </p:txBody>
      </p:sp>
      <p:sp>
        <p:nvSpPr>
          <p:cNvPr id="7" name="Rectangle 6"/>
          <p:cNvSpPr/>
          <p:nvPr/>
        </p:nvSpPr>
        <p:spPr>
          <a:xfrm>
            <a:off x="658368" y="1225296"/>
            <a:ext cx="10874959" cy="22860"/>
          </a:xfrm>
          <a:prstGeom prst="rect">
            <a:avLst/>
          </a:prstGeom>
          <a:solidFill>
            <a:srgbClr val="315E75"/>
          </a:solidFill>
          <a:ln>
            <a:noFill/>
          </a:ln>
          <a:effectLst/>
        </p:spPr>
        <p:txBody>
          <a:bodyPr rtlCol="0" anchor="ctr" wrap="square"/>
          <a:lstStyle/>
          <a:p>
            <a:pPr algn="ctr"/>
          </a:p>
        </p:txBody>
      </p:sp>
      <p:sp>
        <p:nvSpPr>
          <p:cNvPr id="8" name="Rounded Rectangle 7"/>
          <p:cNvSpPr/>
          <p:nvPr/>
        </p:nvSpPr>
        <p:spPr>
          <a:xfrm>
            <a:off x="658368" y="1554480"/>
            <a:ext cx="3466490" cy="2139696"/>
          </a:xfrm>
          <a:prstGeom prst="roundRect">
            <a:avLst>
              <a:gd name="adj" fmla="val 6000"/>
            </a:avLst>
          </a:prstGeom>
          <a:solidFill>
            <a:srgbClr val="EAF3F7"/>
          </a:solidFill>
          <a:ln w="9525">
            <a:solidFill>
              <a:srgbClr val="BDD0D8"/>
            </a:solidFill>
          </a:ln>
          <a:effectLst/>
        </p:spPr>
        <p:txBody>
          <a:bodyPr rtlCol="0" anchor="t" wrap="square" lIns="146304" rIns="146304" tIns="117043" bIns="117043"/>
          <a:lstStyle/>
          <a:p>
            <a:pPr algn="l">
              <a:lnSpc>
                <a:spcPct val="116000"/>
              </a:lnSpc>
              <a:spcBef>
                <a:spcPts val="0"/>
              </a:spcBef>
              <a:spcAft>
                <a:spcPts val="300"/>
              </a:spcAft>
            </a:pPr>
            <a:r>
              <a:rPr sz="1350" b="1" i="0">
                <a:solidFill>
                  <a:srgbClr val="315E75"/>
                </a:solidFill>
                <a:latin typeface="Arial"/>
              </a:rPr>
              <a:t>Unified analytics</a:t>
            </a:r>
          </a:p>
          <a:p>
            <a:pPr algn="l">
              <a:lnSpc>
                <a:spcPct val="114000"/>
              </a:lnSpc>
              <a:spcBef>
                <a:spcPts val="0"/>
              </a:spcBef>
              <a:spcAft>
                <a:spcPts val="500"/>
              </a:spcAft>
            </a:pPr>
            <a:r>
              <a:rPr sz="1100" b="0" i="0">
                <a:solidFill>
                  <a:srgbClr val="2B3A42"/>
                </a:solidFill>
                <a:latin typeface="Arial"/>
              </a:rPr>
              <a:t>De-duplicates authorised logs and shows source, coverage and session detail — but only where the records support it.</a:t>
            </a:r>
          </a:p>
          <a:p>
            <a:pPr algn="l">
              <a:lnSpc>
                <a:spcPct val="114000"/>
              </a:lnSpc>
              <a:spcBef>
                <a:spcPts val="0"/>
              </a:spcBef>
              <a:spcAft>
                <a:spcPts val="0"/>
              </a:spcAft>
            </a:pPr>
            <a:r>
              <a:rPr sz="1100" b="0" i="0">
                <a:solidFill>
                  <a:srgbClr val="2B3A42"/>
                </a:solidFill>
                <a:latin typeface="Arial"/>
              </a:rPr>
              <a:t>Where a session view is not supported, it shows a provider-level estimate instead of inventing one.</a:t>
            </a:r>
          </a:p>
        </p:txBody>
      </p:sp>
      <p:sp>
        <p:nvSpPr>
          <p:cNvPr id="9" name="Rounded Rectangle 8"/>
          <p:cNvSpPr/>
          <p:nvPr/>
        </p:nvSpPr>
        <p:spPr>
          <a:xfrm>
            <a:off x="4362602" y="1554480"/>
            <a:ext cx="3466490" cy="2139696"/>
          </a:xfrm>
          <a:prstGeom prst="roundRect">
            <a:avLst>
              <a:gd name="adj" fmla="val 6000"/>
            </a:avLst>
          </a:prstGeom>
          <a:solidFill>
            <a:srgbClr val="EDF6F2"/>
          </a:solidFill>
          <a:ln w="9525">
            <a:solidFill>
              <a:srgbClr val="BDD0D8"/>
            </a:solidFill>
          </a:ln>
          <a:effectLst/>
        </p:spPr>
        <p:txBody>
          <a:bodyPr rtlCol="0" anchor="t" wrap="square" lIns="146304" rIns="146304" tIns="117043" bIns="117043"/>
          <a:lstStyle/>
          <a:p>
            <a:pPr algn="l">
              <a:lnSpc>
                <a:spcPct val="116000"/>
              </a:lnSpc>
              <a:spcBef>
                <a:spcPts val="0"/>
              </a:spcBef>
              <a:spcAft>
                <a:spcPts val="300"/>
              </a:spcAft>
            </a:pPr>
            <a:r>
              <a:rPr sz="1350" b="1" i="0">
                <a:solidFill>
                  <a:srgbClr val="2E766E"/>
                </a:solidFill>
                <a:latin typeface="Arial"/>
              </a:rPr>
              <a:t>Reproducible costs</a:t>
            </a:r>
          </a:p>
          <a:p>
            <a:pPr algn="l">
              <a:lnSpc>
                <a:spcPct val="114000"/>
              </a:lnSpc>
              <a:spcBef>
                <a:spcPts val="0"/>
              </a:spcBef>
              <a:spcAft>
                <a:spcPts val="500"/>
              </a:spcAft>
            </a:pPr>
            <a:r>
              <a:rPr sz="1100" b="0" i="0">
                <a:solidFill>
                  <a:srgbClr val="2B3A42"/>
                </a:solidFill>
                <a:latin typeface="Arial"/>
              </a:rPr>
              <a:t>Java applies dated official rates by provider, model, token class and service tier, and keeps the price version behind every estimate.</a:t>
            </a:r>
          </a:p>
          <a:p>
            <a:pPr algn="l">
              <a:lnSpc>
                <a:spcPct val="114000"/>
              </a:lnSpc>
              <a:spcBef>
                <a:spcPts val="0"/>
              </a:spcBef>
              <a:spcAft>
                <a:spcPts val="0"/>
              </a:spcAft>
            </a:pPr>
            <a:r>
              <a:rPr sz="1100" b="0" i="0">
                <a:solidFill>
                  <a:srgbClr val="2B3A42"/>
                </a:solidFill>
                <a:latin typeface="Arial"/>
              </a:rPr>
              <a:t>New rates apply prospectively; old estimates keep the version they were computed with.</a:t>
            </a:r>
          </a:p>
        </p:txBody>
      </p:sp>
      <p:sp>
        <p:nvSpPr>
          <p:cNvPr id="10" name="Rounded Rectangle 9"/>
          <p:cNvSpPr/>
          <p:nvPr/>
        </p:nvSpPr>
        <p:spPr>
          <a:xfrm>
            <a:off x="8066836" y="1554480"/>
            <a:ext cx="3466490" cy="2139696"/>
          </a:xfrm>
          <a:prstGeom prst="roundRect">
            <a:avLst>
              <a:gd name="adj" fmla="val 6000"/>
            </a:avLst>
          </a:prstGeom>
          <a:solidFill>
            <a:srgbClr val="FAF3E5"/>
          </a:solidFill>
          <a:ln w="9525">
            <a:solidFill>
              <a:srgbClr val="BDD0D8"/>
            </a:solidFill>
          </a:ln>
          <a:effectLst/>
        </p:spPr>
        <p:txBody>
          <a:bodyPr rtlCol="0" anchor="t" wrap="square" lIns="146304" rIns="146304" tIns="117043" bIns="117043"/>
          <a:lstStyle/>
          <a:p>
            <a:pPr algn="l">
              <a:lnSpc>
                <a:spcPct val="116000"/>
              </a:lnSpc>
              <a:spcBef>
                <a:spcPts val="0"/>
              </a:spcBef>
              <a:spcAft>
                <a:spcPts val="300"/>
              </a:spcAft>
            </a:pPr>
            <a:r>
              <a:rPr sz="1350" b="1" i="0">
                <a:solidFill>
                  <a:srgbClr val="A17431"/>
                </a:solidFill>
                <a:latin typeface="Arial"/>
              </a:rPr>
              <a:t>Evidence-based AI advice</a:t>
            </a:r>
          </a:p>
          <a:p>
            <a:pPr algn="l">
              <a:lnSpc>
                <a:spcPct val="114000"/>
              </a:lnSpc>
              <a:spcBef>
                <a:spcPts val="0"/>
              </a:spcBef>
              <a:spcAft>
                <a:spcPts val="500"/>
              </a:spcAft>
            </a:pPr>
            <a:r>
              <a:rPr sz="1100" b="0" i="0">
                <a:solidFill>
                  <a:srgbClr val="2B3A42"/>
                </a:solidFill>
                <a:latin typeface="Arial"/>
              </a:rPr>
              <a:t>Text or speech questions obtain calculated evidence from read-only tools; replies disclose sample size and missing data.</a:t>
            </a:r>
          </a:p>
          <a:p>
            <a:pPr algn="l">
              <a:lnSpc>
                <a:spcPct val="114000"/>
              </a:lnSpc>
              <a:spcBef>
                <a:spcPts val="0"/>
              </a:spcBef>
              <a:spcAft>
                <a:spcPts val="0"/>
              </a:spcAft>
            </a:pPr>
            <a:r>
              <a:rPr sz="1100" b="0" i="0">
                <a:solidFill>
                  <a:srgbClr val="2B3A42"/>
                </a:solidFill>
                <a:latin typeface="Arial"/>
              </a:rPr>
              <a:t>It compares recorded cost, tokens and cache use — never answer quality, and it asks for no task ratings.</a:t>
            </a:r>
          </a:p>
        </p:txBody>
      </p:sp>
      <p:sp>
        <p:nvSpPr>
          <p:cNvPr id="11" name="Rounded Rectangle 10"/>
          <p:cNvSpPr/>
          <p:nvPr/>
        </p:nvSpPr>
        <p:spPr>
          <a:xfrm>
            <a:off x="658368" y="3931920"/>
            <a:ext cx="10874959" cy="932688"/>
          </a:xfrm>
          <a:prstGeom prst="roundRect">
            <a:avLst>
              <a:gd name="adj" fmla="val 6000"/>
            </a:avLst>
          </a:prstGeom>
          <a:solidFill>
            <a:srgbClr val="FAF3E5"/>
          </a:solidFill>
          <a:ln w="9525">
            <a:solidFill>
              <a:srgbClr val="A17431"/>
            </a:solidFill>
          </a:ln>
          <a:effectLst/>
        </p:spPr>
        <p:txBody>
          <a:bodyPr rtlCol="0" anchor="ctr" wrap="square" lIns="182880" rIns="182880"/>
          <a:lstStyle/>
          <a:p>
            <a:pPr algn="l">
              <a:lnSpc>
                <a:spcPct val="114000"/>
              </a:lnSpc>
              <a:spcBef>
                <a:spcPts val="0"/>
              </a:spcBef>
              <a:spcAft>
                <a:spcPts val="0"/>
              </a:spcAft>
            </a:pPr>
            <a:r>
              <a:rPr sz="1200" b="1" i="0">
                <a:solidFill>
                  <a:srgbClr val="A17431"/>
                </a:solidFill>
                <a:latin typeface="Arial"/>
              </a:rPr>
              <a:t>Scope rule:  </a:t>
            </a:r>
            <a:r>
              <a:rPr sz="1200" b="0" i="0">
                <a:solidFill>
                  <a:srgbClr val="2B3A42"/>
                </a:solidFill>
                <a:latin typeface="Arial"/>
              </a:rPr>
              <a:t>API-cost analytics and the home-screen assistant are core; forum and game are supporting extensions. Live cross-agent status and system-wide overlays are outside the first release.</a:t>
            </a:r>
          </a:p>
        </p:txBody>
      </p:sp>
      <p:sp>
        <p:nvSpPr>
          <p:cNvPr id="12" name="TextBox 11"/>
          <p:cNvSpPr txBox="1"/>
          <p:nvPr/>
        </p:nvSpPr>
        <p:spPr>
          <a:xfrm>
            <a:off x="658368" y="5065776"/>
            <a:ext cx="10874959" cy="685800"/>
          </a:xfrm>
          <a:prstGeom prst="rect">
            <a:avLst/>
          </a:prstGeom>
          <a:noFill/>
        </p:spPr>
        <p:txBody>
          <a:bodyPr wrap="square" anchor="t" lIns="0" rIns="0" tIns="0" bIns="0">
            <a:spAutoFit/>
          </a:bodyPr>
          <a:lstStyle/>
          <a:p>
            <a:pPr algn="l">
              <a:lnSpc>
                <a:spcPct val="116000"/>
              </a:lnSpc>
              <a:spcBef>
                <a:spcPts val="0"/>
              </a:spcBef>
              <a:spcAft>
                <a:spcPts val="0"/>
              </a:spcAft>
            </a:pPr>
            <a:r>
              <a:rPr sz="1150" b="1" i="0">
                <a:solidFill>
                  <a:srgbClr val="315E75"/>
                </a:solidFill>
                <a:latin typeface="Arial"/>
              </a:rPr>
              <a:t>Values are labelled.  </a:t>
            </a:r>
            <a:r>
              <a:rPr sz="1150" b="0" i="0">
                <a:solidFill>
                  <a:srgbClr val="2B3A42"/>
                </a:solidFill>
                <a:latin typeface="Arial"/>
              </a:rPr>
              <a:t>Every monetary figure is Estimated, Partial estimate or Unavailable — a cost that cannot be computed is never shown as zero. Source-billed amounts are kept as separate reconciliation evidence, not as replacements for the estimates.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58368" y="6309360"/>
            <a:ext cx="10874959" cy="12801"/>
          </a:xfrm>
          <a:prstGeom prst="rect">
            <a:avLst/>
          </a:prstGeom>
          <a:solidFill>
            <a:srgbClr val="BDD0D8"/>
          </a:solidFill>
          <a:ln>
            <a:noFill/>
          </a:ln>
          <a:effectLst/>
        </p:spPr>
        <p:txBody>
          <a:bodyPr rtlCol="0" anchor="ctr" wrap="square"/>
          <a:lstStyle/>
          <a:p>
            <a:pPr algn="ctr"/>
          </a:p>
        </p:txBody>
      </p:sp>
      <p:sp>
        <p:nvSpPr>
          <p:cNvPr id="3" name="TextBox 2"/>
          <p:cNvSpPr txBox="1"/>
          <p:nvPr/>
        </p:nvSpPr>
        <p:spPr>
          <a:xfrm>
            <a:off x="658368" y="6419088"/>
            <a:ext cx="7612471" cy="274320"/>
          </a:xfrm>
          <a:prstGeom prst="rect">
            <a:avLst/>
          </a:prstGeom>
          <a:noFill/>
        </p:spPr>
        <p:txBody>
          <a:bodyPr wrap="square" anchor="t" lIns="0" rIns="0" tIns="0" bIns="0">
            <a:spAutoFit/>
          </a:bodyPr>
          <a:lstStyle/>
          <a:p>
            <a:pPr algn="l">
              <a:lnSpc>
                <a:spcPct val="116000"/>
              </a:lnSpc>
              <a:spcBef>
                <a:spcPts val="0"/>
              </a:spcBef>
              <a:spcAft>
                <a:spcPts val="0"/>
              </a:spcAft>
            </a:pPr>
            <a:r>
              <a:rPr sz="900" b="0" i="0">
                <a:solidFill>
                  <a:srgbClr val="7A8C94"/>
                </a:solidFill>
                <a:latin typeface="Arial"/>
              </a:rPr>
              <a:t>TokenTrail · Group 20 · Android App Project Outline</a:t>
            </a:r>
          </a:p>
        </p:txBody>
      </p:sp>
      <p:sp>
        <p:nvSpPr>
          <p:cNvPr id="4" name="TextBox 3"/>
          <p:cNvSpPr txBox="1"/>
          <p:nvPr/>
        </p:nvSpPr>
        <p:spPr>
          <a:xfrm>
            <a:off x="10436047" y="6419088"/>
            <a:ext cx="1097280" cy="274320"/>
          </a:xfrm>
          <a:prstGeom prst="rect">
            <a:avLst/>
          </a:prstGeom>
          <a:noFill/>
        </p:spPr>
        <p:txBody>
          <a:bodyPr wrap="square" anchor="t" lIns="0" rIns="0" tIns="0" bIns="0">
            <a:spAutoFit/>
          </a:bodyPr>
          <a:lstStyle/>
          <a:p>
            <a:pPr algn="r">
              <a:lnSpc>
                <a:spcPct val="116000"/>
              </a:lnSpc>
              <a:spcBef>
                <a:spcPts val="0"/>
              </a:spcBef>
              <a:spcAft>
                <a:spcPts val="0"/>
              </a:spcAft>
            </a:pPr>
            <a:r>
              <a:rPr sz="900" b="0" i="0">
                <a:solidFill>
                  <a:srgbClr val="7A8C94"/>
                </a:solidFill>
                <a:latin typeface="Arial"/>
              </a:rPr>
              <a:t>9</a:t>
            </a:r>
          </a:p>
        </p:txBody>
      </p:sp>
      <p:sp>
        <p:nvSpPr>
          <p:cNvPr id="5" name="TextBox 4"/>
          <p:cNvSpPr txBox="1"/>
          <p:nvPr/>
        </p:nvSpPr>
        <p:spPr>
          <a:xfrm>
            <a:off x="658368" y="365760"/>
            <a:ext cx="10874959" cy="237744"/>
          </a:xfrm>
          <a:prstGeom prst="rect">
            <a:avLst/>
          </a:prstGeom>
          <a:noFill/>
        </p:spPr>
        <p:txBody>
          <a:bodyPr wrap="square" anchor="t" lIns="0" rIns="0" tIns="0" bIns="0">
            <a:spAutoFit/>
          </a:bodyPr>
          <a:lstStyle/>
          <a:p>
            <a:pPr algn="l">
              <a:lnSpc>
                <a:spcPct val="116000"/>
              </a:lnSpc>
              <a:spcBef>
                <a:spcPts val="0"/>
              </a:spcBef>
              <a:spcAft>
                <a:spcPts val="0"/>
              </a:spcAft>
            </a:pPr>
            <a:r>
              <a:rPr sz="1000" b="0" i="0">
                <a:solidFill>
                  <a:srgbClr val="A17431"/>
                </a:solidFill>
                <a:latin typeface="Arial"/>
              </a:rPr>
              <a:t>5 · SUPPORTING FEATURE A</a:t>
            </a:r>
          </a:p>
        </p:txBody>
      </p:sp>
      <p:sp>
        <p:nvSpPr>
          <p:cNvPr id="6" name="TextBox 5"/>
          <p:cNvSpPr txBox="1"/>
          <p:nvPr/>
        </p:nvSpPr>
        <p:spPr>
          <a:xfrm>
            <a:off x="658368" y="603504"/>
            <a:ext cx="10874959" cy="502920"/>
          </a:xfrm>
          <a:prstGeom prst="rect">
            <a:avLst/>
          </a:prstGeom>
          <a:noFill/>
        </p:spPr>
        <p:txBody>
          <a:bodyPr wrap="square" anchor="t" lIns="0" rIns="0" tIns="0" bIns="0">
            <a:spAutoFit/>
          </a:bodyPr>
          <a:lstStyle/>
          <a:p>
            <a:pPr algn="l">
              <a:lnSpc>
                <a:spcPct val="116000"/>
              </a:lnSpc>
              <a:spcBef>
                <a:spcPts val="0"/>
              </a:spcBef>
              <a:spcAft>
                <a:spcPts val="0"/>
              </a:spcAft>
            </a:pPr>
            <a:r>
              <a:rPr sz="2600" b="0" i="0">
                <a:solidFill>
                  <a:srgbClr val="315E75"/>
                </a:solidFill>
                <a:latin typeface="Arial"/>
              </a:rPr>
              <a:t>A monthly tower-defence season built from tokens already logged</a:t>
            </a:r>
          </a:p>
        </p:txBody>
      </p:sp>
      <p:sp>
        <p:nvSpPr>
          <p:cNvPr id="7" name="Rectangle 6"/>
          <p:cNvSpPr/>
          <p:nvPr/>
        </p:nvSpPr>
        <p:spPr>
          <a:xfrm>
            <a:off x="658368" y="1225296"/>
            <a:ext cx="10874959" cy="22860"/>
          </a:xfrm>
          <a:prstGeom prst="rect">
            <a:avLst/>
          </a:prstGeom>
          <a:solidFill>
            <a:srgbClr val="315E75"/>
          </a:solidFill>
          <a:ln>
            <a:noFill/>
          </a:ln>
          <a:effectLst/>
        </p:spPr>
        <p:txBody>
          <a:bodyPr rtlCol="0" anchor="ctr" wrap="square"/>
          <a:lstStyle/>
          <a:p>
            <a:pPr algn="ctr"/>
          </a:p>
        </p:txBody>
      </p:sp>
      <p:pic>
        <p:nvPicPr>
          <p:cNvPr id="8" name="Picture 7" descr="fig_game.png"/>
          <p:cNvPicPr>
            <a:picLocks noChangeAspect="1"/>
          </p:cNvPicPr>
          <p:nvPr/>
        </p:nvPicPr>
        <p:blipFill>
          <a:blip r:embed="rId2"/>
          <a:stretch>
            <a:fillRect/>
          </a:stretch>
        </p:blipFill>
        <p:spPr>
          <a:xfrm>
            <a:off x="658368" y="1481328"/>
            <a:ext cx="2602531" cy="4617720"/>
          </a:xfrm>
          <a:prstGeom prst="rect">
            <a:avLst/>
          </a:prstGeom>
        </p:spPr>
      </p:pic>
      <p:sp>
        <p:nvSpPr>
          <p:cNvPr id="9" name="TextBox 8"/>
          <p:cNvSpPr txBox="1"/>
          <p:nvPr/>
        </p:nvSpPr>
        <p:spPr>
          <a:xfrm>
            <a:off x="3310128" y="1481328"/>
            <a:ext cx="8223199" cy="4617720"/>
          </a:xfrm>
          <a:prstGeom prst="rect">
            <a:avLst/>
          </a:prstGeom>
          <a:noFill/>
        </p:spPr>
        <p:txBody>
          <a:bodyPr wrap="square" anchor="t" lIns="0" rIns="0" tIns="0" bIns="0">
            <a:spAutoFit/>
          </a:bodyPr>
          <a:lstStyle/>
          <a:p>
            <a:pPr algn="l">
              <a:lnSpc>
                <a:spcPct val="114000"/>
              </a:lnSpc>
              <a:spcBef>
                <a:spcPts val="0"/>
              </a:spcBef>
              <a:spcAft>
                <a:spcPts val="700"/>
              </a:spcAft>
            </a:pPr>
            <a:r>
              <a:rPr sz="1250" b="0" i="0">
                <a:solidFill>
                  <a:srgbClr val="A17431"/>
                </a:solidFill>
                <a:latin typeface="Arial"/>
              </a:rPr>
              <a:t>▪  </a:t>
            </a:r>
            <a:r>
              <a:rPr sz="1250" b="1" i="0">
                <a:solidFill>
                  <a:srgbClr val="315E75"/>
                </a:solidFill>
                <a:latin typeface="Arial"/>
              </a:rPr>
              <a:t>It is a supporting tab.  </a:t>
            </a:r>
            <a:r>
              <a:rPr sz="1250" b="0" i="0">
                <a:solidFill>
                  <a:srgbClr val="2B3A42"/>
                </a:solidFill>
                <a:latin typeface="Arial"/>
              </a:rPr>
              <a:t>Reached from the bottom bar, beside the forum. It is played in monthly seasons that match the billing cycle the provider subscriptions already follow.</a:t>
            </a:r>
          </a:p>
          <a:p>
            <a:pPr algn="l">
              <a:lnSpc>
                <a:spcPct val="114000"/>
              </a:lnSpc>
              <a:spcBef>
                <a:spcPts val="0"/>
              </a:spcBef>
              <a:spcAft>
                <a:spcPts val="700"/>
              </a:spcAft>
            </a:pPr>
            <a:r>
              <a:rPr sz="1250" b="0" i="0">
                <a:solidFill>
                  <a:srgbClr val="A17431"/>
                </a:solidFill>
                <a:latin typeface="Arial"/>
              </a:rPr>
              <a:t>▪  </a:t>
            </a:r>
            <a:r>
              <a:rPr sz="1250" b="1" i="0">
                <a:solidFill>
                  <a:srgbClr val="315E75"/>
                </a:solidFill>
                <a:latin typeface="Arial"/>
              </a:rPr>
              <a:t>Tokens become resources.  </a:t>
            </a:r>
            <a:r>
              <a:rPr sz="1250" b="0" i="0">
                <a:solidFill>
                  <a:srgbClr val="2B3A42"/>
                </a:solidFill>
                <a:latin typeface="Arial"/>
              </a:rPr>
              <a:t>Input, cache and output tokens already logged convert into separate resource pools at a fixed rate per million tokens.</a:t>
            </a:r>
          </a:p>
          <a:p>
            <a:pPr algn="l">
              <a:lnSpc>
                <a:spcPct val="114000"/>
              </a:lnSpc>
              <a:spcBef>
                <a:spcPts val="0"/>
              </a:spcBef>
              <a:spcAft>
                <a:spcPts val="700"/>
              </a:spcAft>
            </a:pPr>
            <a:r>
              <a:rPr sz="1250" b="0" i="0">
                <a:solidFill>
                  <a:srgbClr val="A17431"/>
                </a:solidFill>
                <a:latin typeface="Arial"/>
              </a:rPr>
              <a:t>▪  </a:t>
            </a:r>
            <a:r>
              <a:rPr sz="1250" b="1" i="0">
                <a:solidFill>
                  <a:srgbClr val="315E75"/>
                </a:solidFill>
                <a:latin typeface="Arial"/>
              </a:rPr>
              <a:t>You plan the space yourself.  </a:t>
            </a:r>
            <a:r>
              <a:rPr sz="1250" b="0" i="0">
                <a:solidFill>
                  <a:srgbClr val="2B3A42"/>
                </a:solidFill>
                <a:latin typeface="Arial"/>
              </a:rPr>
              <a:t>Towers and wall segments are placed and upgraded by hand on a build grid around the data-centre core, which expands in one direction.</a:t>
            </a:r>
          </a:p>
          <a:p>
            <a:pPr algn="l">
              <a:lnSpc>
                <a:spcPct val="114000"/>
              </a:lnSpc>
              <a:spcBef>
                <a:spcPts val="0"/>
              </a:spcBef>
              <a:spcAft>
                <a:spcPts val="700"/>
              </a:spcAft>
            </a:pPr>
            <a:r>
              <a:rPr sz="1250" b="0" i="0">
                <a:solidFill>
                  <a:srgbClr val="A17431"/>
                </a:solidFill>
                <a:latin typeface="Arial"/>
              </a:rPr>
              <a:t>▪  </a:t>
            </a:r>
            <a:r>
              <a:rPr sz="1250" b="1" i="0">
                <a:solidFill>
                  <a:srgbClr val="315E75"/>
                </a:solidFill>
                <a:latin typeface="Arial"/>
              </a:rPr>
              <a:t>Enemies arrive from one side.  </a:t>
            </a:r>
            <a:r>
              <a:rPr sz="1250" b="0" i="0">
                <a:solidFill>
                  <a:srgbClr val="2B3A42"/>
                </a:solidFill>
                <a:latin typeface="Arial"/>
              </a:rPr>
              <a:t>A wave enters from a single edge, so where each tower stands and whether the walls close decide how the wave goes.</a:t>
            </a:r>
          </a:p>
          <a:p>
            <a:pPr algn="l">
              <a:lnSpc>
                <a:spcPct val="114000"/>
              </a:lnSpc>
              <a:spcBef>
                <a:spcPts val="0"/>
              </a:spcBef>
              <a:spcAft>
                <a:spcPts val="700"/>
              </a:spcAft>
            </a:pPr>
            <a:r>
              <a:rPr sz="1250" b="0" i="0">
                <a:solidFill>
                  <a:srgbClr val="A17431"/>
                </a:solidFill>
                <a:latin typeface="Arial"/>
              </a:rPr>
              <a:t>▪  </a:t>
            </a:r>
            <a:r>
              <a:rPr sz="1250" b="1" i="0">
                <a:solidFill>
                  <a:srgbClr val="315E75"/>
                </a:solidFill>
                <a:latin typeface="Arial"/>
              </a:rPr>
              <a:t>A wave starts when you start it.  </a:t>
            </a:r>
            <a:r>
              <a:rPr sz="1250" b="0" i="0">
                <a:solidFill>
                  <a:srgbClr val="2B3A42"/>
                </a:solidFill>
                <a:latin typeface="Arial"/>
              </a:rPr>
              <a:t>Waves run in real time, so no offline simulation is needed. The season resets each month, and the server settles each completed day once.</a:t>
            </a:r>
          </a:p>
          <a:p>
            <a:pPr algn="l">
              <a:lnSpc>
                <a:spcPct val="116000"/>
              </a:lnSpc>
              <a:spcBef>
                <a:spcPts val="600"/>
              </a:spcBef>
              <a:spcAft>
                <a:spcPts val="0"/>
              </a:spcAft>
            </a:pPr>
            <a:r>
              <a:rPr sz="1200" b="1" i="0">
                <a:solidFill>
                  <a:srgbClr val="2E766E"/>
                </a:solidFill>
                <a:latin typeface="Arial"/>
              </a:rPr>
              <a:t>Why it matters.  </a:t>
            </a:r>
            <a:r>
              <a:rPr sz="1200" b="0" i="0">
                <a:solidFill>
                  <a:srgbClr val="2B3A42"/>
                </a:solidFill>
                <a:latin typeface="Arial"/>
              </a:rPr>
              <a:t>A day of agent work leaves a visible result without asking the user to spend differently. Playing never changes usage, cost or budget totals, and re-importing the same logs grants no duplicate resources — so the balance cannot be reached on invented 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58368" y="6309360"/>
            <a:ext cx="10874959" cy="12801"/>
          </a:xfrm>
          <a:prstGeom prst="rect">
            <a:avLst/>
          </a:prstGeom>
          <a:solidFill>
            <a:srgbClr val="BDD0D8"/>
          </a:solidFill>
          <a:ln>
            <a:noFill/>
          </a:ln>
          <a:effectLst/>
        </p:spPr>
        <p:txBody>
          <a:bodyPr rtlCol="0" anchor="ctr" wrap="square"/>
          <a:lstStyle/>
          <a:p>
            <a:pPr algn="ctr"/>
          </a:p>
        </p:txBody>
      </p:sp>
      <p:sp>
        <p:nvSpPr>
          <p:cNvPr id="3" name="TextBox 2"/>
          <p:cNvSpPr txBox="1"/>
          <p:nvPr/>
        </p:nvSpPr>
        <p:spPr>
          <a:xfrm>
            <a:off x="658368" y="6419088"/>
            <a:ext cx="7612471" cy="274320"/>
          </a:xfrm>
          <a:prstGeom prst="rect">
            <a:avLst/>
          </a:prstGeom>
          <a:noFill/>
        </p:spPr>
        <p:txBody>
          <a:bodyPr wrap="square" anchor="t" lIns="0" rIns="0" tIns="0" bIns="0">
            <a:spAutoFit/>
          </a:bodyPr>
          <a:lstStyle/>
          <a:p>
            <a:pPr algn="l">
              <a:lnSpc>
                <a:spcPct val="116000"/>
              </a:lnSpc>
              <a:spcBef>
                <a:spcPts val="0"/>
              </a:spcBef>
              <a:spcAft>
                <a:spcPts val="0"/>
              </a:spcAft>
            </a:pPr>
            <a:r>
              <a:rPr sz="900" b="0" i="0">
                <a:solidFill>
                  <a:srgbClr val="7A8C94"/>
                </a:solidFill>
                <a:latin typeface="Arial"/>
              </a:rPr>
              <a:t>TokenTrail · Group 20 · Android App Project Outline</a:t>
            </a:r>
          </a:p>
        </p:txBody>
      </p:sp>
      <p:sp>
        <p:nvSpPr>
          <p:cNvPr id="4" name="TextBox 3"/>
          <p:cNvSpPr txBox="1"/>
          <p:nvPr/>
        </p:nvSpPr>
        <p:spPr>
          <a:xfrm>
            <a:off x="10436047" y="6419088"/>
            <a:ext cx="1097280" cy="274320"/>
          </a:xfrm>
          <a:prstGeom prst="rect">
            <a:avLst/>
          </a:prstGeom>
          <a:noFill/>
        </p:spPr>
        <p:txBody>
          <a:bodyPr wrap="square" anchor="t" lIns="0" rIns="0" tIns="0" bIns="0">
            <a:spAutoFit/>
          </a:bodyPr>
          <a:lstStyle/>
          <a:p>
            <a:pPr algn="r">
              <a:lnSpc>
                <a:spcPct val="116000"/>
              </a:lnSpc>
              <a:spcBef>
                <a:spcPts val="0"/>
              </a:spcBef>
              <a:spcAft>
                <a:spcPts val="0"/>
              </a:spcAft>
            </a:pPr>
            <a:r>
              <a:rPr sz="900" b="0" i="0">
                <a:solidFill>
                  <a:srgbClr val="7A8C94"/>
                </a:solidFill>
                <a:latin typeface="Arial"/>
              </a:rPr>
              <a:t>10</a:t>
            </a:r>
          </a:p>
        </p:txBody>
      </p:sp>
      <p:sp>
        <p:nvSpPr>
          <p:cNvPr id="5" name="TextBox 4"/>
          <p:cNvSpPr txBox="1"/>
          <p:nvPr/>
        </p:nvSpPr>
        <p:spPr>
          <a:xfrm>
            <a:off x="658368" y="365760"/>
            <a:ext cx="10874959" cy="237744"/>
          </a:xfrm>
          <a:prstGeom prst="rect">
            <a:avLst/>
          </a:prstGeom>
          <a:noFill/>
        </p:spPr>
        <p:txBody>
          <a:bodyPr wrap="square" anchor="t" lIns="0" rIns="0" tIns="0" bIns="0">
            <a:spAutoFit/>
          </a:bodyPr>
          <a:lstStyle/>
          <a:p>
            <a:pPr algn="l">
              <a:lnSpc>
                <a:spcPct val="116000"/>
              </a:lnSpc>
              <a:spcBef>
                <a:spcPts val="0"/>
              </a:spcBef>
              <a:spcAft>
                <a:spcPts val="0"/>
              </a:spcAft>
            </a:pPr>
            <a:r>
              <a:rPr sz="1000" b="0" i="0">
                <a:solidFill>
                  <a:srgbClr val="A17431"/>
                </a:solidFill>
                <a:latin typeface="Arial"/>
              </a:rPr>
              <a:t>5 · CORE FEATURE B</a:t>
            </a:r>
          </a:p>
        </p:txBody>
      </p:sp>
      <p:sp>
        <p:nvSpPr>
          <p:cNvPr id="6" name="TextBox 5"/>
          <p:cNvSpPr txBox="1"/>
          <p:nvPr/>
        </p:nvSpPr>
        <p:spPr>
          <a:xfrm>
            <a:off x="658368" y="603504"/>
            <a:ext cx="10874959" cy="502920"/>
          </a:xfrm>
          <a:prstGeom prst="rect">
            <a:avLst/>
          </a:prstGeom>
          <a:noFill/>
        </p:spPr>
        <p:txBody>
          <a:bodyPr wrap="square" anchor="t" lIns="0" rIns="0" tIns="0" bIns="0">
            <a:spAutoFit/>
          </a:bodyPr>
          <a:lstStyle/>
          <a:p>
            <a:pPr algn="l">
              <a:lnSpc>
                <a:spcPct val="116000"/>
              </a:lnSpc>
              <a:spcBef>
                <a:spcPts val="0"/>
              </a:spcBef>
              <a:spcAft>
                <a:spcPts val="0"/>
              </a:spcAft>
            </a:pPr>
            <a:r>
              <a:rPr sz="2600" b="0" i="0">
                <a:solidFill>
                  <a:srgbClr val="315E75"/>
                </a:solidFill>
                <a:latin typeface="Arial"/>
              </a:rPr>
              <a:t>An assistant that answers from evidence, not opinion</a:t>
            </a:r>
          </a:p>
        </p:txBody>
      </p:sp>
      <p:sp>
        <p:nvSpPr>
          <p:cNvPr id="7" name="Rectangle 6"/>
          <p:cNvSpPr/>
          <p:nvPr/>
        </p:nvSpPr>
        <p:spPr>
          <a:xfrm>
            <a:off x="658368" y="1225296"/>
            <a:ext cx="10874959" cy="22860"/>
          </a:xfrm>
          <a:prstGeom prst="rect">
            <a:avLst/>
          </a:prstGeom>
          <a:solidFill>
            <a:srgbClr val="315E75"/>
          </a:solidFill>
          <a:ln>
            <a:noFill/>
          </a:ln>
          <a:effectLst/>
        </p:spPr>
        <p:txBody>
          <a:bodyPr rtlCol="0" anchor="ctr" wrap="square"/>
          <a:lstStyle/>
          <a:p>
            <a:pPr algn="ctr"/>
          </a:p>
        </p:txBody>
      </p:sp>
      <p:pic>
        <p:nvPicPr>
          <p:cNvPr id="8" name="Picture 7" descr="fig_agent.png"/>
          <p:cNvPicPr>
            <a:picLocks noChangeAspect="1"/>
          </p:cNvPicPr>
          <p:nvPr/>
        </p:nvPicPr>
        <p:blipFill>
          <a:blip r:embed="rId2"/>
          <a:stretch>
            <a:fillRect/>
          </a:stretch>
        </p:blipFill>
        <p:spPr>
          <a:xfrm>
            <a:off x="658368" y="1481328"/>
            <a:ext cx="2602531" cy="4617720"/>
          </a:xfrm>
          <a:prstGeom prst="rect">
            <a:avLst/>
          </a:prstGeom>
        </p:spPr>
      </p:pic>
      <p:sp>
        <p:nvSpPr>
          <p:cNvPr id="9" name="TextBox 8"/>
          <p:cNvSpPr txBox="1"/>
          <p:nvPr/>
        </p:nvSpPr>
        <p:spPr>
          <a:xfrm>
            <a:off x="3310128" y="1481328"/>
            <a:ext cx="8223199" cy="4617720"/>
          </a:xfrm>
          <a:prstGeom prst="rect">
            <a:avLst/>
          </a:prstGeom>
          <a:noFill/>
        </p:spPr>
        <p:txBody>
          <a:bodyPr wrap="square" anchor="t" lIns="0" rIns="0" tIns="0" bIns="0">
            <a:spAutoFit/>
          </a:bodyPr>
          <a:lstStyle/>
          <a:p>
            <a:pPr algn="l">
              <a:lnSpc>
                <a:spcPct val="113000"/>
              </a:lnSpc>
              <a:spcBef>
                <a:spcPts val="0"/>
              </a:spcBef>
              <a:spcAft>
                <a:spcPts val="600"/>
              </a:spcAft>
            </a:pPr>
            <a:r>
              <a:rPr sz="1200" b="0" i="0">
                <a:solidFill>
                  <a:srgbClr val="A17431"/>
                </a:solidFill>
                <a:latin typeface="Arial"/>
              </a:rPr>
              <a:t>▪  </a:t>
            </a:r>
            <a:r>
              <a:rPr sz="1200" b="1" i="0">
                <a:solidFill>
                  <a:srgbClr val="315E75"/>
                </a:solidFill>
                <a:latin typeface="Arial"/>
              </a:rPr>
              <a:t>It lives on the home screen.  </a:t>
            </a:r>
            <a:r>
              <a:rPr sz="1200" b="0" i="0">
                <a:solidFill>
                  <a:srgbClr val="2B3A42"/>
                </a:solidFill>
                <a:latin typeface="Arial"/>
              </a:rPr>
              <a:t>An "Ask AI / hold to talk" entry above the navigation opens an expandable panel on the analytics dashboard, where the figures it reasons about already are. It reads your logged usage and recent forum posts.</a:t>
            </a:r>
          </a:p>
          <a:p>
            <a:pPr algn="l">
              <a:lnSpc>
                <a:spcPct val="113000"/>
              </a:lnSpc>
              <a:spcBef>
                <a:spcPts val="0"/>
              </a:spcBef>
              <a:spcAft>
                <a:spcPts val="600"/>
              </a:spcAft>
            </a:pPr>
            <a:r>
              <a:rPr sz="1200" b="0" i="0">
                <a:solidFill>
                  <a:srgbClr val="A17431"/>
                </a:solidFill>
                <a:latin typeface="Arial"/>
              </a:rPr>
              <a:t>▪  </a:t>
            </a:r>
            <a:r>
              <a:rPr sz="1200" b="1" i="0">
                <a:solidFill>
                  <a:srgbClr val="315E75"/>
                </a:solidFill>
                <a:latin typeface="Arial"/>
              </a:rPr>
              <a:t>Ask by text, or hold to talk.  </a:t>
            </a:r>
            <a:r>
              <a:rPr sz="1200" b="0" i="0">
                <a:solidFill>
                  <a:srgbClr val="2B3A42"/>
                </a:solidFill>
                <a:latin typeface="Arial"/>
              </a:rPr>
              <a:t>Dictate a question, then review or edit the transcript before sending. The microphone is requested when used; denial or failure leaves typing available, and raw audio is not retained by default.</a:t>
            </a:r>
          </a:p>
          <a:p>
            <a:pPr algn="l">
              <a:lnSpc>
                <a:spcPct val="113000"/>
              </a:lnSpc>
              <a:spcBef>
                <a:spcPts val="0"/>
              </a:spcBef>
              <a:spcAft>
                <a:spcPts val="600"/>
              </a:spcAft>
            </a:pPr>
            <a:r>
              <a:rPr sz="1200" b="0" i="0">
                <a:solidFill>
                  <a:srgbClr val="A17431"/>
                </a:solidFill>
                <a:latin typeface="Arial"/>
              </a:rPr>
              <a:t>▪  </a:t>
            </a:r>
            <a:r>
              <a:rPr sz="1200" b="1" i="0">
                <a:solidFill>
                  <a:srgbClr val="315E75"/>
                </a:solidFill>
                <a:latin typeface="Arial"/>
              </a:rPr>
              <a:t>A Java service does the work.  </a:t>
            </a:r>
            <a:r>
              <a:rPr sz="1200" b="0" i="0">
                <a:solidFill>
                  <a:srgbClr val="2B3A42"/>
                </a:solidFill>
                <a:latin typeface="Arial"/>
              </a:rPr>
              <a:t>It calls one selected OpenAI, Xiaomi MiMo or DeepSeek pay-as-you-go model, which may request tools through function calling. Java executes and validates every call.</a:t>
            </a:r>
          </a:p>
          <a:p>
            <a:pPr algn="l">
              <a:lnSpc>
                <a:spcPct val="113000"/>
              </a:lnSpc>
              <a:spcBef>
                <a:spcPts val="0"/>
              </a:spcBef>
              <a:spcAft>
                <a:spcPts val="600"/>
              </a:spcAft>
            </a:pPr>
            <a:r>
              <a:rPr sz="1200" b="0" i="0">
                <a:solidFill>
                  <a:srgbClr val="A17431"/>
                </a:solidFill>
                <a:latin typeface="Arial"/>
              </a:rPr>
              <a:t>▪  </a:t>
            </a:r>
            <a:r>
              <a:rPr sz="1200" b="1" i="0">
                <a:solidFill>
                  <a:srgbClr val="315E75"/>
                </a:solidFill>
                <a:latin typeface="Arial"/>
              </a:rPr>
              <a:t>Five read-only tools.  </a:t>
            </a:r>
            <a:r>
              <a:rPr sz="1200" b="0" i="0">
                <a:solidFill>
                  <a:srgbClr val="2B3A42"/>
                </a:solidFill>
                <a:latin typeface="Arial"/>
              </a:rPr>
              <a:t>getUsageSummary · getBudgetStatus · compareAgentCosts · getForumHighlights · getMyThreads. The UID comes from the signed session token, never from a parameter.</a:t>
            </a:r>
          </a:p>
          <a:p>
            <a:pPr algn="l">
              <a:lnSpc>
                <a:spcPct val="113000"/>
              </a:lnSpc>
              <a:spcBef>
                <a:spcPts val="0"/>
              </a:spcBef>
              <a:spcAft>
                <a:spcPts val="600"/>
              </a:spcAft>
            </a:pPr>
            <a:r>
              <a:rPr sz="1200" b="0" i="0">
                <a:solidFill>
                  <a:srgbClr val="A17431"/>
                </a:solidFill>
                <a:latin typeface="Arial"/>
              </a:rPr>
              <a:t>▪  </a:t>
            </a:r>
            <a:r>
              <a:rPr sz="1200" b="1" i="0">
                <a:solidFill>
                  <a:srgbClr val="315E75"/>
                </a:solidFill>
                <a:latin typeface="Arial"/>
              </a:rPr>
              <a:t>It admits what it does not know.  </a:t>
            </a:r>
            <a:r>
              <a:rPr sz="1200" b="0" i="0">
                <a:solidFill>
                  <a:srgbClr val="2B3A42"/>
                </a:solidFill>
                <a:latin typeface="Arial"/>
              </a:rPr>
              <a:t>Replies state evidence, price versions and missing data; no logs means no cost-based answer. Its own tokens and cost sit in a separate ledger, excluded from coding-agent totals and game resources.</a:t>
            </a:r>
          </a:p>
          <a:p>
            <a:pPr algn="l">
              <a:lnSpc>
                <a:spcPct val="115000"/>
              </a:lnSpc>
              <a:spcBef>
                <a:spcPts val="500"/>
              </a:spcBef>
              <a:spcAft>
                <a:spcPts val="0"/>
              </a:spcAft>
            </a:pPr>
            <a:r>
              <a:rPr sz="1150" b="1" i="0">
                <a:solidFill>
                  <a:srgbClr val="2E766E"/>
                </a:solidFill>
                <a:latin typeface="Arial"/>
              </a:rPr>
              <a:t>Boundary.  </a:t>
            </a:r>
            <a:r>
              <a:rPr sz="1150" b="0" i="0">
                <a:solidFill>
                  <a:srgbClr val="2B3A42"/>
                </a:solidFill>
                <a:latin typeface="Arial"/>
              </a:rPr>
              <a:t>It can recommend but cannot run or interrupt a coding agent, and cannot enforce a hard spending cap. It compares cost and token use, never answer quality.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58368" y="6309360"/>
            <a:ext cx="10874959" cy="12801"/>
          </a:xfrm>
          <a:prstGeom prst="rect">
            <a:avLst/>
          </a:prstGeom>
          <a:solidFill>
            <a:srgbClr val="BDD0D8"/>
          </a:solidFill>
          <a:ln>
            <a:noFill/>
          </a:ln>
          <a:effectLst/>
        </p:spPr>
        <p:txBody>
          <a:bodyPr rtlCol="0" anchor="ctr" wrap="square"/>
          <a:lstStyle/>
          <a:p>
            <a:pPr algn="ctr"/>
          </a:p>
        </p:txBody>
      </p:sp>
      <p:sp>
        <p:nvSpPr>
          <p:cNvPr id="3" name="TextBox 2"/>
          <p:cNvSpPr txBox="1"/>
          <p:nvPr/>
        </p:nvSpPr>
        <p:spPr>
          <a:xfrm>
            <a:off x="658368" y="6419088"/>
            <a:ext cx="7612471" cy="274320"/>
          </a:xfrm>
          <a:prstGeom prst="rect">
            <a:avLst/>
          </a:prstGeom>
          <a:noFill/>
        </p:spPr>
        <p:txBody>
          <a:bodyPr wrap="square" anchor="t" lIns="0" rIns="0" tIns="0" bIns="0">
            <a:spAutoFit/>
          </a:bodyPr>
          <a:lstStyle/>
          <a:p>
            <a:pPr algn="l">
              <a:lnSpc>
                <a:spcPct val="116000"/>
              </a:lnSpc>
              <a:spcBef>
                <a:spcPts val="0"/>
              </a:spcBef>
              <a:spcAft>
                <a:spcPts val="0"/>
              </a:spcAft>
            </a:pPr>
            <a:r>
              <a:rPr sz="900" b="0" i="0">
                <a:solidFill>
                  <a:srgbClr val="7A8C94"/>
                </a:solidFill>
                <a:latin typeface="Arial"/>
              </a:rPr>
              <a:t>TokenTrail · Group 20 · Android App Project Outline</a:t>
            </a:r>
          </a:p>
        </p:txBody>
      </p:sp>
      <p:sp>
        <p:nvSpPr>
          <p:cNvPr id="4" name="TextBox 3"/>
          <p:cNvSpPr txBox="1"/>
          <p:nvPr/>
        </p:nvSpPr>
        <p:spPr>
          <a:xfrm>
            <a:off x="10436047" y="6419088"/>
            <a:ext cx="1097280" cy="274320"/>
          </a:xfrm>
          <a:prstGeom prst="rect">
            <a:avLst/>
          </a:prstGeom>
          <a:noFill/>
        </p:spPr>
        <p:txBody>
          <a:bodyPr wrap="square" anchor="t" lIns="0" rIns="0" tIns="0" bIns="0">
            <a:spAutoFit/>
          </a:bodyPr>
          <a:lstStyle/>
          <a:p>
            <a:pPr algn="r">
              <a:lnSpc>
                <a:spcPct val="116000"/>
              </a:lnSpc>
              <a:spcBef>
                <a:spcPts val="0"/>
              </a:spcBef>
              <a:spcAft>
                <a:spcPts val="0"/>
              </a:spcAft>
            </a:pPr>
            <a:r>
              <a:rPr sz="900" b="0" i="0">
                <a:solidFill>
                  <a:srgbClr val="7A8C94"/>
                </a:solidFill>
                <a:latin typeface="Arial"/>
              </a:rPr>
              <a:t>11</a:t>
            </a:r>
          </a:p>
        </p:txBody>
      </p:sp>
      <p:sp>
        <p:nvSpPr>
          <p:cNvPr id="5" name="TextBox 4"/>
          <p:cNvSpPr txBox="1"/>
          <p:nvPr/>
        </p:nvSpPr>
        <p:spPr>
          <a:xfrm>
            <a:off x="658368" y="365760"/>
            <a:ext cx="10874959" cy="237744"/>
          </a:xfrm>
          <a:prstGeom prst="rect">
            <a:avLst/>
          </a:prstGeom>
          <a:noFill/>
        </p:spPr>
        <p:txBody>
          <a:bodyPr wrap="square" anchor="t" lIns="0" rIns="0" tIns="0" bIns="0">
            <a:spAutoFit/>
          </a:bodyPr>
          <a:lstStyle/>
          <a:p>
            <a:pPr algn="l">
              <a:lnSpc>
                <a:spcPct val="116000"/>
              </a:lnSpc>
              <a:spcBef>
                <a:spcPts val="0"/>
              </a:spcBef>
              <a:spcAft>
                <a:spcPts val="0"/>
              </a:spcAft>
            </a:pPr>
            <a:r>
              <a:rPr sz="1000" b="0" i="0">
                <a:solidFill>
                  <a:srgbClr val="A17431"/>
                </a:solidFill>
                <a:latin typeface="Arial"/>
              </a:rPr>
              <a:t>5 · HOW IT IS IMPLEMENTED</a:t>
            </a:r>
          </a:p>
        </p:txBody>
      </p:sp>
      <p:sp>
        <p:nvSpPr>
          <p:cNvPr id="6" name="TextBox 5"/>
          <p:cNvSpPr txBox="1"/>
          <p:nvPr/>
        </p:nvSpPr>
        <p:spPr>
          <a:xfrm>
            <a:off x="658368" y="603504"/>
            <a:ext cx="10874959" cy="502920"/>
          </a:xfrm>
          <a:prstGeom prst="rect">
            <a:avLst/>
          </a:prstGeom>
          <a:noFill/>
        </p:spPr>
        <p:txBody>
          <a:bodyPr wrap="square" anchor="t" lIns="0" rIns="0" tIns="0" bIns="0">
            <a:spAutoFit/>
          </a:bodyPr>
          <a:lstStyle/>
          <a:p>
            <a:pPr algn="l">
              <a:lnSpc>
                <a:spcPct val="116000"/>
              </a:lnSpc>
              <a:spcBef>
                <a:spcPts val="0"/>
              </a:spcBef>
              <a:spcAft>
                <a:spcPts val="0"/>
              </a:spcAft>
            </a:pPr>
            <a:r>
              <a:rPr sz="2600" b="0" i="0">
                <a:solidFill>
                  <a:srgbClr val="315E75"/>
                </a:solidFill>
                <a:latin typeface="Arial"/>
              </a:rPr>
              <a:t>One path from logs to the app, and the four data aspects</a:t>
            </a:r>
          </a:p>
        </p:txBody>
      </p:sp>
      <p:sp>
        <p:nvSpPr>
          <p:cNvPr id="7" name="Rectangle 6"/>
          <p:cNvSpPr/>
          <p:nvPr/>
        </p:nvSpPr>
        <p:spPr>
          <a:xfrm>
            <a:off x="658368" y="1225296"/>
            <a:ext cx="10874959" cy="22860"/>
          </a:xfrm>
          <a:prstGeom prst="rect">
            <a:avLst/>
          </a:prstGeom>
          <a:solidFill>
            <a:srgbClr val="315E75"/>
          </a:solidFill>
          <a:ln>
            <a:noFill/>
          </a:ln>
          <a:effectLst/>
        </p:spPr>
        <p:txBody>
          <a:bodyPr rtlCol="0" anchor="ctr" wrap="square"/>
          <a:lstStyle/>
          <a:p>
            <a:pPr algn="ctr"/>
          </a:p>
        </p:txBody>
      </p:sp>
      <p:pic>
        <p:nvPicPr>
          <p:cNvPr id="8" name="Picture 7" descr="fig_flow.png"/>
          <p:cNvPicPr>
            <a:picLocks noChangeAspect="1"/>
          </p:cNvPicPr>
          <p:nvPr/>
        </p:nvPicPr>
        <p:blipFill>
          <a:blip r:embed="rId2"/>
          <a:stretch>
            <a:fillRect/>
          </a:stretch>
        </p:blipFill>
        <p:spPr>
          <a:xfrm>
            <a:off x="2163927" y="1444752"/>
            <a:ext cx="7863840" cy="1501940"/>
          </a:xfrm>
          <a:prstGeom prst="rect">
            <a:avLst/>
          </a:prstGeom>
        </p:spPr>
      </p:pic>
      <p:sp>
        <p:nvSpPr>
          <p:cNvPr id="9" name="Rounded Rectangle 8"/>
          <p:cNvSpPr/>
          <p:nvPr/>
        </p:nvSpPr>
        <p:spPr>
          <a:xfrm>
            <a:off x="658368" y="3054096"/>
            <a:ext cx="2581579" cy="1426464"/>
          </a:xfrm>
          <a:prstGeom prst="roundRect">
            <a:avLst>
              <a:gd name="adj" fmla="val 6000"/>
            </a:avLst>
          </a:prstGeom>
          <a:solidFill>
            <a:srgbClr val="EAF3F7"/>
          </a:solidFill>
          <a:ln w="9525">
            <a:solidFill>
              <a:srgbClr val="BDD0D8"/>
            </a:solidFill>
          </a:ln>
          <a:effectLst/>
        </p:spPr>
        <p:txBody>
          <a:bodyPr rtlCol="0" anchor="t" wrap="square" lIns="128016" rIns="128016" tIns="102412" bIns="102412"/>
          <a:lstStyle/>
          <a:p>
            <a:pPr algn="l">
              <a:lnSpc>
                <a:spcPct val="116000"/>
              </a:lnSpc>
              <a:spcBef>
                <a:spcPts val="0"/>
              </a:spcBef>
              <a:spcAft>
                <a:spcPts val="300"/>
              </a:spcAft>
            </a:pPr>
            <a:r>
              <a:rPr sz="1250" b="1" i="0">
                <a:solidFill>
                  <a:srgbClr val="315E75"/>
                </a:solidFill>
                <a:latin typeface="Arial"/>
              </a:rPr>
              <a:t>Data input</a:t>
            </a:r>
          </a:p>
          <a:p>
            <a:pPr algn="l">
              <a:lnSpc>
                <a:spcPct val="114000"/>
              </a:lnSpc>
              <a:spcBef>
                <a:spcPts val="0"/>
              </a:spcBef>
              <a:spcAft>
                <a:spcPts val="0"/>
              </a:spcAft>
            </a:pPr>
            <a:r>
              <a:rPr sz="1050" b="0" i="0">
                <a:solidFill>
                  <a:srgbClr val="2B3A42"/>
                </a:solidFill>
                <a:latin typeface="Arial"/>
              </a:rPr>
              <a:t>Profiles, billing mode and budgets; authorised logs, text or confirmed speech, posts and game actions.</a:t>
            </a:r>
          </a:p>
        </p:txBody>
      </p:sp>
      <p:sp>
        <p:nvSpPr>
          <p:cNvPr id="10" name="Rounded Rectangle 9"/>
          <p:cNvSpPr/>
          <p:nvPr/>
        </p:nvSpPr>
        <p:spPr>
          <a:xfrm>
            <a:off x="3422827" y="3054096"/>
            <a:ext cx="2581579" cy="1426464"/>
          </a:xfrm>
          <a:prstGeom prst="roundRect">
            <a:avLst>
              <a:gd name="adj" fmla="val 6000"/>
            </a:avLst>
          </a:prstGeom>
          <a:solidFill>
            <a:srgbClr val="EDF6F2"/>
          </a:solidFill>
          <a:ln w="9525">
            <a:solidFill>
              <a:srgbClr val="BDD0D8"/>
            </a:solidFill>
          </a:ln>
          <a:effectLst/>
        </p:spPr>
        <p:txBody>
          <a:bodyPr rtlCol="0" anchor="t" wrap="square" lIns="128016" rIns="128016" tIns="102412" bIns="102412"/>
          <a:lstStyle/>
          <a:p>
            <a:pPr algn="l">
              <a:lnSpc>
                <a:spcPct val="116000"/>
              </a:lnSpc>
              <a:spcBef>
                <a:spcPts val="0"/>
              </a:spcBef>
              <a:spcAft>
                <a:spcPts val="300"/>
              </a:spcAft>
            </a:pPr>
            <a:r>
              <a:rPr sz="1250" b="1" i="0">
                <a:solidFill>
                  <a:srgbClr val="2E766E"/>
                </a:solidFill>
                <a:latin typeface="Arial"/>
              </a:rPr>
              <a:t>Data processing</a:t>
            </a:r>
          </a:p>
          <a:p>
            <a:pPr algn="l">
              <a:lnSpc>
                <a:spcPct val="114000"/>
              </a:lnSpc>
              <a:spcBef>
                <a:spcPts val="0"/>
              </a:spcBef>
              <a:spcAft>
                <a:spcPts val="0"/>
              </a:spcAft>
            </a:pPr>
            <a:r>
              <a:rPr sz="1050" b="0" i="0">
                <a:solidFill>
                  <a:srgbClr val="2B3A42"/>
                </a:solidFill>
                <a:latin typeface="Arial"/>
              </a:rPr>
              <a:t>Filter and de-duplicate logs; price usage; read-only summaries; rank posts and convert game resources.</a:t>
            </a:r>
          </a:p>
        </p:txBody>
      </p:sp>
      <p:sp>
        <p:nvSpPr>
          <p:cNvPr id="11" name="Rounded Rectangle 10"/>
          <p:cNvSpPr/>
          <p:nvPr/>
        </p:nvSpPr>
        <p:spPr>
          <a:xfrm>
            <a:off x="6187287" y="3054096"/>
            <a:ext cx="2581579" cy="1426464"/>
          </a:xfrm>
          <a:prstGeom prst="roundRect">
            <a:avLst>
              <a:gd name="adj" fmla="val 6000"/>
            </a:avLst>
          </a:prstGeom>
          <a:solidFill>
            <a:srgbClr val="EAF3F7"/>
          </a:solidFill>
          <a:ln w="9525">
            <a:solidFill>
              <a:srgbClr val="BDD0D8"/>
            </a:solidFill>
          </a:ln>
          <a:effectLst/>
        </p:spPr>
        <p:txBody>
          <a:bodyPr rtlCol="0" anchor="t" wrap="square" lIns="128016" rIns="128016" tIns="102412" bIns="102412"/>
          <a:lstStyle/>
          <a:p>
            <a:pPr algn="l">
              <a:lnSpc>
                <a:spcPct val="116000"/>
              </a:lnSpc>
              <a:spcBef>
                <a:spcPts val="0"/>
              </a:spcBef>
              <a:spcAft>
                <a:spcPts val="300"/>
              </a:spcAft>
            </a:pPr>
            <a:r>
              <a:rPr sz="1250" b="1" i="0">
                <a:solidFill>
                  <a:srgbClr val="315E75"/>
                </a:solidFill>
                <a:latin typeface="Arial"/>
              </a:rPr>
              <a:t>Data storage</a:t>
            </a:r>
          </a:p>
          <a:p>
            <a:pPr algn="l">
              <a:lnSpc>
                <a:spcPct val="114000"/>
              </a:lnSpc>
              <a:spcBef>
                <a:spcPts val="0"/>
              </a:spcBef>
              <a:spcAft>
                <a:spcPts val="0"/>
              </a:spcAft>
            </a:pPr>
            <a:r>
              <a:rPr sz="1050" b="0" i="0">
                <a:solidFill>
                  <a:srgbClr val="2B3A42"/>
                </a:solidFill>
                <a:latin typeface="Arial"/>
              </a:rPr>
              <a:t>The server-side store is authoritative: usage days, resource balances and settlement for the account; public posts are separate. Room keeps only a local cache.</a:t>
            </a:r>
          </a:p>
        </p:txBody>
      </p:sp>
      <p:sp>
        <p:nvSpPr>
          <p:cNvPr id="12" name="Rounded Rectangle 11"/>
          <p:cNvSpPr/>
          <p:nvPr/>
        </p:nvSpPr>
        <p:spPr>
          <a:xfrm>
            <a:off x="8951747" y="3054096"/>
            <a:ext cx="2581579" cy="1426464"/>
          </a:xfrm>
          <a:prstGeom prst="roundRect">
            <a:avLst>
              <a:gd name="adj" fmla="val 6000"/>
            </a:avLst>
          </a:prstGeom>
          <a:solidFill>
            <a:srgbClr val="FAF3E5"/>
          </a:solidFill>
          <a:ln w="9525">
            <a:solidFill>
              <a:srgbClr val="BDD0D8"/>
            </a:solidFill>
          </a:ln>
          <a:effectLst/>
        </p:spPr>
        <p:txBody>
          <a:bodyPr rtlCol="0" anchor="t" wrap="square" lIns="128016" rIns="128016" tIns="102412" bIns="102412"/>
          <a:lstStyle/>
          <a:p>
            <a:pPr algn="l">
              <a:lnSpc>
                <a:spcPct val="116000"/>
              </a:lnSpc>
              <a:spcBef>
                <a:spcPts val="0"/>
              </a:spcBef>
              <a:spcAft>
                <a:spcPts val="300"/>
              </a:spcAft>
            </a:pPr>
            <a:r>
              <a:rPr sz="1250" b="1" i="0">
                <a:solidFill>
                  <a:srgbClr val="A17431"/>
                </a:solidFill>
                <a:latin typeface="Arial"/>
              </a:rPr>
              <a:t>Data output</a:t>
            </a:r>
          </a:p>
          <a:p>
            <a:pPr algn="l">
              <a:lnSpc>
                <a:spcPct val="114000"/>
              </a:lnSpc>
              <a:spcBef>
                <a:spcPts val="0"/>
              </a:spcBef>
              <a:spcAft>
                <a:spcPts val="0"/>
              </a:spcAft>
            </a:pPr>
            <a:r>
              <a:rPr sz="1050" b="0" i="0">
                <a:solidFill>
                  <a:srgbClr val="2B3A42"/>
                </a:solidFill>
                <a:latin typeface="Arial"/>
              </a:rPr>
              <a:t>Costs, heatmap, sessions, budgets and AI evidence; forum lists and real-time battle feedback.</a:t>
            </a:r>
          </a:p>
        </p:txBody>
      </p:sp>
      <p:sp>
        <p:nvSpPr>
          <p:cNvPr id="13" name="Rounded Rectangle 12"/>
          <p:cNvSpPr/>
          <p:nvPr/>
        </p:nvSpPr>
        <p:spPr>
          <a:xfrm>
            <a:off x="658368" y="4608576"/>
            <a:ext cx="10874959" cy="932688"/>
          </a:xfrm>
          <a:prstGeom prst="roundRect">
            <a:avLst>
              <a:gd name="adj" fmla="val 6000"/>
            </a:avLst>
          </a:prstGeom>
          <a:solidFill>
            <a:srgbClr val="F7FAFB"/>
          </a:solidFill>
          <a:ln w="9525">
            <a:solidFill>
              <a:srgbClr val="BDD0D8"/>
            </a:solidFill>
          </a:ln>
          <a:effectLst/>
        </p:spPr>
        <p:txBody>
          <a:bodyPr rtlCol="0" anchor="t" wrap="square" lIns="155448" rIns="155448" tIns="124358" bIns="124358"/>
          <a:lstStyle/>
          <a:p>
            <a:pPr algn="l">
              <a:lnSpc>
                <a:spcPct val="116000"/>
              </a:lnSpc>
              <a:spcBef>
                <a:spcPts val="0"/>
              </a:spcBef>
              <a:spcAft>
                <a:spcPts val="300"/>
              </a:spcAft>
            </a:pPr>
            <a:r>
              <a:rPr sz="1250" b="1" i="0">
                <a:solidFill>
                  <a:srgbClr val="315E75"/>
                </a:solidFill>
                <a:latin typeface="Arial"/>
              </a:rPr>
              <a:t>Where it stops</a:t>
            </a:r>
          </a:p>
          <a:p>
            <a:pPr algn="l">
              <a:lnSpc>
                <a:spcPct val="114000"/>
              </a:lnSpc>
              <a:spcBef>
                <a:spcPts val="0"/>
              </a:spcBef>
              <a:spcAft>
                <a:spcPts val="0"/>
              </a:spcAft>
            </a:pPr>
            <a:r>
              <a:rPr sz="1150" b="0" i="0">
                <a:solidFill>
                  <a:srgbClr val="2B3A42"/>
                </a:solidFill>
                <a:latin typeface="Arial"/>
              </a:rPr>
              <a:t>Verify the log version and the billing mode; DSH may need JSONL or Zstandard decoding. The five tools enforce the caller's UID with bounded queries, and models receive summaries — never secrets or raw agent prompts. Missing logs mean no personalised cost claim, and there is no coding-agent control.</a:t>
            </a:r>
          </a:p>
        </p:txBody>
      </p:sp>
      <p:sp>
        <p:nvSpPr>
          <p:cNvPr id="14" name="TextBox 13"/>
          <p:cNvSpPr txBox="1"/>
          <p:nvPr/>
        </p:nvSpPr>
        <p:spPr>
          <a:xfrm>
            <a:off x="658368" y="5687568"/>
            <a:ext cx="10874959" cy="365760"/>
          </a:xfrm>
          <a:prstGeom prst="rect">
            <a:avLst/>
          </a:prstGeom>
          <a:noFill/>
        </p:spPr>
        <p:txBody>
          <a:bodyPr wrap="square" anchor="t" lIns="0" rIns="0" tIns="0" bIns="0">
            <a:spAutoFit/>
          </a:bodyPr>
          <a:lstStyle/>
          <a:p>
            <a:pPr algn="l">
              <a:lnSpc>
                <a:spcPct val="116000"/>
              </a:lnSpc>
              <a:spcBef>
                <a:spcPts val="0"/>
              </a:spcBef>
              <a:spcAft>
                <a:spcPts val="0"/>
              </a:spcAft>
            </a:pPr>
            <a:r>
              <a:rPr sz="1050" b="0" i="0">
                <a:solidFill>
                  <a:srgbClr val="7A8C94"/>
                </a:solidFill>
                <a:latin typeface="Arial"/>
              </a:rPr>
              <a:t>The same four aspects (input, processing, storage, output) run through the written outline, the implementation report, the code comments and the final demonstration.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58368" y="6309360"/>
            <a:ext cx="10874959" cy="12801"/>
          </a:xfrm>
          <a:prstGeom prst="rect">
            <a:avLst/>
          </a:prstGeom>
          <a:solidFill>
            <a:srgbClr val="BDD0D8"/>
          </a:solidFill>
          <a:ln>
            <a:noFill/>
          </a:ln>
          <a:effectLst/>
        </p:spPr>
        <p:txBody>
          <a:bodyPr rtlCol="0" anchor="ctr" wrap="square"/>
          <a:lstStyle/>
          <a:p>
            <a:pPr algn="ctr"/>
          </a:p>
        </p:txBody>
      </p:sp>
      <p:sp>
        <p:nvSpPr>
          <p:cNvPr id="3" name="TextBox 2"/>
          <p:cNvSpPr txBox="1"/>
          <p:nvPr/>
        </p:nvSpPr>
        <p:spPr>
          <a:xfrm>
            <a:off x="658368" y="6419088"/>
            <a:ext cx="7612471" cy="274320"/>
          </a:xfrm>
          <a:prstGeom prst="rect">
            <a:avLst/>
          </a:prstGeom>
          <a:noFill/>
        </p:spPr>
        <p:txBody>
          <a:bodyPr wrap="square" anchor="t" lIns="0" rIns="0" tIns="0" bIns="0">
            <a:spAutoFit/>
          </a:bodyPr>
          <a:lstStyle/>
          <a:p>
            <a:pPr algn="l">
              <a:lnSpc>
                <a:spcPct val="116000"/>
              </a:lnSpc>
              <a:spcBef>
                <a:spcPts val="0"/>
              </a:spcBef>
              <a:spcAft>
                <a:spcPts val="0"/>
              </a:spcAft>
            </a:pPr>
            <a:r>
              <a:rPr sz="900" b="0" i="0">
                <a:solidFill>
                  <a:srgbClr val="7A8C94"/>
                </a:solidFill>
                <a:latin typeface="Arial"/>
              </a:rPr>
              <a:t>TokenTrail · Group 20 · Android App Project Outline</a:t>
            </a:r>
          </a:p>
        </p:txBody>
      </p:sp>
      <p:sp>
        <p:nvSpPr>
          <p:cNvPr id="4" name="TextBox 3"/>
          <p:cNvSpPr txBox="1"/>
          <p:nvPr/>
        </p:nvSpPr>
        <p:spPr>
          <a:xfrm>
            <a:off x="10436047" y="6419088"/>
            <a:ext cx="1097280" cy="274320"/>
          </a:xfrm>
          <a:prstGeom prst="rect">
            <a:avLst/>
          </a:prstGeom>
          <a:noFill/>
        </p:spPr>
        <p:txBody>
          <a:bodyPr wrap="square" anchor="t" lIns="0" rIns="0" tIns="0" bIns="0">
            <a:spAutoFit/>
          </a:bodyPr>
          <a:lstStyle/>
          <a:p>
            <a:pPr algn="r">
              <a:lnSpc>
                <a:spcPct val="116000"/>
              </a:lnSpc>
              <a:spcBef>
                <a:spcPts val="0"/>
              </a:spcBef>
              <a:spcAft>
                <a:spcPts val="0"/>
              </a:spcAft>
            </a:pPr>
            <a:r>
              <a:rPr sz="900" b="0" i="0">
                <a:solidFill>
                  <a:srgbClr val="7A8C94"/>
                </a:solidFill>
                <a:latin typeface="Arial"/>
              </a:rPr>
              <a:t>12</a:t>
            </a:r>
          </a:p>
        </p:txBody>
      </p:sp>
      <p:sp>
        <p:nvSpPr>
          <p:cNvPr id="5" name="TextBox 4"/>
          <p:cNvSpPr txBox="1"/>
          <p:nvPr/>
        </p:nvSpPr>
        <p:spPr>
          <a:xfrm>
            <a:off x="658368" y="365760"/>
            <a:ext cx="10874959" cy="237744"/>
          </a:xfrm>
          <a:prstGeom prst="rect">
            <a:avLst/>
          </a:prstGeom>
          <a:noFill/>
        </p:spPr>
        <p:txBody>
          <a:bodyPr wrap="square" anchor="t" lIns="0" rIns="0" tIns="0" bIns="0">
            <a:spAutoFit/>
          </a:bodyPr>
          <a:lstStyle/>
          <a:p>
            <a:pPr algn="l">
              <a:lnSpc>
                <a:spcPct val="116000"/>
              </a:lnSpc>
              <a:spcBef>
                <a:spcPts val="0"/>
              </a:spcBef>
              <a:spcAft>
                <a:spcPts val="0"/>
              </a:spcAft>
            </a:pPr>
            <a:r>
              <a:rPr sz="1000" b="0" i="0">
                <a:solidFill>
                  <a:srgbClr val="A17431"/>
                </a:solidFill>
                <a:latin typeface="Arial"/>
              </a:rPr>
              <a:t>5 · PROPOSED INTERFACE</a:t>
            </a:r>
          </a:p>
        </p:txBody>
      </p:sp>
      <p:sp>
        <p:nvSpPr>
          <p:cNvPr id="6" name="TextBox 5"/>
          <p:cNvSpPr txBox="1"/>
          <p:nvPr/>
        </p:nvSpPr>
        <p:spPr>
          <a:xfrm>
            <a:off x="658368" y="603504"/>
            <a:ext cx="10874959" cy="502920"/>
          </a:xfrm>
          <a:prstGeom prst="rect">
            <a:avLst/>
          </a:prstGeom>
          <a:noFill/>
        </p:spPr>
        <p:txBody>
          <a:bodyPr wrap="square" anchor="t" lIns="0" rIns="0" tIns="0" bIns="0">
            <a:spAutoFit/>
          </a:bodyPr>
          <a:lstStyle/>
          <a:p>
            <a:pPr algn="l">
              <a:lnSpc>
                <a:spcPct val="116000"/>
              </a:lnSpc>
              <a:spcBef>
                <a:spcPts val="0"/>
              </a:spcBef>
              <a:spcAft>
                <a:spcPts val="0"/>
              </a:spcAft>
            </a:pPr>
            <a:r>
              <a:rPr sz="2600" b="0" i="0">
                <a:solidFill>
                  <a:srgbClr val="315E75"/>
                </a:solidFill>
                <a:latin typeface="Arial"/>
              </a:rPr>
              <a:t>Home leads with analytics and the assistant entry</a:t>
            </a:r>
          </a:p>
        </p:txBody>
      </p:sp>
      <p:sp>
        <p:nvSpPr>
          <p:cNvPr id="7" name="Rectangle 6"/>
          <p:cNvSpPr/>
          <p:nvPr/>
        </p:nvSpPr>
        <p:spPr>
          <a:xfrm>
            <a:off x="658368" y="1225296"/>
            <a:ext cx="10874959" cy="22860"/>
          </a:xfrm>
          <a:prstGeom prst="rect">
            <a:avLst/>
          </a:prstGeom>
          <a:solidFill>
            <a:srgbClr val="315E75"/>
          </a:solidFill>
          <a:ln>
            <a:noFill/>
          </a:ln>
          <a:effectLst/>
        </p:spPr>
        <p:txBody>
          <a:bodyPr rtlCol="0" anchor="ctr" wrap="square"/>
          <a:lstStyle/>
          <a:p>
            <a:pPr algn="ctr"/>
          </a:p>
        </p:txBody>
      </p:sp>
      <p:pic>
        <p:nvPicPr>
          <p:cNvPr id="8" name="Picture 7" descr="fig_ui.png"/>
          <p:cNvPicPr>
            <a:picLocks noChangeAspect="1"/>
          </p:cNvPicPr>
          <p:nvPr/>
        </p:nvPicPr>
        <p:blipFill>
          <a:blip r:embed="rId2"/>
          <a:stretch>
            <a:fillRect/>
          </a:stretch>
        </p:blipFill>
        <p:spPr>
          <a:xfrm>
            <a:off x="1020927" y="1389888"/>
            <a:ext cx="10149840" cy="4232988"/>
          </a:xfrm>
          <a:prstGeom prst="rect">
            <a:avLst/>
          </a:prstGeom>
        </p:spPr>
      </p:pic>
      <p:sp>
        <p:nvSpPr>
          <p:cNvPr id="9" name="TextBox 8"/>
          <p:cNvSpPr txBox="1"/>
          <p:nvPr/>
        </p:nvSpPr>
        <p:spPr>
          <a:xfrm>
            <a:off x="658368" y="5724144"/>
            <a:ext cx="10874959" cy="365760"/>
          </a:xfrm>
          <a:prstGeom prst="rect">
            <a:avLst/>
          </a:prstGeom>
          <a:noFill/>
        </p:spPr>
        <p:txBody>
          <a:bodyPr wrap="square" anchor="t" lIns="0" rIns="0" tIns="0" bIns="0">
            <a:spAutoFit/>
          </a:bodyPr>
          <a:lstStyle/>
          <a:p>
            <a:pPr algn="l">
              <a:lnSpc>
                <a:spcPct val="116000"/>
              </a:lnSpc>
              <a:spcBef>
                <a:spcPts val="0"/>
              </a:spcBef>
              <a:spcAft>
                <a:spcPts val="0"/>
              </a:spcAft>
            </a:pPr>
            <a:r>
              <a:rPr sz="1050" b="0" i="0">
                <a:solidFill>
                  <a:srgbClr val="7A8C94"/>
                </a:solidFill>
                <a:latin typeface="Arial"/>
              </a:rPr>
              <a:t>Tap "Ask AI" to open the panel, or hold to dictate and confirm the transcript. Sessions expose source, date and token classes only where logs support them, and comparisons use matching filters. Forum and Game are supporting tabs, and assistant API costs are excluded from the home total.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58368" y="6309360"/>
            <a:ext cx="10874959" cy="12801"/>
          </a:xfrm>
          <a:prstGeom prst="rect">
            <a:avLst/>
          </a:prstGeom>
          <a:solidFill>
            <a:srgbClr val="BDD0D8"/>
          </a:solidFill>
          <a:ln>
            <a:noFill/>
          </a:ln>
          <a:effectLst/>
        </p:spPr>
        <p:txBody>
          <a:bodyPr rtlCol="0" anchor="ctr" wrap="square"/>
          <a:lstStyle/>
          <a:p>
            <a:pPr algn="ctr"/>
          </a:p>
        </p:txBody>
      </p:sp>
      <p:sp>
        <p:nvSpPr>
          <p:cNvPr id="3" name="TextBox 2"/>
          <p:cNvSpPr txBox="1"/>
          <p:nvPr/>
        </p:nvSpPr>
        <p:spPr>
          <a:xfrm>
            <a:off x="658368" y="6419088"/>
            <a:ext cx="7612471" cy="274320"/>
          </a:xfrm>
          <a:prstGeom prst="rect">
            <a:avLst/>
          </a:prstGeom>
          <a:noFill/>
        </p:spPr>
        <p:txBody>
          <a:bodyPr wrap="square" anchor="t" lIns="0" rIns="0" tIns="0" bIns="0">
            <a:spAutoFit/>
          </a:bodyPr>
          <a:lstStyle/>
          <a:p>
            <a:pPr algn="l">
              <a:lnSpc>
                <a:spcPct val="116000"/>
              </a:lnSpc>
              <a:spcBef>
                <a:spcPts val="0"/>
              </a:spcBef>
              <a:spcAft>
                <a:spcPts val="0"/>
              </a:spcAft>
            </a:pPr>
            <a:r>
              <a:rPr sz="900" b="0" i="0">
                <a:solidFill>
                  <a:srgbClr val="7A8C94"/>
                </a:solidFill>
                <a:latin typeface="Arial"/>
              </a:rPr>
              <a:t>TokenTrail · Group 20 · Android App Project Outline</a:t>
            </a:r>
          </a:p>
        </p:txBody>
      </p:sp>
      <p:sp>
        <p:nvSpPr>
          <p:cNvPr id="4" name="TextBox 3"/>
          <p:cNvSpPr txBox="1"/>
          <p:nvPr/>
        </p:nvSpPr>
        <p:spPr>
          <a:xfrm>
            <a:off x="10436047" y="6419088"/>
            <a:ext cx="1097280" cy="274320"/>
          </a:xfrm>
          <a:prstGeom prst="rect">
            <a:avLst/>
          </a:prstGeom>
          <a:noFill/>
        </p:spPr>
        <p:txBody>
          <a:bodyPr wrap="square" anchor="t" lIns="0" rIns="0" tIns="0" bIns="0">
            <a:spAutoFit/>
          </a:bodyPr>
          <a:lstStyle/>
          <a:p>
            <a:pPr algn="r">
              <a:lnSpc>
                <a:spcPct val="116000"/>
              </a:lnSpc>
              <a:spcBef>
                <a:spcPts val="0"/>
              </a:spcBef>
              <a:spcAft>
                <a:spcPts val="0"/>
              </a:spcAft>
            </a:pPr>
            <a:r>
              <a:rPr sz="900" b="0" i="0">
                <a:solidFill>
                  <a:srgbClr val="7A8C94"/>
                </a:solidFill>
                <a:latin typeface="Arial"/>
              </a:rPr>
              <a:t>13</a:t>
            </a:r>
          </a:p>
        </p:txBody>
      </p:sp>
      <p:sp>
        <p:nvSpPr>
          <p:cNvPr id="5" name="TextBox 4"/>
          <p:cNvSpPr txBox="1"/>
          <p:nvPr/>
        </p:nvSpPr>
        <p:spPr>
          <a:xfrm>
            <a:off x="658368" y="365760"/>
            <a:ext cx="10874959" cy="237744"/>
          </a:xfrm>
          <a:prstGeom prst="rect">
            <a:avLst/>
          </a:prstGeom>
          <a:noFill/>
        </p:spPr>
        <p:txBody>
          <a:bodyPr wrap="square" anchor="t" lIns="0" rIns="0" tIns="0" bIns="0">
            <a:spAutoFit/>
          </a:bodyPr>
          <a:lstStyle/>
          <a:p>
            <a:pPr algn="l">
              <a:lnSpc>
                <a:spcPct val="116000"/>
              </a:lnSpc>
              <a:spcBef>
                <a:spcPts val="0"/>
              </a:spcBef>
              <a:spcAft>
                <a:spcPts val="0"/>
              </a:spcAft>
            </a:pPr>
            <a:r>
              <a:rPr sz="1000" b="0" i="0">
                <a:solidFill>
                  <a:srgbClr val="A17431"/>
                </a:solidFill>
                <a:latin typeface="Arial"/>
              </a:rPr>
              <a:t>5 · PROPOSED FEATURES</a:t>
            </a:r>
          </a:p>
        </p:txBody>
      </p:sp>
      <p:sp>
        <p:nvSpPr>
          <p:cNvPr id="6" name="TextBox 5"/>
          <p:cNvSpPr txBox="1"/>
          <p:nvPr/>
        </p:nvSpPr>
        <p:spPr>
          <a:xfrm>
            <a:off x="658368" y="603504"/>
            <a:ext cx="10874959" cy="502920"/>
          </a:xfrm>
          <a:prstGeom prst="rect">
            <a:avLst/>
          </a:prstGeom>
          <a:noFill/>
        </p:spPr>
        <p:txBody>
          <a:bodyPr wrap="square" anchor="t" lIns="0" rIns="0" tIns="0" bIns="0">
            <a:spAutoFit/>
          </a:bodyPr>
          <a:lstStyle/>
          <a:p>
            <a:pPr algn="l">
              <a:lnSpc>
                <a:spcPct val="116000"/>
              </a:lnSpc>
              <a:spcBef>
                <a:spcPts val="0"/>
              </a:spcBef>
              <a:spcAft>
                <a:spcPts val="0"/>
              </a:spcAft>
            </a:pPr>
            <a:r>
              <a:rPr sz="2600" b="0" i="0">
                <a:solidFill>
                  <a:srgbClr val="315E75"/>
                </a:solidFill>
                <a:latin typeface="Arial"/>
              </a:rPr>
              <a:t>Functional requirements mapped to what already exists</a:t>
            </a:r>
          </a:p>
        </p:txBody>
      </p:sp>
      <p:sp>
        <p:nvSpPr>
          <p:cNvPr id="7" name="Rectangle 6"/>
          <p:cNvSpPr/>
          <p:nvPr/>
        </p:nvSpPr>
        <p:spPr>
          <a:xfrm>
            <a:off x="658368" y="1225296"/>
            <a:ext cx="10874959" cy="22860"/>
          </a:xfrm>
          <a:prstGeom prst="rect">
            <a:avLst/>
          </a:prstGeom>
          <a:solidFill>
            <a:srgbClr val="315E75"/>
          </a:solidFill>
          <a:ln>
            <a:noFill/>
          </a:ln>
          <a:effectLst/>
        </p:spPr>
        <p:txBody>
          <a:bodyPr rtlCol="0" anchor="ctr" wrap="square"/>
          <a:lstStyle/>
          <a:p>
            <a:pPr algn="ctr"/>
          </a:p>
        </p:txBody>
      </p:sp>
      <p:graphicFrame>
        <p:nvGraphicFramePr>
          <p:cNvPr id="8" name="Table 7"/>
          <p:cNvGraphicFramePr>
            <a:graphicFrameLocks noGrp="1"/>
          </p:cNvGraphicFramePr>
          <p:nvPr/>
        </p:nvGraphicFramePr>
        <p:xfrm>
          <a:off x="658368" y="1463040"/>
          <a:ext cx="10874959" cy="3840480"/>
        </p:xfrm>
        <a:graphic>
          <a:graphicData uri="http://schemas.openxmlformats.org/drawingml/2006/table">
            <a:tbl>
              <a:tblPr firstRow="0" bandRow="0">
                <a:tableStyleId>{2D5ABB26-0587-4C30-8999-92F81FD0307C}</a:tableStyleId>
              </a:tblPr>
              <a:tblGrid>
                <a:gridCol w="411480"/>
                <a:gridCol w="2103120"/>
                <a:gridCol w="6903720"/>
                <a:gridCol w="1456639"/>
              </a:tblGrid>
              <a:tr h="438912">
                <a:tc>
                  <a:txBody>
                    <a:bodyPr wrap="square"/>
                    <a:lstStyle/>
                    <a:p>
                      <a:pPr algn="l">
                        <a:lnSpc>
                          <a:spcPct val="108000"/>
                        </a:lnSpc>
                        <a:spcBef>
                          <a:spcPts val="0"/>
                        </a:spcBef>
                        <a:spcAft>
                          <a:spcPts val="0"/>
                        </a:spcAft>
                      </a:pPr>
                      <a:r>
                        <a:rPr sz="1100" b="1" i="0">
                          <a:solidFill>
                            <a:srgbClr val="FFFFFF"/>
                          </a:solidFill>
                          <a:latin typeface="Arial"/>
                        </a:rPr>
                        <a:t>Ser</a:t>
                      </a:r>
                    </a:p>
                  </a:txBody>
                  <a:tcPr marL="91440" marR="82296" marT="50292" marB="50292" anchor="ctr">
                    <a:lnL w="9525" cap="flat" cmpd="sng" algn="ctr">
                      <a:solidFill>
                        <a:srgbClr val="315E75"/>
                      </a:solidFill>
                      <a:prstDash val="solid"/>
                    </a:lnL>
                    <a:lnT w="9525" cap="flat" cmpd="sng" algn="ctr">
                      <a:solidFill>
                        <a:srgbClr val="315E75"/>
                      </a:solidFill>
                      <a:prstDash val="solid"/>
                    </a:lnT>
                    <a:lnB w="9525" cap="flat" cmpd="sng" algn="ctr">
                      <a:solidFill>
                        <a:srgbClr val="315E75"/>
                      </a:solidFill>
                      <a:prstDash val="solid"/>
                    </a:lnB>
                    <a:solidFill>
                      <a:srgbClr val="315E75"/>
                    </a:solidFill>
                  </a:tcPr>
                </a:tc>
                <a:tc>
                  <a:txBody>
                    <a:bodyPr wrap="square"/>
                    <a:lstStyle/>
                    <a:p>
                      <a:pPr algn="l">
                        <a:lnSpc>
                          <a:spcPct val="108000"/>
                        </a:lnSpc>
                        <a:spcBef>
                          <a:spcPts val="0"/>
                        </a:spcBef>
                        <a:spcAft>
                          <a:spcPts val="0"/>
                        </a:spcAft>
                      </a:pPr>
                      <a:r>
                        <a:rPr sz="1100" b="1" i="0">
                          <a:solidFill>
                            <a:srgbClr val="FFFFFF"/>
                          </a:solidFill>
                          <a:latin typeface="Arial"/>
                        </a:rPr>
                        <a:t>Existing feature</a:t>
                      </a:r>
                    </a:p>
                  </a:txBody>
                  <a:tcPr marL="91440" marR="82296" marT="50292" marB="50292" anchor="ctr">
                    <a:lnT w="9525" cap="flat" cmpd="sng" algn="ctr">
                      <a:solidFill>
                        <a:srgbClr val="315E75"/>
                      </a:solidFill>
                      <a:prstDash val="solid"/>
                    </a:lnT>
                    <a:lnB w="9525" cap="flat" cmpd="sng" algn="ctr">
                      <a:solidFill>
                        <a:srgbClr val="315E75"/>
                      </a:solidFill>
                      <a:prstDash val="solid"/>
                    </a:lnB>
                    <a:solidFill>
                      <a:srgbClr val="315E75"/>
                    </a:solidFill>
                  </a:tcPr>
                </a:tc>
                <a:tc>
                  <a:txBody>
                    <a:bodyPr wrap="square"/>
                    <a:lstStyle/>
                    <a:p>
                      <a:pPr algn="l">
                        <a:lnSpc>
                          <a:spcPct val="108000"/>
                        </a:lnSpc>
                        <a:spcBef>
                          <a:spcPts val="0"/>
                        </a:spcBef>
                        <a:spcAft>
                          <a:spcPts val="0"/>
                        </a:spcAft>
                      </a:pPr>
                      <a:r>
                        <a:rPr sz="1100" b="1" i="0">
                          <a:solidFill>
                            <a:srgbClr val="FFFFFF"/>
                          </a:solidFill>
                          <a:latin typeface="Arial"/>
                        </a:rPr>
                        <a:t>TokenTrail improvement / addition</a:t>
                      </a:r>
                    </a:p>
                  </a:txBody>
                  <a:tcPr marL="91440" marR="82296" marT="50292" marB="50292" anchor="ctr">
                    <a:lnT w="9525" cap="flat" cmpd="sng" algn="ctr">
                      <a:solidFill>
                        <a:srgbClr val="315E75"/>
                      </a:solidFill>
                      <a:prstDash val="solid"/>
                    </a:lnT>
                    <a:lnB w="9525" cap="flat" cmpd="sng" algn="ctr">
                      <a:solidFill>
                        <a:srgbClr val="315E75"/>
                      </a:solidFill>
                      <a:prstDash val="solid"/>
                    </a:lnB>
                    <a:solidFill>
                      <a:srgbClr val="315E75"/>
                    </a:solidFill>
                  </a:tcPr>
                </a:tc>
                <a:tc>
                  <a:txBody>
                    <a:bodyPr wrap="square"/>
                    <a:lstStyle/>
                    <a:p>
                      <a:pPr algn="l">
                        <a:lnSpc>
                          <a:spcPct val="108000"/>
                        </a:lnSpc>
                        <a:spcBef>
                          <a:spcPts val="0"/>
                        </a:spcBef>
                        <a:spcAft>
                          <a:spcPts val="0"/>
                        </a:spcAft>
                      </a:pPr>
                      <a:r>
                        <a:rPr sz="1100" b="1" i="0">
                          <a:solidFill>
                            <a:srgbClr val="FFFFFF"/>
                          </a:solidFill>
                          <a:latin typeface="Arial"/>
                        </a:rPr>
                        <a:t>Type</a:t>
                      </a:r>
                    </a:p>
                  </a:txBody>
                  <a:tcPr marL="91440" marR="82296" marT="50292" marB="50292" anchor="ctr">
                    <a:lnR w="9525" cap="flat" cmpd="sng" algn="ctr">
                      <a:solidFill>
                        <a:srgbClr val="315E75"/>
                      </a:solidFill>
                      <a:prstDash val="solid"/>
                    </a:lnR>
                    <a:lnT w="9525" cap="flat" cmpd="sng" algn="ctr">
                      <a:solidFill>
                        <a:srgbClr val="315E75"/>
                      </a:solidFill>
                      <a:prstDash val="solid"/>
                    </a:lnT>
                    <a:lnB w="9525" cap="flat" cmpd="sng" algn="ctr">
                      <a:solidFill>
                        <a:srgbClr val="315E75"/>
                      </a:solidFill>
                      <a:prstDash val="solid"/>
                    </a:lnB>
                    <a:solidFill>
                      <a:srgbClr val="315E75"/>
                    </a:solidFill>
                  </a:tcPr>
                </a:tc>
              </a:tr>
              <a:tr h="566928">
                <a:tc>
                  <a:txBody>
                    <a:bodyPr wrap="square"/>
                    <a:lstStyle/>
                    <a:p>
                      <a:pPr algn="l">
                        <a:lnSpc>
                          <a:spcPct val="108000"/>
                        </a:lnSpc>
                        <a:spcBef>
                          <a:spcPts val="0"/>
                        </a:spcBef>
                        <a:spcAft>
                          <a:spcPts val="0"/>
                        </a:spcAft>
                      </a:pPr>
                      <a:r>
                        <a:rPr sz="1100" b="1" i="0">
                          <a:solidFill>
                            <a:srgbClr val="315E75"/>
                          </a:solidFill>
                          <a:latin typeface="Arial"/>
                        </a:rPr>
                        <a:t>1</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00" b="0" i="0">
                          <a:solidFill>
                            <a:srgbClr val="2B3A42"/>
                          </a:solidFill>
                          <a:latin typeface="Arial"/>
                        </a:rPr>
                        <a:t>Cost dashboards</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00" b="0" i="0">
                          <a:solidFill>
                            <a:srgbClr val="2B3A42"/>
                          </a:solidFill>
                          <a:latin typeface="Arial"/>
                        </a:rPr>
                        <a:t>Cross-provider dated estimates with source and coverage</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00" b="0" i="0">
                          <a:solidFill>
                            <a:srgbClr val="2B3A42"/>
                          </a:solidFill>
                          <a:latin typeface="Arial"/>
                        </a:rPr>
                        <a:t>Improved</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FFFFF"/>
                    </a:solidFill>
                  </a:tcPr>
                </a:tc>
              </a:tr>
              <a:tr h="566928">
                <a:tc>
                  <a:txBody>
                    <a:bodyPr wrap="square"/>
                    <a:lstStyle/>
                    <a:p>
                      <a:pPr algn="l">
                        <a:lnSpc>
                          <a:spcPct val="108000"/>
                        </a:lnSpc>
                        <a:spcBef>
                          <a:spcPts val="0"/>
                        </a:spcBef>
                        <a:spcAft>
                          <a:spcPts val="0"/>
                        </a:spcAft>
                      </a:pPr>
                      <a:r>
                        <a:rPr sz="1100" b="1" i="0">
                          <a:solidFill>
                            <a:srgbClr val="315E75"/>
                          </a:solidFill>
                          <a:latin typeface="Arial"/>
                        </a:rPr>
                        <a:t>2</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00" b="0" i="0">
                          <a:solidFill>
                            <a:srgbClr val="2B3A42"/>
                          </a:solidFill>
                          <a:latin typeface="Arial"/>
                        </a:rPr>
                        <a:t>Session viewers</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00" b="0" i="0">
                          <a:solidFill>
                            <a:srgbClr val="2B3A42"/>
                          </a:solidFill>
                          <a:latin typeface="Arial"/>
                        </a:rPr>
                        <a:t>Log-supported sessions and token-class breakdowns</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00" b="0" i="0">
                          <a:solidFill>
                            <a:srgbClr val="2B3A42"/>
                          </a:solidFill>
                          <a:latin typeface="Arial"/>
                        </a:rPr>
                        <a:t>Improved</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7FAFB"/>
                    </a:solidFill>
                  </a:tcPr>
                </a:tc>
              </a:tr>
              <a:tr h="566928">
                <a:tc>
                  <a:txBody>
                    <a:bodyPr wrap="square"/>
                    <a:lstStyle/>
                    <a:p>
                      <a:pPr algn="l">
                        <a:lnSpc>
                          <a:spcPct val="108000"/>
                        </a:lnSpc>
                        <a:spcBef>
                          <a:spcPts val="0"/>
                        </a:spcBef>
                        <a:spcAft>
                          <a:spcPts val="0"/>
                        </a:spcAft>
                      </a:pPr>
                      <a:r>
                        <a:rPr sz="1100" b="1" i="0">
                          <a:solidFill>
                            <a:srgbClr val="315E75"/>
                          </a:solidFill>
                          <a:latin typeface="Arial"/>
                        </a:rPr>
                        <a:t>3</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00" b="0" i="0">
                          <a:solidFill>
                            <a:srgbClr val="2B3A42"/>
                          </a:solidFill>
                          <a:latin typeface="Arial"/>
                        </a:rPr>
                        <a:t>Billing budgets</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00" b="0" i="0">
                          <a:solidFill>
                            <a:srgbClr val="2B3A42"/>
                          </a:solidFill>
                          <a:latin typeface="Arial"/>
                        </a:rPr>
                        <a:t>Cross-provider estimated budget and advisory alerts</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00" b="0" i="0">
                          <a:solidFill>
                            <a:srgbClr val="2B3A42"/>
                          </a:solidFill>
                          <a:latin typeface="Arial"/>
                        </a:rPr>
                        <a:t>Improved</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FFFFF"/>
                    </a:solidFill>
                  </a:tcPr>
                </a:tc>
              </a:tr>
              <a:tr h="566928">
                <a:tc>
                  <a:txBody>
                    <a:bodyPr wrap="square"/>
                    <a:lstStyle/>
                    <a:p>
                      <a:pPr algn="l">
                        <a:lnSpc>
                          <a:spcPct val="108000"/>
                        </a:lnSpc>
                        <a:spcBef>
                          <a:spcPts val="0"/>
                        </a:spcBef>
                        <a:spcAft>
                          <a:spcPts val="0"/>
                        </a:spcAft>
                      </a:pPr>
                      <a:r>
                        <a:rPr sz="1100" b="1" i="0">
                          <a:solidFill>
                            <a:srgbClr val="315E75"/>
                          </a:solidFill>
                          <a:latin typeface="Arial"/>
                        </a:rPr>
                        <a:t>4</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00" b="0" i="0">
                          <a:solidFill>
                            <a:srgbClr val="2B3A42"/>
                          </a:solidFill>
                          <a:latin typeface="Arial"/>
                        </a:rPr>
                        <a:t>AI assistants</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00" b="0" i="0">
                          <a:solidFill>
                            <a:srgbClr val="2B3A42"/>
                          </a:solidFill>
                          <a:latin typeface="Arial"/>
                        </a:rPr>
                        <a:t>Home AI: text and voice, usage evidence and a separate API ledger</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00" b="0" i="0">
                          <a:solidFill>
                            <a:srgbClr val="2B3A42"/>
                          </a:solidFill>
                          <a:latin typeface="Arial"/>
                        </a:rPr>
                        <a:t>New</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7FAFB"/>
                    </a:solidFill>
                  </a:tcPr>
                </a:tc>
              </a:tr>
              <a:tr h="566928">
                <a:tc>
                  <a:txBody>
                    <a:bodyPr wrap="square"/>
                    <a:lstStyle/>
                    <a:p>
                      <a:pPr algn="l">
                        <a:lnSpc>
                          <a:spcPct val="108000"/>
                        </a:lnSpc>
                        <a:spcBef>
                          <a:spcPts val="0"/>
                        </a:spcBef>
                        <a:spcAft>
                          <a:spcPts val="0"/>
                        </a:spcAft>
                      </a:pPr>
                      <a:r>
                        <a:rPr sz="1100" b="1" i="0">
                          <a:solidFill>
                            <a:srgbClr val="315E75"/>
                          </a:solidFill>
                          <a:latin typeface="Arial"/>
                        </a:rPr>
                        <a:t>5</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00" b="0" i="0">
                          <a:solidFill>
                            <a:srgbClr val="2B3A42"/>
                          </a:solidFill>
                          <a:latin typeface="Arial"/>
                        </a:rPr>
                        <a:t>Forums</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00" b="0" i="0">
                          <a:solidFill>
                            <a:srgbClr val="2B3A42"/>
                          </a:solidFill>
                          <a:latin typeface="Arial"/>
                        </a:rPr>
                        <a:t>Linked official news, posts and replies, and context for the advice</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00" b="0" i="0">
                          <a:solidFill>
                            <a:srgbClr val="2B3A42"/>
                          </a:solidFill>
                          <a:latin typeface="Arial"/>
                        </a:rPr>
                        <a:t>Improved</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FFFFF"/>
                    </a:solidFill>
                  </a:tcPr>
                </a:tc>
              </a:tr>
              <a:tr h="566928">
                <a:tc>
                  <a:txBody>
                    <a:bodyPr wrap="square"/>
                    <a:lstStyle/>
                    <a:p>
                      <a:pPr algn="l">
                        <a:lnSpc>
                          <a:spcPct val="108000"/>
                        </a:lnSpc>
                        <a:spcBef>
                          <a:spcPts val="0"/>
                        </a:spcBef>
                        <a:spcAft>
                          <a:spcPts val="0"/>
                        </a:spcAft>
                      </a:pPr>
                      <a:r>
                        <a:rPr sz="1100" b="1" i="0">
                          <a:solidFill>
                            <a:srgbClr val="315E75"/>
                          </a:solidFill>
                          <a:latin typeface="Arial"/>
                        </a:rPr>
                        <a:t>6</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00" b="0" i="0">
                          <a:solidFill>
                            <a:srgbClr val="2B3A42"/>
                          </a:solidFill>
                          <a:latin typeface="Arial"/>
                        </a:rPr>
                        <a:t>Tower defence</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00" b="0" i="0">
                          <a:solidFill>
                            <a:srgbClr val="2B3A42"/>
                          </a:solidFill>
                          <a:latin typeface="Arial"/>
                        </a:rPr>
                        <a:t>Monthly game resources from verified coding-agent API logs</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00" b="0" i="0">
                          <a:solidFill>
                            <a:srgbClr val="2B3A42"/>
                          </a:solidFill>
                          <a:latin typeface="Arial"/>
                        </a:rPr>
                        <a:t>New</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7FAFB"/>
                    </a:solidFill>
                  </a:tcPr>
                </a:tc>
              </a:tr>
            </a:tbl>
          </a:graphicData>
        </a:graphic>
      </p:graphicFrame>
      <p:sp>
        <p:nvSpPr>
          <p:cNvPr id="9" name="TextBox 8"/>
          <p:cNvSpPr txBox="1"/>
          <p:nvPr/>
        </p:nvSpPr>
        <p:spPr>
          <a:xfrm>
            <a:off x="658368" y="5468112"/>
            <a:ext cx="10874959" cy="365760"/>
          </a:xfrm>
          <a:prstGeom prst="rect">
            <a:avLst/>
          </a:prstGeom>
          <a:noFill/>
        </p:spPr>
        <p:txBody>
          <a:bodyPr wrap="square" anchor="t" lIns="0" rIns="0" tIns="0" bIns="0">
            <a:spAutoFit/>
          </a:bodyPr>
          <a:lstStyle/>
          <a:p>
            <a:pPr algn="l">
              <a:lnSpc>
                <a:spcPct val="116000"/>
              </a:lnSpc>
              <a:spcBef>
                <a:spcPts val="0"/>
              </a:spcBef>
              <a:spcAft>
                <a:spcPts val="0"/>
              </a:spcAft>
            </a:pPr>
            <a:r>
              <a:rPr sz="1050" b="0" i="0">
                <a:solidFill>
                  <a:srgbClr val="7A8C94"/>
                </a:solidFill>
                <a:latin typeface="Arial"/>
              </a:rPr>
              <a:t>Six rows, in the same order as section 11 of the written outline. Only rows 4 and 6 are new; the rest improve a view the providers already offer one account at a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58368" y="6309360"/>
            <a:ext cx="10874959" cy="12801"/>
          </a:xfrm>
          <a:prstGeom prst="rect">
            <a:avLst/>
          </a:prstGeom>
          <a:solidFill>
            <a:srgbClr val="BDD0D8"/>
          </a:solidFill>
          <a:ln>
            <a:noFill/>
          </a:ln>
          <a:effectLst/>
        </p:spPr>
        <p:txBody>
          <a:bodyPr rtlCol="0" anchor="ctr" wrap="square"/>
          <a:lstStyle/>
          <a:p>
            <a:pPr algn="ctr"/>
          </a:p>
        </p:txBody>
      </p:sp>
      <p:sp>
        <p:nvSpPr>
          <p:cNvPr id="3" name="TextBox 2"/>
          <p:cNvSpPr txBox="1"/>
          <p:nvPr/>
        </p:nvSpPr>
        <p:spPr>
          <a:xfrm>
            <a:off x="658368" y="6419088"/>
            <a:ext cx="7612471" cy="274320"/>
          </a:xfrm>
          <a:prstGeom prst="rect">
            <a:avLst/>
          </a:prstGeom>
          <a:noFill/>
        </p:spPr>
        <p:txBody>
          <a:bodyPr wrap="square" anchor="t" lIns="0" rIns="0" tIns="0" bIns="0">
            <a:spAutoFit/>
          </a:bodyPr>
          <a:lstStyle/>
          <a:p>
            <a:pPr algn="l">
              <a:lnSpc>
                <a:spcPct val="116000"/>
              </a:lnSpc>
              <a:spcBef>
                <a:spcPts val="0"/>
              </a:spcBef>
              <a:spcAft>
                <a:spcPts val="0"/>
              </a:spcAft>
            </a:pPr>
            <a:r>
              <a:rPr sz="900" b="0" i="0">
                <a:solidFill>
                  <a:srgbClr val="7A8C94"/>
                </a:solidFill>
                <a:latin typeface="Arial"/>
              </a:rPr>
              <a:t>TokenTrail · Group 20 · Android App Project Outline</a:t>
            </a:r>
          </a:p>
        </p:txBody>
      </p:sp>
      <p:sp>
        <p:nvSpPr>
          <p:cNvPr id="4" name="TextBox 3"/>
          <p:cNvSpPr txBox="1"/>
          <p:nvPr/>
        </p:nvSpPr>
        <p:spPr>
          <a:xfrm>
            <a:off x="10436047" y="6419088"/>
            <a:ext cx="1097280" cy="274320"/>
          </a:xfrm>
          <a:prstGeom prst="rect">
            <a:avLst/>
          </a:prstGeom>
          <a:noFill/>
        </p:spPr>
        <p:txBody>
          <a:bodyPr wrap="square" anchor="t" lIns="0" rIns="0" tIns="0" bIns="0">
            <a:spAutoFit/>
          </a:bodyPr>
          <a:lstStyle/>
          <a:p>
            <a:pPr algn="r">
              <a:lnSpc>
                <a:spcPct val="116000"/>
              </a:lnSpc>
              <a:spcBef>
                <a:spcPts val="0"/>
              </a:spcBef>
              <a:spcAft>
                <a:spcPts val="0"/>
              </a:spcAft>
            </a:pPr>
            <a:r>
              <a:rPr sz="900" b="0" i="0">
                <a:solidFill>
                  <a:srgbClr val="7A8C94"/>
                </a:solidFill>
                <a:latin typeface="Arial"/>
              </a:rPr>
              <a:t>14</a:t>
            </a:r>
          </a:p>
        </p:txBody>
      </p:sp>
      <p:sp>
        <p:nvSpPr>
          <p:cNvPr id="5" name="TextBox 4"/>
          <p:cNvSpPr txBox="1"/>
          <p:nvPr/>
        </p:nvSpPr>
        <p:spPr>
          <a:xfrm>
            <a:off x="658368" y="365760"/>
            <a:ext cx="10874959" cy="237744"/>
          </a:xfrm>
          <a:prstGeom prst="rect">
            <a:avLst/>
          </a:prstGeom>
          <a:noFill/>
        </p:spPr>
        <p:txBody>
          <a:bodyPr wrap="square" anchor="t" lIns="0" rIns="0" tIns="0" bIns="0">
            <a:spAutoFit/>
          </a:bodyPr>
          <a:lstStyle/>
          <a:p>
            <a:pPr algn="l">
              <a:lnSpc>
                <a:spcPct val="116000"/>
              </a:lnSpc>
              <a:spcBef>
                <a:spcPts val="0"/>
              </a:spcBef>
              <a:spcAft>
                <a:spcPts val="0"/>
              </a:spcAft>
            </a:pPr>
            <a:r>
              <a:rPr sz="1000" b="0" i="0">
                <a:solidFill>
                  <a:srgbClr val="A17431"/>
                </a:solidFill>
                <a:latin typeface="Arial"/>
              </a:rPr>
              <a:t>6 · APPROACH AND WORK PLAN</a:t>
            </a:r>
          </a:p>
        </p:txBody>
      </p:sp>
      <p:sp>
        <p:nvSpPr>
          <p:cNvPr id="6" name="TextBox 5"/>
          <p:cNvSpPr txBox="1"/>
          <p:nvPr/>
        </p:nvSpPr>
        <p:spPr>
          <a:xfrm>
            <a:off x="658368" y="603504"/>
            <a:ext cx="10874959" cy="502920"/>
          </a:xfrm>
          <a:prstGeom prst="rect">
            <a:avLst/>
          </a:prstGeom>
          <a:noFill/>
        </p:spPr>
        <p:txBody>
          <a:bodyPr wrap="square" anchor="t" lIns="0" rIns="0" tIns="0" bIns="0">
            <a:spAutoFit/>
          </a:bodyPr>
          <a:lstStyle/>
          <a:p>
            <a:pPr algn="l">
              <a:lnSpc>
                <a:spcPct val="116000"/>
              </a:lnSpc>
              <a:spcBef>
                <a:spcPts val="0"/>
              </a:spcBef>
              <a:spcAft>
                <a:spcPts val="0"/>
              </a:spcAft>
            </a:pPr>
            <a:r>
              <a:rPr sz="2600" b="0" i="0">
                <a:solidFill>
                  <a:srgbClr val="315E75"/>
                </a:solidFill>
                <a:latin typeface="Arial"/>
              </a:rPr>
              <a:t>Checkpoints from this week to the final submission</a:t>
            </a:r>
          </a:p>
        </p:txBody>
      </p:sp>
      <p:sp>
        <p:nvSpPr>
          <p:cNvPr id="7" name="Rectangle 6"/>
          <p:cNvSpPr/>
          <p:nvPr/>
        </p:nvSpPr>
        <p:spPr>
          <a:xfrm>
            <a:off x="658368" y="1225296"/>
            <a:ext cx="10874959" cy="22860"/>
          </a:xfrm>
          <a:prstGeom prst="rect">
            <a:avLst/>
          </a:prstGeom>
          <a:solidFill>
            <a:srgbClr val="315E75"/>
          </a:solidFill>
          <a:ln>
            <a:noFill/>
          </a:ln>
          <a:effectLst/>
        </p:spPr>
        <p:txBody>
          <a:bodyPr rtlCol="0" anchor="ctr" wrap="square"/>
          <a:lstStyle/>
          <a:p>
            <a:pPr algn="ctr"/>
          </a:p>
        </p:txBody>
      </p:sp>
      <p:graphicFrame>
        <p:nvGraphicFramePr>
          <p:cNvPr id="8" name="Table 7"/>
          <p:cNvGraphicFramePr>
            <a:graphicFrameLocks noGrp="1"/>
          </p:cNvGraphicFramePr>
          <p:nvPr/>
        </p:nvGraphicFramePr>
        <p:xfrm>
          <a:off x="658368" y="1463040"/>
          <a:ext cx="10874959" cy="4078224"/>
        </p:xfrm>
        <a:graphic>
          <a:graphicData uri="http://schemas.openxmlformats.org/drawingml/2006/table">
            <a:tbl>
              <a:tblPr firstRow="0" bandRow="0">
                <a:tableStyleId>{2D5ABB26-0587-4C30-8999-92F81FD0307C}</a:tableStyleId>
              </a:tblPr>
              <a:tblGrid>
                <a:gridCol w="1298448"/>
                <a:gridCol w="5989320"/>
                <a:gridCol w="3587191"/>
              </a:tblGrid>
              <a:tr h="420624">
                <a:tc>
                  <a:txBody>
                    <a:bodyPr wrap="square"/>
                    <a:lstStyle/>
                    <a:p>
                      <a:pPr algn="l">
                        <a:lnSpc>
                          <a:spcPct val="108000"/>
                        </a:lnSpc>
                        <a:spcBef>
                          <a:spcPts val="0"/>
                        </a:spcBef>
                        <a:spcAft>
                          <a:spcPts val="0"/>
                        </a:spcAft>
                      </a:pPr>
                      <a:r>
                        <a:rPr sz="1100" b="1" i="0">
                          <a:solidFill>
                            <a:srgbClr val="FFFFFF"/>
                          </a:solidFill>
                          <a:latin typeface="Arial"/>
                        </a:rPr>
                        <a:t>Course weeks</a:t>
                      </a:r>
                    </a:p>
                  </a:txBody>
                  <a:tcPr marL="91440" marR="82296" marT="50292" marB="50292" anchor="ctr">
                    <a:lnL w="9525" cap="flat" cmpd="sng" algn="ctr">
                      <a:solidFill>
                        <a:srgbClr val="315E75"/>
                      </a:solidFill>
                      <a:prstDash val="solid"/>
                    </a:lnL>
                    <a:lnT w="9525" cap="flat" cmpd="sng" algn="ctr">
                      <a:solidFill>
                        <a:srgbClr val="315E75"/>
                      </a:solidFill>
                      <a:prstDash val="solid"/>
                    </a:lnT>
                    <a:lnB w="9525" cap="flat" cmpd="sng" algn="ctr">
                      <a:solidFill>
                        <a:srgbClr val="315E75"/>
                      </a:solidFill>
                      <a:prstDash val="solid"/>
                    </a:lnB>
                    <a:solidFill>
                      <a:srgbClr val="315E75"/>
                    </a:solidFill>
                  </a:tcPr>
                </a:tc>
                <a:tc>
                  <a:txBody>
                    <a:bodyPr wrap="square"/>
                    <a:lstStyle/>
                    <a:p>
                      <a:pPr algn="l">
                        <a:lnSpc>
                          <a:spcPct val="108000"/>
                        </a:lnSpc>
                        <a:spcBef>
                          <a:spcPts val="0"/>
                        </a:spcBef>
                        <a:spcAft>
                          <a:spcPts val="0"/>
                        </a:spcAft>
                      </a:pPr>
                      <a:r>
                        <a:rPr sz="1100" b="1" i="0">
                          <a:solidFill>
                            <a:srgbClr val="FFFFFF"/>
                          </a:solidFill>
                          <a:latin typeface="Arial"/>
                        </a:rPr>
                        <a:t>Work</a:t>
                      </a:r>
                    </a:p>
                  </a:txBody>
                  <a:tcPr marL="91440" marR="82296" marT="50292" marB="50292" anchor="ctr">
                    <a:lnT w="9525" cap="flat" cmpd="sng" algn="ctr">
                      <a:solidFill>
                        <a:srgbClr val="315E75"/>
                      </a:solidFill>
                      <a:prstDash val="solid"/>
                    </a:lnT>
                    <a:lnB w="9525" cap="flat" cmpd="sng" algn="ctr">
                      <a:solidFill>
                        <a:srgbClr val="315E75"/>
                      </a:solidFill>
                      <a:prstDash val="solid"/>
                    </a:lnB>
                    <a:solidFill>
                      <a:srgbClr val="315E75"/>
                    </a:solidFill>
                  </a:tcPr>
                </a:tc>
                <a:tc>
                  <a:txBody>
                    <a:bodyPr wrap="square"/>
                    <a:lstStyle/>
                    <a:p>
                      <a:pPr algn="l">
                        <a:lnSpc>
                          <a:spcPct val="108000"/>
                        </a:lnSpc>
                        <a:spcBef>
                          <a:spcPts val="0"/>
                        </a:spcBef>
                        <a:spcAft>
                          <a:spcPts val="0"/>
                        </a:spcAft>
                      </a:pPr>
                      <a:r>
                        <a:rPr sz="1100" b="1" i="0">
                          <a:solidFill>
                            <a:srgbClr val="FFFFFF"/>
                          </a:solidFill>
                          <a:latin typeface="Arial"/>
                        </a:rPr>
                        <a:t>Checkpoint / acceptance</a:t>
                      </a:r>
                    </a:p>
                  </a:txBody>
                  <a:tcPr marL="91440" marR="82296" marT="50292" marB="50292" anchor="ctr">
                    <a:lnR w="9525" cap="flat" cmpd="sng" algn="ctr">
                      <a:solidFill>
                        <a:srgbClr val="315E75"/>
                      </a:solidFill>
                      <a:prstDash val="solid"/>
                    </a:lnR>
                    <a:lnT w="9525" cap="flat" cmpd="sng" algn="ctr">
                      <a:solidFill>
                        <a:srgbClr val="315E75"/>
                      </a:solidFill>
                      <a:prstDash val="solid"/>
                    </a:lnT>
                    <a:lnB w="9525" cap="flat" cmpd="sng" algn="ctr">
                      <a:solidFill>
                        <a:srgbClr val="315E75"/>
                      </a:solidFill>
                      <a:prstDash val="solid"/>
                    </a:lnB>
                    <a:solidFill>
                      <a:srgbClr val="315E75"/>
                    </a:solidFill>
                  </a:tcPr>
                </a:tc>
              </a:tr>
              <a:tr h="731520">
                <a:tc>
                  <a:txBody>
                    <a:bodyPr wrap="square"/>
                    <a:lstStyle/>
                    <a:p>
                      <a:pPr algn="l">
                        <a:lnSpc>
                          <a:spcPct val="108000"/>
                        </a:lnSpc>
                        <a:spcBef>
                          <a:spcPts val="0"/>
                        </a:spcBef>
                        <a:spcAft>
                          <a:spcPts val="0"/>
                        </a:spcAft>
                      </a:pPr>
                      <a:r>
                        <a:rPr sz="1100" b="1" i="0">
                          <a:solidFill>
                            <a:srgbClr val="315E75"/>
                          </a:solidFill>
                          <a:latin typeface="Arial"/>
                        </a:rPr>
                        <a:t>1-3</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00" b="0" i="0">
                          <a:solidFill>
                            <a:srgbClr val="2B3A42"/>
                          </a:solidFill>
                          <a:latin typeface="Arial"/>
                        </a:rPr>
                        <a:t>Verify Codex/ZCode/DSH samples, billing modes, rate dimensions and UI; define access rules.</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00" b="0" i="0">
                          <a:solidFill>
                            <a:srgbClr val="2B3A42"/>
                          </a:solidFill>
                          <a:latin typeface="Arial"/>
                        </a:rPr>
                        <a:t>Verified sources; isolated accounts.</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FFFFF"/>
                    </a:solidFill>
                  </a:tcPr>
                </a:tc>
              </a:tr>
              <a:tr h="731520">
                <a:tc>
                  <a:txBody>
                    <a:bodyPr wrap="square"/>
                    <a:lstStyle/>
                    <a:p>
                      <a:pPr algn="l">
                        <a:lnSpc>
                          <a:spcPct val="108000"/>
                        </a:lnSpc>
                        <a:spcBef>
                          <a:spcPts val="0"/>
                        </a:spcBef>
                        <a:spcAft>
                          <a:spcPts val="0"/>
                        </a:spcAft>
                      </a:pPr>
                      <a:r>
                        <a:rPr sz="1100" b="1" i="0">
                          <a:solidFill>
                            <a:srgbClr val="315E75"/>
                          </a:solidFill>
                          <a:latin typeface="Arial"/>
                        </a:rPr>
                        <a:t>4-7</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00" b="0" i="0">
                          <a:solidFill>
                            <a:srgbClr val="2B3A42"/>
                          </a:solidFill>
                          <a:latin typeface="Arial"/>
                        </a:rPr>
                        <a:t>Build import, storage, dated pricing and analytics; define the five read-only tool contracts.</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00" b="0" i="0">
                          <a:solidFill>
                            <a:srgbClr val="2B3A42"/>
                          </a:solidFill>
                          <a:latin typeface="Arial"/>
                        </a:rPr>
                        <a:t>Correct rates; idempotent import.</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7FAFB"/>
                    </a:solidFill>
                  </a:tcPr>
                </a:tc>
              </a:tr>
              <a:tr h="731520">
                <a:tc>
                  <a:txBody>
                    <a:bodyPr wrap="square"/>
                    <a:lstStyle/>
                    <a:p>
                      <a:pPr algn="l">
                        <a:lnSpc>
                          <a:spcPct val="108000"/>
                        </a:lnSpc>
                        <a:spcBef>
                          <a:spcPts val="0"/>
                        </a:spcBef>
                        <a:spcAft>
                          <a:spcPts val="0"/>
                        </a:spcAft>
                      </a:pPr>
                      <a:r>
                        <a:rPr sz="1100" b="1" i="0">
                          <a:solidFill>
                            <a:srgbClr val="315E75"/>
                          </a:solidFill>
                          <a:latin typeface="Arial"/>
                        </a:rPr>
                        <a:t>8-9 · Alpha</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00" b="0" i="0">
                          <a:solidFill>
                            <a:srgbClr val="2B3A42"/>
                          </a:solidFill>
                          <a:latin typeface="Arial"/>
                        </a:rPr>
                        <a:t>Login → profile → import → cost → home.</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00" b="0" i="0">
                          <a:solidFill>
                            <a:srgbClr val="2B3A42"/>
                          </a:solidFill>
                          <a:latin typeface="Arial"/>
                        </a:rPr>
                        <a:t>Separate real and sample data; source, GitHub link and MP4.</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FFFFF"/>
                    </a:solidFill>
                  </a:tcPr>
                </a:tc>
              </a:tr>
              <a:tr h="731520">
                <a:tc>
                  <a:txBody>
                    <a:bodyPr wrap="square"/>
                    <a:lstStyle/>
                    <a:p>
                      <a:pPr algn="l">
                        <a:lnSpc>
                          <a:spcPct val="108000"/>
                        </a:lnSpc>
                        <a:spcBef>
                          <a:spcPts val="0"/>
                        </a:spcBef>
                        <a:spcAft>
                          <a:spcPts val="0"/>
                        </a:spcAft>
                      </a:pPr>
                      <a:r>
                        <a:rPr sz="1100" b="1" i="0">
                          <a:solidFill>
                            <a:srgbClr val="315E75"/>
                          </a:solidFill>
                          <a:latin typeface="Arial"/>
                        </a:rPr>
                        <a:t>10-12 · Beta</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00" b="0" i="0">
                          <a:solidFill>
                            <a:srgbClr val="2B3A42"/>
                          </a:solidFill>
                          <a:latin typeface="Arial"/>
                        </a:rPr>
                        <a:t>Wang: assistant and forum using Zhang's queries. Liu: settlement and the real-time game.</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7FAFB"/>
                    </a:solidFill>
                  </a:tcPr>
                </a:tc>
                <a:tc>
                  <a:txBody>
                    <a:bodyPr wrap="square"/>
                    <a:lstStyle/>
                    <a:p>
                      <a:pPr algn="l">
                        <a:lnSpc>
                          <a:spcPct val="108000"/>
                        </a:lnSpc>
                        <a:spcBef>
                          <a:spcPts val="0"/>
                        </a:spcBef>
                        <a:spcAft>
                          <a:spcPts val="0"/>
                        </a:spcAft>
                      </a:pPr>
                      <a:r>
                        <a:rPr sz="1100" b="0" i="0">
                          <a:solidFill>
                            <a:srgbClr val="2B3A42"/>
                          </a:solidFill>
                          <a:latin typeface="Arial"/>
                        </a:rPr>
                        <a:t>Cited evidence; typing fallback; ranked posts; smooth waves.</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7FAFB"/>
                    </a:solidFill>
                  </a:tcPr>
                </a:tc>
              </a:tr>
              <a:tr h="731520">
                <a:tc>
                  <a:txBody>
                    <a:bodyPr wrap="square"/>
                    <a:lstStyle/>
                    <a:p>
                      <a:pPr algn="l">
                        <a:lnSpc>
                          <a:spcPct val="108000"/>
                        </a:lnSpc>
                        <a:spcBef>
                          <a:spcPts val="0"/>
                        </a:spcBef>
                        <a:spcAft>
                          <a:spcPts val="0"/>
                        </a:spcAft>
                      </a:pPr>
                      <a:r>
                        <a:rPr sz="1100" b="1" i="0">
                          <a:solidFill>
                            <a:srgbClr val="315E75"/>
                          </a:solidFill>
                          <a:latin typeface="Arial"/>
                        </a:rPr>
                        <a:t>13-15 · Final</a:t>
                      </a:r>
                    </a:p>
                  </a:txBody>
                  <a:tcPr marL="91440" marR="82296" marT="50292" marB="50292" anchor="ctr">
                    <a:lnL w="9525" cap="flat" cmpd="sng" algn="ctr">
                      <a:solidFill>
                        <a:srgbClr val="BDD0D8"/>
                      </a:solidFill>
                      <a:prstDash val="solid"/>
                    </a:lnL>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00" b="0" i="0">
                          <a:solidFill>
                            <a:srgbClr val="2B3A42"/>
                          </a:solidFill>
                          <a:latin typeface="Arial"/>
                        </a:rPr>
                        <a:t>Validate advice, cost separation, game balance, accessibility and isolation; complete the documentation.</a:t>
                      </a:r>
                    </a:p>
                  </a:txBody>
                  <a:tcPr marL="91440" marR="82296" marT="50292" marB="50292" anchor="ctr">
                    <a:lnT w="9525" cap="flat" cmpd="sng" algn="ctr">
                      <a:solidFill>
                        <a:srgbClr val="BDD0D8"/>
                      </a:solidFill>
                      <a:prstDash val="solid"/>
                    </a:lnT>
                    <a:lnB w="9525" cap="flat" cmpd="sng" algn="ctr">
                      <a:solidFill>
                        <a:srgbClr val="BDD0D8"/>
                      </a:solidFill>
                      <a:prstDash val="solid"/>
                    </a:lnB>
                    <a:solidFill>
                      <a:srgbClr val="FFFFFF"/>
                    </a:solidFill>
                  </a:tcPr>
                </a:tc>
                <a:tc>
                  <a:txBody>
                    <a:bodyPr wrap="square"/>
                    <a:lstStyle/>
                    <a:p>
                      <a:pPr algn="l">
                        <a:lnSpc>
                          <a:spcPct val="108000"/>
                        </a:lnSpc>
                        <a:spcBef>
                          <a:spcPts val="0"/>
                        </a:spcBef>
                        <a:spcAft>
                          <a:spcPts val="0"/>
                        </a:spcAft>
                      </a:pPr>
                      <a:r>
                        <a:rPr sz="1100" b="0" i="0">
                          <a:solidFill>
                            <a:srgbClr val="2B3A42"/>
                          </a:solidFill>
                          <a:latin typeface="Arial"/>
                        </a:rPr>
                        <a:t>Demo, tests, report and video; licence records.</a:t>
                      </a:r>
                    </a:p>
                  </a:txBody>
                  <a:tcPr marL="91440" marR="82296" marT="50292" marB="50292" anchor="ctr">
                    <a:lnR w="9525" cap="flat" cmpd="sng" algn="ctr">
                      <a:solidFill>
                        <a:srgbClr val="BDD0D8"/>
                      </a:solidFill>
                      <a:prstDash val="solid"/>
                    </a:lnR>
                    <a:lnT w="9525" cap="flat" cmpd="sng" algn="ctr">
                      <a:solidFill>
                        <a:srgbClr val="BDD0D8"/>
                      </a:solidFill>
                      <a:prstDash val="solid"/>
                    </a:lnT>
                    <a:lnB w="9525" cap="flat" cmpd="sng" algn="ctr">
                      <a:solidFill>
                        <a:srgbClr val="BDD0D8"/>
                      </a:solidFill>
                      <a:prstDash val="solid"/>
                    </a:lnB>
                    <a:solidFill>
                      <a:srgbClr val="FFFFFF"/>
                    </a:solidFill>
                  </a:tcPr>
                </a:tc>
              </a:tr>
            </a:tbl>
          </a:graphicData>
        </a:graphic>
      </p:graphicFrame>
      <p:sp>
        <p:nvSpPr>
          <p:cNvPr id="9" name="TextBox 8"/>
          <p:cNvSpPr txBox="1"/>
          <p:nvPr/>
        </p:nvSpPr>
        <p:spPr>
          <a:xfrm>
            <a:off x="658368" y="5742432"/>
            <a:ext cx="10874959" cy="365760"/>
          </a:xfrm>
          <a:prstGeom prst="rect">
            <a:avLst/>
          </a:prstGeom>
          <a:noFill/>
        </p:spPr>
        <p:txBody>
          <a:bodyPr wrap="square" anchor="t" lIns="0" rIns="0" tIns="0" bIns="0">
            <a:spAutoFit/>
          </a:bodyPr>
          <a:lstStyle/>
          <a:p>
            <a:pPr algn="l">
              <a:lnSpc>
                <a:spcPct val="116000"/>
              </a:lnSpc>
              <a:spcBef>
                <a:spcPts val="0"/>
              </a:spcBef>
              <a:spcAft>
                <a:spcPts val="0"/>
              </a:spcAft>
            </a:pPr>
            <a:r>
              <a:rPr sz="1050" b="0" i="0">
                <a:solidFill>
                  <a:srgbClr val="7A8C94"/>
                </a:solidFill>
                <a:latin typeface="Arial"/>
              </a:rPr>
              <a:t>The team commits to GitHub throughout and adjusts scope based on tested progress.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58368" y="6309360"/>
            <a:ext cx="10874959" cy="12801"/>
          </a:xfrm>
          <a:prstGeom prst="rect">
            <a:avLst/>
          </a:prstGeom>
          <a:solidFill>
            <a:srgbClr val="BDD0D8"/>
          </a:solidFill>
          <a:ln>
            <a:noFill/>
          </a:ln>
          <a:effectLst/>
        </p:spPr>
        <p:txBody>
          <a:bodyPr rtlCol="0" anchor="ctr" wrap="square"/>
          <a:lstStyle/>
          <a:p>
            <a:pPr algn="ctr"/>
          </a:p>
        </p:txBody>
      </p:sp>
      <p:sp>
        <p:nvSpPr>
          <p:cNvPr id="3" name="TextBox 2"/>
          <p:cNvSpPr txBox="1"/>
          <p:nvPr/>
        </p:nvSpPr>
        <p:spPr>
          <a:xfrm>
            <a:off x="658368" y="6419088"/>
            <a:ext cx="7612471" cy="274320"/>
          </a:xfrm>
          <a:prstGeom prst="rect">
            <a:avLst/>
          </a:prstGeom>
          <a:noFill/>
        </p:spPr>
        <p:txBody>
          <a:bodyPr wrap="square" anchor="t" lIns="0" rIns="0" tIns="0" bIns="0">
            <a:spAutoFit/>
          </a:bodyPr>
          <a:lstStyle/>
          <a:p>
            <a:pPr algn="l">
              <a:lnSpc>
                <a:spcPct val="116000"/>
              </a:lnSpc>
              <a:spcBef>
                <a:spcPts val="0"/>
              </a:spcBef>
              <a:spcAft>
                <a:spcPts val="0"/>
              </a:spcAft>
            </a:pPr>
            <a:r>
              <a:rPr sz="900" b="0" i="0">
                <a:solidFill>
                  <a:srgbClr val="7A8C94"/>
                </a:solidFill>
                <a:latin typeface="Arial"/>
              </a:rPr>
              <a:t>TokenTrail · Group 20 · Android App Project Outline</a:t>
            </a:r>
          </a:p>
        </p:txBody>
      </p:sp>
      <p:sp>
        <p:nvSpPr>
          <p:cNvPr id="4" name="TextBox 3"/>
          <p:cNvSpPr txBox="1"/>
          <p:nvPr/>
        </p:nvSpPr>
        <p:spPr>
          <a:xfrm>
            <a:off x="10436047" y="6419088"/>
            <a:ext cx="1097280" cy="274320"/>
          </a:xfrm>
          <a:prstGeom prst="rect">
            <a:avLst/>
          </a:prstGeom>
          <a:noFill/>
        </p:spPr>
        <p:txBody>
          <a:bodyPr wrap="square" anchor="t" lIns="0" rIns="0" tIns="0" bIns="0">
            <a:spAutoFit/>
          </a:bodyPr>
          <a:lstStyle/>
          <a:p>
            <a:pPr algn="r">
              <a:lnSpc>
                <a:spcPct val="116000"/>
              </a:lnSpc>
              <a:spcBef>
                <a:spcPts val="0"/>
              </a:spcBef>
              <a:spcAft>
                <a:spcPts val="0"/>
              </a:spcAft>
            </a:pPr>
            <a:r>
              <a:rPr sz="900" b="0" i="0">
                <a:solidFill>
                  <a:srgbClr val="7A8C94"/>
                </a:solidFill>
                <a:latin typeface="Arial"/>
              </a:rPr>
              <a:t>15</a:t>
            </a:r>
          </a:p>
        </p:txBody>
      </p:sp>
      <p:sp>
        <p:nvSpPr>
          <p:cNvPr id="5" name="TextBox 4"/>
          <p:cNvSpPr txBox="1"/>
          <p:nvPr/>
        </p:nvSpPr>
        <p:spPr>
          <a:xfrm>
            <a:off x="658368" y="365760"/>
            <a:ext cx="10874959" cy="237744"/>
          </a:xfrm>
          <a:prstGeom prst="rect">
            <a:avLst/>
          </a:prstGeom>
          <a:noFill/>
        </p:spPr>
        <p:txBody>
          <a:bodyPr wrap="square" anchor="t" lIns="0" rIns="0" tIns="0" bIns="0">
            <a:spAutoFit/>
          </a:bodyPr>
          <a:lstStyle/>
          <a:p>
            <a:pPr algn="l">
              <a:lnSpc>
                <a:spcPct val="116000"/>
              </a:lnSpc>
              <a:spcBef>
                <a:spcPts val="0"/>
              </a:spcBef>
              <a:spcAft>
                <a:spcPts val="0"/>
              </a:spcAft>
            </a:pPr>
            <a:r>
              <a:rPr sz="1000" b="0" i="0">
                <a:solidFill>
                  <a:srgbClr val="A17431"/>
                </a:solidFill>
                <a:latin typeface="Arial"/>
              </a:rPr>
              <a:t>6 · EVIDENCE OF COMPLETION</a:t>
            </a:r>
          </a:p>
        </p:txBody>
      </p:sp>
      <p:sp>
        <p:nvSpPr>
          <p:cNvPr id="6" name="TextBox 5"/>
          <p:cNvSpPr txBox="1"/>
          <p:nvPr/>
        </p:nvSpPr>
        <p:spPr>
          <a:xfrm>
            <a:off x="658368" y="603504"/>
            <a:ext cx="10874959" cy="502920"/>
          </a:xfrm>
          <a:prstGeom prst="rect">
            <a:avLst/>
          </a:prstGeom>
          <a:noFill/>
        </p:spPr>
        <p:txBody>
          <a:bodyPr wrap="square" anchor="t" lIns="0" rIns="0" tIns="0" bIns="0">
            <a:spAutoFit/>
          </a:bodyPr>
          <a:lstStyle/>
          <a:p>
            <a:pPr algn="l">
              <a:lnSpc>
                <a:spcPct val="116000"/>
              </a:lnSpc>
              <a:spcBef>
                <a:spcPts val="0"/>
              </a:spcBef>
              <a:spcAft>
                <a:spcPts val="0"/>
              </a:spcAft>
            </a:pPr>
            <a:r>
              <a:rPr sz="2600" b="0" i="0">
                <a:solidFill>
                  <a:srgbClr val="315E75"/>
                </a:solidFill>
                <a:latin typeface="Arial"/>
              </a:rPr>
              <a:t>Who builds what, and how we will know it works</a:t>
            </a:r>
          </a:p>
        </p:txBody>
      </p:sp>
      <p:sp>
        <p:nvSpPr>
          <p:cNvPr id="7" name="Rectangle 6"/>
          <p:cNvSpPr/>
          <p:nvPr/>
        </p:nvSpPr>
        <p:spPr>
          <a:xfrm>
            <a:off x="658368" y="1225296"/>
            <a:ext cx="10874959" cy="22860"/>
          </a:xfrm>
          <a:prstGeom prst="rect">
            <a:avLst/>
          </a:prstGeom>
          <a:solidFill>
            <a:srgbClr val="315E75"/>
          </a:solidFill>
          <a:ln>
            <a:noFill/>
          </a:ln>
          <a:effectLst/>
        </p:spPr>
        <p:txBody>
          <a:bodyPr rtlCol="0" anchor="ctr" wrap="square"/>
          <a:lstStyle/>
          <a:p>
            <a:pPr algn="ctr"/>
          </a:p>
        </p:txBody>
      </p:sp>
      <p:sp>
        <p:nvSpPr>
          <p:cNvPr id="8" name="Rounded Rectangle 7"/>
          <p:cNvSpPr/>
          <p:nvPr/>
        </p:nvSpPr>
        <p:spPr>
          <a:xfrm>
            <a:off x="658368" y="1554480"/>
            <a:ext cx="3478682" cy="1572768"/>
          </a:xfrm>
          <a:prstGeom prst="roundRect">
            <a:avLst>
              <a:gd name="adj" fmla="val 6000"/>
            </a:avLst>
          </a:prstGeom>
          <a:solidFill>
            <a:srgbClr val="EAF3F7"/>
          </a:solidFill>
          <a:ln w="9525">
            <a:solidFill>
              <a:srgbClr val="BDD0D8"/>
            </a:solidFill>
          </a:ln>
          <a:effectLst/>
        </p:spPr>
        <p:txBody>
          <a:bodyPr rtlCol="0" anchor="t" wrap="square" lIns="137160" rIns="137160" tIns="109728" bIns="109728"/>
          <a:lstStyle/>
          <a:p>
            <a:pPr algn="l">
              <a:lnSpc>
                <a:spcPct val="116000"/>
              </a:lnSpc>
              <a:spcBef>
                <a:spcPts val="0"/>
              </a:spcBef>
              <a:spcAft>
                <a:spcPts val="300"/>
              </a:spcAft>
            </a:pPr>
            <a:r>
              <a:rPr sz="1250" b="1" i="0">
                <a:solidFill>
                  <a:srgbClr val="315E75"/>
                </a:solidFill>
                <a:latin typeface="Arial"/>
              </a:rPr>
              <a:t>Zhang Li · 24107757</a:t>
            </a:r>
          </a:p>
          <a:p>
            <a:pPr algn="l">
              <a:lnSpc>
                <a:spcPct val="114000"/>
              </a:lnSpc>
              <a:spcBef>
                <a:spcPts val="0"/>
              </a:spcBef>
              <a:spcAft>
                <a:spcPts val="0"/>
              </a:spcAft>
            </a:pPr>
            <a:r>
              <a:rPr sz="1100" b="0" i="0">
                <a:solidFill>
                  <a:srgbClr val="2B3A42"/>
                </a:solidFill>
                <a:latin typeface="Arial"/>
              </a:rPr>
              <a:t>Authentication, log import and storage, dated pricing, budgets, the dashboard and the data-query interfaces.</a:t>
            </a:r>
          </a:p>
        </p:txBody>
      </p:sp>
      <p:sp>
        <p:nvSpPr>
          <p:cNvPr id="9" name="Rounded Rectangle 8"/>
          <p:cNvSpPr/>
          <p:nvPr/>
        </p:nvSpPr>
        <p:spPr>
          <a:xfrm>
            <a:off x="4356506" y="1554480"/>
            <a:ext cx="3478682" cy="1572768"/>
          </a:xfrm>
          <a:prstGeom prst="roundRect">
            <a:avLst>
              <a:gd name="adj" fmla="val 6000"/>
            </a:avLst>
          </a:prstGeom>
          <a:solidFill>
            <a:srgbClr val="EDF6F2"/>
          </a:solidFill>
          <a:ln w="9525">
            <a:solidFill>
              <a:srgbClr val="BDD0D8"/>
            </a:solidFill>
          </a:ln>
          <a:effectLst/>
        </p:spPr>
        <p:txBody>
          <a:bodyPr rtlCol="0" anchor="t" wrap="square" lIns="137160" rIns="137160" tIns="109728" bIns="109728"/>
          <a:lstStyle/>
          <a:p>
            <a:pPr algn="l">
              <a:lnSpc>
                <a:spcPct val="116000"/>
              </a:lnSpc>
              <a:spcBef>
                <a:spcPts val="0"/>
              </a:spcBef>
              <a:spcAft>
                <a:spcPts val="300"/>
              </a:spcAft>
            </a:pPr>
            <a:r>
              <a:rPr sz="1250" b="1" i="0">
                <a:solidFill>
                  <a:srgbClr val="2E766E"/>
                </a:solidFill>
                <a:latin typeface="Arial"/>
              </a:rPr>
              <a:t>Wang Tingdong · 24107759</a:t>
            </a:r>
          </a:p>
          <a:p>
            <a:pPr algn="l">
              <a:lnSpc>
                <a:spcPct val="114000"/>
              </a:lnSpc>
              <a:spcBef>
                <a:spcPts val="0"/>
              </a:spcBef>
              <a:spcAft>
                <a:spcPts val="0"/>
              </a:spcAft>
            </a:pPr>
            <a:r>
              <a:rPr sz="1100" b="0" i="0">
                <a:solidFill>
                  <a:srgbClr val="2B3A42"/>
                </a:solidFill>
                <a:latin typeface="Arial"/>
              </a:rPr>
              <a:t>The home-screen AI assistant, its text/voice panel, the Java advice service, the five read-only tools and the assistant API ledger; forum news, posts, replies and ranking.</a:t>
            </a:r>
          </a:p>
        </p:txBody>
      </p:sp>
      <p:sp>
        <p:nvSpPr>
          <p:cNvPr id="10" name="Rounded Rectangle 9"/>
          <p:cNvSpPr/>
          <p:nvPr/>
        </p:nvSpPr>
        <p:spPr>
          <a:xfrm>
            <a:off x="8054644" y="1554480"/>
            <a:ext cx="3478682" cy="1572768"/>
          </a:xfrm>
          <a:prstGeom prst="roundRect">
            <a:avLst>
              <a:gd name="adj" fmla="val 6000"/>
            </a:avLst>
          </a:prstGeom>
          <a:solidFill>
            <a:srgbClr val="FAF3E5"/>
          </a:solidFill>
          <a:ln w="9525">
            <a:solidFill>
              <a:srgbClr val="BDD0D8"/>
            </a:solidFill>
          </a:ln>
          <a:effectLst/>
        </p:spPr>
        <p:txBody>
          <a:bodyPr rtlCol="0" anchor="t" wrap="square" lIns="137160" rIns="137160" tIns="109728" bIns="109728"/>
          <a:lstStyle/>
          <a:p>
            <a:pPr algn="l">
              <a:lnSpc>
                <a:spcPct val="116000"/>
              </a:lnSpc>
              <a:spcBef>
                <a:spcPts val="0"/>
              </a:spcBef>
              <a:spcAft>
                <a:spcPts val="300"/>
              </a:spcAft>
            </a:pPr>
            <a:r>
              <a:rPr sz="1250" b="1" i="0">
                <a:solidFill>
                  <a:srgbClr val="A17431"/>
                </a:solidFill>
                <a:latin typeface="Arial"/>
              </a:rPr>
              <a:t>Liu Zongrun · 24107745</a:t>
            </a:r>
          </a:p>
          <a:p>
            <a:pPr algn="l">
              <a:lnSpc>
                <a:spcPct val="114000"/>
              </a:lnSpc>
              <a:spcBef>
                <a:spcPts val="0"/>
              </a:spcBef>
              <a:spcAft>
                <a:spcPts val="0"/>
              </a:spcAft>
            </a:pPr>
            <a:r>
              <a:rPr sz="1100" b="0" i="0">
                <a:solidFill>
                  <a:srgbClr val="2B3A42"/>
                </a:solidFill>
                <a:latin typeface="Arial"/>
              </a:rPr>
              <a:t>The tower-defence engine and UI, resource settlement on the server, monthly state, placement and upgrades, and enemy waves.</a:t>
            </a:r>
          </a:p>
        </p:txBody>
      </p:sp>
      <p:sp>
        <p:nvSpPr>
          <p:cNvPr id="11" name="Rounded Rectangle 10"/>
          <p:cNvSpPr/>
          <p:nvPr/>
        </p:nvSpPr>
        <p:spPr>
          <a:xfrm>
            <a:off x="658368" y="3255264"/>
            <a:ext cx="10874959" cy="1152144"/>
          </a:xfrm>
          <a:prstGeom prst="roundRect">
            <a:avLst>
              <a:gd name="adj" fmla="val 6000"/>
            </a:avLst>
          </a:prstGeom>
          <a:solidFill>
            <a:srgbClr val="F7FAFB"/>
          </a:solidFill>
          <a:ln w="9525">
            <a:solidFill>
              <a:srgbClr val="BDD0D8"/>
            </a:solidFill>
          </a:ln>
          <a:effectLst/>
        </p:spPr>
        <p:txBody>
          <a:bodyPr rtlCol="0" anchor="t" wrap="square" lIns="155448" rIns="155448" tIns="124358" bIns="124358"/>
          <a:lstStyle/>
          <a:p>
            <a:pPr algn="l">
              <a:lnSpc>
                <a:spcPct val="116000"/>
              </a:lnSpc>
              <a:spcBef>
                <a:spcPts val="0"/>
              </a:spcBef>
              <a:spcAft>
                <a:spcPts val="300"/>
              </a:spcAft>
            </a:pPr>
            <a:r>
              <a:rPr sz="1250" b="1" i="0">
                <a:solidFill>
                  <a:srgbClr val="315E75"/>
                </a:solidFill>
                <a:latin typeface="Arial"/>
              </a:rPr>
              <a:t>Demo path</a:t>
            </a:r>
          </a:p>
          <a:p>
            <a:pPr algn="l">
              <a:lnSpc>
                <a:spcPct val="114000"/>
              </a:lnSpc>
              <a:spcBef>
                <a:spcPts val="0"/>
              </a:spcBef>
              <a:spcAft>
                <a:spcPts val="0"/>
              </a:spcAft>
            </a:pPr>
            <a:r>
              <a:rPr sz="1150" b="0" i="0">
                <a:solidFill>
                  <a:srgbClr val="2B3A42"/>
                </a:solidFill>
                <a:latin typeface="Arial"/>
              </a:rPr>
              <a:t>Account isolation → tracked Codex, ZCode and DSH profiles → dated estimates from token logs → heatmap and budget warning → "Why did cost rise?" asked by text or confirmed speech, answered with evidence and its own assistant API cost → forum posts and replies → a player-started game wave.</a:t>
            </a:r>
          </a:p>
        </p:txBody>
      </p:sp>
      <p:sp>
        <p:nvSpPr>
          <p:cNvPr id="12" name="Rounded Rectangle 11"/>
          <p:cNvSpPr/>
          <p:nvPr/>
        </p:nvSpPr>
        <p:spPr>
          <a:xfrm>
            <a:off x="658368" y="4535424"/>
            <a:ext cx="10874959" cy="1225296"/>
          </a:xfrm>
          <a:prstGeom prst="roundRect">
            <a:avLst>
              <a:gd name="adj" fmla="val 6000"/>
            </a:avLst>
          </a:prstGeom>
          <a:solidFill>
            <a:srgbClr val="F7FAFB"/>
          </a:solidFill>
          <a:ln w="9525">
            <a:solidFill>
              <a:srgbClr val="BDD0D8"/>
            </a:solidFill>
          </a:ln>
          <a:effectLst/>
        </p:spPr>
        <p:txBody>
          <a:bodyPr rtlCol="0" anchor="t" wrap="square" lIns="155448" rIns="155448" tIns="124358" bIns="124358"/>
          <a:lstStyle/>
          <a:p>
            <a:pPr algn="l">
              <a:lnSpc>
                <a:spcPct val="116000"/>
              </a:lnSpc>
              <a:spcBef>
                <a:spcPts val="0"/>
              </a:spcBef>
              <a:spcAft>
                <a:spcPts val="300"/>
              </a:spcAft>
            </a:pPr>
            <a:r>
              <a:rPr sz="1250" b="1" i="0">
                <a:solidFill>
                  <a:srgbClr val="315E75"/>
                </a:solidFill>
                <a:latin typeface="Arial"/>
              </a:rPr>
              <a:t>Validation</a:t>
            </a:r>
          </a:p>
          <a:p>
            <a:pPr algn="l">
              <a:lnSpc>
                <a:spcPct val="114000"/>
              </a:lnSpc>
              <a:spcBef>
                <a:spcPts val="0"/>
              </a:spcBef>
              <a:spcAft>
                <a:spcPts val="0"/>
              </a:spcAft>
            </a:pPr>
            <a:r>
              <a:rPr sz="1150" b="0" i="0">
                <a:solidFill>
                  <a:srgbClr val="2B3A42"/>
                </a:solidFill>
                <a:latin typeface="Arial"/>
              </a:rPr>
              <a:t>Test plan exclusion, log formats, token classes, dated and time-based rates, missing data, de-duplication and account/tool isolation. Replies are checked against evidence, text fallback and ledger separation, and re-importing logs grants no duplicate game resources. Sample data never enters real totals.</a:t>
            </a:r>
          </a:p>
        </p:txBody>
      </p:sp>
      <p:sp>
        <p:nvSpPr>
          <p:cNvPr id="13" name="TextBox 12"/>
          <p:cNvSpPr txBox="1"/>
          <p:nvPr/>
        </p:nvSpPr>
        <p:spPr>
          <a:xfrm>
            <a:off x="658368" y="5870448"/>
            <a:ext cx="10874959" cy="365760"/>
          </a:xfrm>
          <a:prstGeom prst="rect">
            <a:avLst/>
          </a:prstGeom>
          <a:noFill/>
        </p:spPr>
        <p:txBody>
          <a:bodyPr wrap="square" anchor="t" lIns="0" rIns="0" tIns="0" bIns="0">
            <a:spAutoFit/>
          </a:bodyPr>
          <a:lstStyle/>
          <a:p>
            <a:pPr algn="l">
              <a:lnSpc>
                <a:spcPct val="116000"/>
              </a:lnSpc>
              <a:spcBef>
                <a:spcPts val="0"/>
              </a:spcBef>
              <a:spcAft>
                <a:spcPts val="0"/>
              </a:spcAft>
            </a:pPr>
            <a:r>
              <a:rPr sz="1100" b="1" i="0">
                <a:solidFill>
                  <a:srgbClr val="315E75"/>
                </a:solidFill>
                <a:latin typeface="Arial"/>
              </a:rPr>
              <a:t>Repository: </a:t>
            </a:r>
            <a:r>
              <a:rPr sz="1100" b="0" i="0" u="none">
                <a:solidFill>
                  <a:srgbClr val="2E766E"/>
                </a:solidFill>
                <a:latin typeface="Arial"/>
                <a:hlinkClick r:id="rId2"/>
              </a:rPr>
              <a:t>https://github.com/LiuZongrun7/Mobile_Group_20</a:t>
            </a:r>
            <a:r>
              <a:rPr sz="1100" b="0" i="0">
                <a:solidFill>
                  <a:srgbClr val="7A8C94"/>
                </a:solidFill>
                <a:latin typeface="Arial"/>
              </a:rPr>
              <a:t>   ·   UI/UX, accessibility and integration are shared across all three members.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